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Inter" panose="02000503000000020004" pitchFamily="34" charset="0"/>
      <p:regular r:id="rId27"/>
      <p:bold r:id="rId28"/>
    </p:embeddedFont>
    <p:embeddedFont>
      <p:font typeface="Plus Jakarta Sans" pitchFamily="34" charset="0"/>
      <p:regular r:id="rId29"/>
      <p:bold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(10초) 공공이 보내는 재난문자는 무슨 일인지만 알려 줍니다. 저희는 같은 공공데이터로, 지금 할 일을 공식 근거와 함께 알려 주는 AI 에이전트를 만들었습니다. 오른쪽 말풍선은 이해를 돕는 예시입니다.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문자는 매년 수만 건 오지만(2023년 20,259건) 내용은 “안전한 곳으로 대피”처럼 모호하고, 정보는 여러 기관에 흩어져 있고, AI에게 물으면 지어낼 위험이 있습니다. 정부도 ‘언제, 어디로, 어떻게’를 알려 주는 표준문안을 만들겠다고 했습니다. 이미 공개된 공공데이터만으로 이 간극을 메울 수 있는지가 저희의 출발점이었습니다.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질문 하나가 이 순서로 지나갑니다. 초록 단계(의도 파악·작성)에서만 AI가 쓰이고, 나머지는 코드가 판단하고 검증합니다. 위급한 표현이나 범위 밖 질문은 AI 없이 고정 응답으로 끝나고, 검증에 실패하면 한 번 다시 쓰고, 그래도 안 되면 고정 양식으로 답합니다. 그래서 AI가 틀려도 사용자에게 검증되지 않은 문장은 가지 않습니다. 실제로 재난 유형이 없는 질문에 모델(qwen3:8b)이 태풍을 3번 모두 지어냈고, 코드가 질문 글자에 근거가 없다고 보고 3번 모두 버렸습니다.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(20초) 기술은 필요가 생긴 곳에만 썼습니다. AI가 틀릴 수 있어서 역할이 나뉜 단계를 LangGraph로 연결하고 판단·검증은 코드가 맡게 했고, API가 흩어져 있어서 MCP로 묶었고, 테스트가 느려서 모델을 갈아 끼울 수 있게 했습니다. RAG는 검토했지만 데이터가 작고 정리돼 있어 규칙이 더 정확해서 쓰지 않았습니다. [질문 대비] 가짜 모델은 정해진 답을 돌려주는 대역으로, AI 문장 실력이 아니라 판단·검증 코드가 맞게 도는지 확인하는 용도입니다. 같은 평가 질문 세트를 가짜 모델과 실제 모델(qwen)로 각각 돌려 둘 다 통과했습니다. 다만 가짜 모델 테스트는 문장 품질을 보증하지 않기 때문에, 어떤 문장이 나가도 검증 단계가 막고 다시 쓰거나 고정 양식으로 바꾸는 구조를 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(45초) 왼쪽은 폭염특보가 난 광주에서 특보와 쉼터를 근거 번호와 함께 안내하는 장면입니다. 위 노선도가 판단, 근거, 요약 정보, 최종 답 순서로 채워집니다. 오른쪽은 행동요령 4종에 없는 질문에 지어내지 않고 “정보 없음”으로 답하는 장면입니다. 두 영상은 실제 약 26초와 12초를 빨리 감은 것이고, 최종 답까지의 실제 시간은 8번에서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해결한 문제는 세 가지입니다. 바로 할 행동을 먼저, 공식 근거와 함께, 모르는 것은 모른다고 말합니다. 쓴 데이터는 전부 공공데이터(행정안전부·기상청 등)이고, 공식 목록에 없는 내용은 AI가 채우지 않는다는 점이 공공데이터를 활용하는 방식의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(40초) 개선 전후 코드를 같은 질문으로 돌린 결과입니다. 중복 문장은 12.9%에서 0%, 장애 원인 문구는 1가지에서 5가지, 검증된 기본 요약은 약 15초에서 1.7초로 줄었습니다. 이 요약은 AI가 아니라 코드가 근거로 만든 것이고, AI 답은 그 뒤에 교체됩니다. 반대로 최종 답은 평균 약 15초에서 약 30초로 느려졌습니다. 답이 길어지고 검증과 다시 쓰기가 늘었기 때문이고, 그래서 먼저 보여 주는 방식을 택했습니다. [말하면 안 되는 것] 실제 AI 답변의 중복률이 아니라 코드가 고른 근거 문장 기준입니다(공통 질문 16건). 광주 두 곳과 5개 재난 유형만 쟀습니다. 평가에서 고치기 전이 만점이 아닌 건 판정 오류가 아니라 기능이 없었기 때문입니다(위험 수준 판정은 두 쪽 모두 44건 전부 기대와 같음). 테스트 수 증가는 품질의 직접 근거가 아닙니다. [질문 대비] 가짜 모델은 판단·검증 코드가 개선 전후로 달라졌는지 보려고 썼고, 시간만 실제 모델(qwen3:8b)로 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정확성을 속도보다 우선했습니다. 그 결과 최종 답은 고치기 전보다 느려졌고(평균 약 15초에서 약 30초), 대신 검증을 통과한 요약을 1.7초에 먼저 보여 줍니다. 로컬 qwen3:8b 모델 기준이라 더 좋은 환경에서는 달라질 수 있습니다. AI가 이해한 재난 유형은 질문에 그 글자가 있을 때만 쓰기 때문에 “엄청 더운데” 같은 말은 놓칠 수 있고, 다음 계획에서 풉니다.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7번 Before/After 표의 수치를 만든, QA를 통해 고친 네 가지입니다. 각 항목 아래 파란 글씨가 어떤 지표로 쟀는지이며, 7번 표의 줄 순서와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(20초) 다음에 할 일 네 가지입니다. 정리하면, 재난 문자로 알기 힘든 지금 할 일을 공식 근거로 알려 주고, 모르는 것은 모른다고 말하는 서비스입니다.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(5초) 감사합니다. 질문 받겠습니다. 여기까지가 발표이고, 다음 페이지부터는 채점용 부록입니다.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앞 페이지에서 끝납니다. 이후 페이지는 제출 가이드의 진행 사항, 기술 요소, 개선 전/후 비교, 느낀 점 항목을 채우는 상세 자료입니다.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가이드 1번 진행 사항: 주제와 주요 Task. 숫자는 측정 결과 문서와 같은 값입니다(테스트 193개는 최신 커밋 기준).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3번 슬라이드의 상세. 역할이 나뉜 노드를 LangGraph로 연결한 구조이고, 실제로 모델을 부르는 곳은 의도 파악과 작성뿐입니다.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4번 슬라이드의 상세. 테스트 수는 최신 커밋 기준(193개)이고, 7번 슬라이드의 186개는 고친 후 측정 시점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가이드의 LangSmith 증거 화면. 질문 “경기도 광주 폭염특보 났는데 지금 나가도 돼?”(기준 2026-08-24 12:00, replay)를 추적을 켜고 한 번 돌린 기록입니다. 평소 평가와 시연에서는 추적을 꺼 두고, 이 화면을 위해 한 번 켰습니다. 이 한 건은 57.7초로 평균(약 30초)보다 느린 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가이드 2번의 구현 기능·최종 실행 화면 캡처.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7번 슬라이드의 측정 방법. 같은 입력, 지연시간, 재시도 횟수를 수치로 비교했습니다. 비용은 로컬 모델이라 해당이 없습니다. 재시도 횟수는 고치기 전 값이 없어 최신 값만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가이드 3번의 비교 결과 화면 캡처(필수).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가이드 4번. 느낀 점은 초안이며 본인 말로 고칠 부분입니다.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34641"/>
            <a:ext cx="9525000" cy="438150"/>
          </a:xfrm>
          <a:prstGeom prst="rect">
            <a:avLst/>
          </a:prstGeom>
          <a:noFill/>
          <a:ln/>
        </p:spPr>
        <p:txBody>
          <a:bodyPr wrap="square" lIns="0" tIns="0" rIns="0" bIns="0" rtlCol="0" anchor="t"/>
          <a:lstStyle>
            <a:lvl1pPr algn="l" indent="0" marL="0">
              <a:lnSpc>
                <a:spcPct val="115000"/>
              </a:lnSpc>
              <a:buNone/>
              <a:defRPr lang="en-US" sz="3000" dirty="0">
                <a:solidFill>
                  <a:srgbClr val="101828"/>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677591"/>
            <a:ext cx="10566400" cy="4367609"/>
          </a:xfrm>
          <a:prstGeom prst="rect">
            <a:avLst/>
          </a:prstGeom>
          <a:noFill/>
          <a:ln/>
        </p:spPr>
        <p:txBody>
          <a:bodyPr wrap="square" lIns="0" tIns="0" rIns="0" bIns="0" rtlCol="0" anchor="t"/>
          <a:lstStyle>
            <a:lvl1pPr algn="l" indent="0" marL="0">
              <a:lnSpc>
                <a:spcPct val="140000"/>
              </a:lnSpc>
              <a:buNone/>
              <a:defRPr lang="en-US" sz="1600" dirty="0">
                <a:solidFill>
                  <a:srgbClr val="101828"/>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34641"/>
            <a:ext cx="9525000" cy="438150"/>
          </a:xfrm>
          <a:prstGeom prst="rect">
            <a:avLst/>
          </a:prstGeom>
          <a:noFill/>
          <a:ln/>
        </p:spPr>
        <p:txBody>
          <a:bodyPr wrap="square" lIns="0" tIns="0" rIns="0" bIns="0" rtlCol="0" anchor="t"/>
          <a:lstStyle>
            <a:lvl1pPr algn="l" indent="0" marL="0">
              <a:lnSpc>
                <a:spcPct val="115000"/>
              </a:lnSpc>
              <a:buNone/>
              <a:defRPr lang="en-US" sz="3000" dirty="0">
                <a:solidFill>
                  <a:srgbClr val="101828"/>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677591"/>
            <a:ext cx="10566400" cy="4367609"/>
          </a:xfrm>
          <a:prstGeom prst="rect">
            <a:avLst/>
          </a:prstGeom>
          <a:noFill/>
          <a:ln/>
        </p:spPr>
        <p:txBody>
          <a:bodyPr wrap="square" lIns="0" tIns="0" rIns="0" bIns="0" rtlCol="0" anchor="t"/>
          <a:lstStyle>
            <a:lvl1pPr algn="l" indent="0" marL="0">
              <a:lnSpc>
                <a:spcPct val="140000"/>
              </a:lnSpc>
              <a:buNone/>
              <a:defRPr lang="en-US" sz="1600" dirty="0">
                <a:solidFill>
                  <a:srgbClr val="101828"/>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slideLayout" Target="../slideLayouts/slideLayout2.xml"/><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gif"/><Relationship Id="rId3" Type="http://schemas.openxmlformats.org/officeDocument/2006/relationships/image" Target="../media/image-5-3.gif"/><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1230114"/>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재난문자 모아보기 · 공공데이터 활용 </a:t>
            </a:r>
            <a:r>
              <a:rPr lang="en-US" sz="1400" b="1" spc="100" kern="0" dirty="0">
                <a:solidFill>
                  <a:srgbClr val="175CD3"/>
                </a:solidFill>
                <a:latin typeface="Inter" pitchFamily="34" charset="0"/>
                <a:ea typeface="Inter" pitchFamily="34" charset="-122"/>
                <a:cs typeface="Inter" pitchFamily="34" charset="-120"/>
              </a:rPr>
              <a:t>AI</a:t>
            </a:r>
            <a:r>
              <a:rPr lang="en-US" sz="1400" b="1" spc="100" kern="0" dirty="0">
                <a:solidFill>
                  <a:srgbClr val="1570EF"/>
                </a:solidFill>
                <a:latin typeface="Inter" pitchFamily="34" charset="0"/>
                <a:ea typeface="Inter" pitchFamily="34" charset="-122"/>
                <a:cs typeface="Inter" pitchFamily="34" charset="-120"/>
              </a:rPr>
              <a:t> 에이전트</a:t>
            </a:r>
            <a:endParaRPr lang="en-US" sz="1400" dirty="0"/>
          </a:p>
        </p:txBody>
      </p:sp>
      <p:sp>
        <p:nvSpPr>
          <p:cNvPr id="5" name="Text 2"/>
          <p:cNvSpPr/>
          <p:nvPr>
            <p:ph type="title"/>
          </p:nvPr>
        </p:nvSpPr>
        <p:spPr>
          <a:xfrm>
            <a:off x="812800" y="1682155"/>
            <a:ext cx="7194550" cy="1403945"/>
          </a:xfrm>
          <a:prstGeom prst="rect">
            <a:avLst/>
          </a:prstGeom>
          <a:noFill/>
          <a:ln/>
        </p:spPr>
        <p:txBody>
          <a:bodyPr wrap="square" lIns="0" tIns="0" rIns="0" bIns="0" rtlCol="0" anchor="t">
            <a:normAutofit/>
          </a:bodyPr>
          <a:lstStyle/>
          <a:p>
            <a:pPr algn="l" indent="0" marL="0">
              <a:lnSpc>
                <a:spcPts val="5428"/>
              </a:lnSpc>
              <a:buNone/>
            </a:pPr>
            <a:r>
              <a:rPr lang="en-US" sz="4600" b="1" i="0" dirty="0">
                <a:solidFill>
                  <a:srgbClr val="101828"/>
                </a:solidFill>
                <a:latin typeface="Plus Jakarta Sans" pitchFamily="34" charset="0"/>
                <a:ea typeface="Plus Jakarta Sans" pitchFamily="34" charset="-122"/>
                <a:cs typeface="Plus Jakarta Sans" pitchFamily="34" charset="-120"/>
              </a:rPr>
              <a:t>문자는 무슨 일인지만</a:t>
            </a:r>
            <a:endParaRPr lang="en-US" sz="4600" dirty="0"/>
          </a:p>
          <a:p>
            <a:pPr algn="l" indent="0" marL="0">
              <a:lnSpc>
                <a:spcPts val="5428"/>
              </a:lnSpc>
              <a:buNone/>
            </a:pPr>
            <a:r>
              <a:rPr lang="en-US" sz="4600" b="1" i="0" dirty="0">
                <a:solidFill>
                  <a:srgbClr val="101828"/>
                </a:solidFill>
                <a:latin typeface="Plus Jakarta Sans" pitchFamily="34" charset="0"/>
                <a:ea typeface="Plus Jakarta Sans" pitchFamily="34" charset="-122"/>
                <a:cs typeface="Plus Jakarta Sans" pitchFamily="34" charset="-120"/>
              </a:rPr>
              <a:t>알려 준다.</a:t>
            </a:r>
            <a:endParaRPr lang="en-US" sz="4600" dirty="0"/>
          </a:p>
        </p:txBody>
      </p:sp>
      <p:sp>
        <p:nvSpPr>
          <p:cNvPr id="6" name="Text 3"/>
          <p:cNvSpPr/>
          <p:nvPr/>
        </p:nvSpPr>
        <p:spPr>
          <a:xfrm>
            <a:off x="812800" y="3263900"/>
            <a:ext cx="7194550" cy="1403945"/>
          </a:xfrm>
          <a:prstGeom prst="rect">
            <a:avLst/>
          </a:prstGeom>
          <a:noFill/>
          <a:ln/>
        </p:spPr>
        <p:txBody>
          <a:bodyPr wrap="square" lIns="0" tIns="0" rIns="0" bIns="0" rtlCol="0" anchor="t">
            <a:normAutofit/>
          </a:bodyPr>
          <a:lstStyle/>
          <a:p>
            <a:pPr algn="l" indent="0" marL="0">
              <a:lnSpc>
                <a:spcPts val="5428"/>
              </a:lnSpc>
              <a:buNone/>
            </a:pPr>
            <a:r>
              <a:rPr lang="en-US" sz="4600" b="1" dirty="0">
                <a:solidFill>
                  <a:srgbClr val="175CD3"/>
                </a:solidFill>
                <a:latin typeface="Plus Jakarta Sans" pitchFamily="34" charset="0"/>
                <a:ea typeface="Plus Jakarta Sans" pitchFamily="34" charset="-122"/>
                <a:cs typeface="Plus Jakarta Sans" pitchFamily="34" charset="-120"/>
              </a:rPr>
              <a:t>우리는 지금 할 일을</a:t>
            </a:r>
            <a:endParaRPr lang="en-US" sz="4600" dirty="0"/>
          </a:p>
          <a:p>
            <a:pPr algn="l" indent="0" marL="0">
              <a:lnSpc>
                <a:spcPts val="5428"/>
              </a:lnSpc>
              <a:buNone/>
            </a:pPr>
            <a:r>
              <a:rPr lang="en-US" sz="4600" b="1" dirty="0">
                <a:solidFill>
                  <a:srgbClr val="175CD3"/>
                </a:solidFill>
                <a:latin typeface="Plus Jakarta Sans" pitchFamily="34" charset="0"/>
                <a:ea typeface="Plus Jakarta Sans" pitchFamily="34" charset="-122"/>
                <a:cs typeface="Plus Jakarta Sans" pitchFamily="34" charset="-120"/>
              </a:rPr>
              <a:t>알려 준다.</a:t>
            </a:r>
            <a:endParaRPr lang="en-US" sz="4600" dirty="0"/>
          </a:p>
        </p:txBody>
      </p:sp>
      <p:sp>
        <p:nvSpPr>
          <p:cNvPr id="7" name="Text 4"/>
          <p:cNvSpPr/>
          <p:nvPr/>
        </p:nvSpPr>
        <p:spPr>
          <a:xfrm>
            <a:off x="812800" y="4845645"/>
            <a:ext cx="1992213" cy="375841"/>
          </a:xfrm>
          <a:prstGeom prst="roundRect">
            <a:avLst>
              <a:gd name="adj" fmla="val 50000"/>
            </a:avLst>
          </a:prstGeom>
          <a:solidFill>
            <a:srgbClr val="EFF8FF"/>
          </a:solidFill>
          <a:ln/>
        </p:spPr>
        <p:txBody>
          <a:bodyPr wrap="none" lIns="0" tIns="0" rIns="0" bIns="0" rtlCol="0" anchor="ctr">
            <a:normAutofit/>
          </a:bodyPr>
          <a:lstStyle/>
          <a:p>
            <a:pPr algn="ctr" indent="0" marL="0">
              <a:lnSpc>
                <a:spcPts val="1960"/>
              </a:lnSpc>
              <a:buNone/>
            </a:pPr>
            <a:r>
              <a:rPr lang="en-US" sz="1400" b="1" dirty="0">
                <a:solidFill>
                  <a:srgbClr val="175CD3"/>
                </a:solidFill>
                <a:latin typeface="Inter" pitchFamily="34" charset="0"/>
                <a:ea typeface="Inter" pitchFamily="34" charset="-122"/>
                <a:cs typeface="Inter" pitchFamily="34" charset="-120"/>
              </a:rPr>
              <a:t>광주 4반 한세훈(G137)</a:t>
            </a:r>
            <a:endParaRPr lang="en-US" sz="1400" dirty="0"/>
          </a:p>
        </p:txBody>
      </p:sp>
      <p:pic>
        <p:nvPicPr>
          <p:cNvPr id="8" name="Image 1" descr="스마트폰 화면">    </p:cNvPr>
          <p:cNvPicPr>
            <a:picLocks noChangeAspect="1"/>
          </p:cNvPicPr>
          <p:nvPr/>
        </p:nvPicPr>
        <p:blipFill>
          <a:blip r:embed="rId2"/>
          <a:srcRect l="5" r="5" t="0" b="0"/>
          <a:stretch/>
        </p:blipFill>
        <p:spPr>
          <a:xfrm>
            <a:off x="8445500" y="88900"/>
            <a:ext cx="2851150" cy="6096000"/>
          </a:xfrm>
          <a:prstGeom prst="rect">
            <a:avLst/>
          </a:prstGeom>
        </p:spPr>
      </p:pic>
      <p:sp>
        <p:nvSpPr>
          <p:cNvPr id="9" name="Shape 5"/>
          <p:cNvSpPr/>
          <p:nvPr/>
        </p:nvSpPr>
        <p:spPr>
          <a:xfrm>
            <a:off x="8715375" y="923925"/>
            <a:ext cx="2012950" cy="1034852"/>
          </a:xfrm>
          <a:custGeom>
            <a:avLst/>
            <a:gdLst/>
            <a:ahLst/>
            <a:cxnLst/>
            <a:rect l="l" t="t" r="r" b="b"/>
            <a:pathLst>
              <a:path w="2012950" h="1034852">
                <a:moveTo>
                  <a:pt x="142875" y="0"/>
                </a:moveTo>
                <a:lnTo>
                  <a:pt x="1870075" y="0"/>
                </a:lnTo>
                <a:arcTo hR="142875" wR="142875" stAng="16200000" swAng="5400000"/>
                <a:lnTo>
                  <a:pt x="2012950" y="891977"/>
                </a:lnTo>
                <a:arcTo hR="142875" wR="142875" stAng="0" swAng="5400000"/>
                <a:lnTo>
                  <a:pt x="28575" y="1034852"/>
                </a:lnTo>
                <a:arcTo hR="28575" wR="28575" stAng="5400000" swAng="5400000"/>
                <a:lnTo>
                  <a:pt x="0" y="142875"/>
                </a:lnTo>
                <a:arcTo hR="142875" wR="142875" stAng="10800000" swAng="5400000"/>
                <a:close/>
              </a:path>
            </a:pathLst>
          </a:custGeom>
          <a:solidFill>
            <a:srgbClr val="FFFFFF"/>
          </a:solidFill>
          <a:ln w="19050">
            <a:solidFill>
              <a:srgbClr val="667085"/>
            </a:solidFill>
            <a:prstDash val="solid"/>
          </a:ln>
        </p:spPr>
      </p:sp>
      <p:sp>
        <p:nvSpPr>
          <p:cNvPr id="10" name="Text 6"/>
          <p:cNvSpPr/>
          <p:nvPr/>
        </p:nvSpPr>
        <p:spPr>
          <a:xfrm>
            <a:off x="8851900" y="1060450"/>
            <a:ext cx="17920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1828"/>
                </a:solidFill>
                <a:latin typeface="Inter" pitchFamily="34" charset="0"/>
                <a:ea typeface="Inter" pitchFamily="34" charset="-122"/>
                <a:cs typeface="Inter" pitchFamily="34" charset="-120"/>
              </a:rPr>
              <a:t>재난문자 · 예시</a:t>
            </a:r>
            <a:endParaRPr lang="en-US" sz="1200" dirty="0"/>
          </a:p>
        </p:txBody>
      </p:sp>
      <p:sp>
        <p:nvSpPr>
          <p:cNvPr id="11" name="Text 7"/>
          <p:cNvSpPr/>
          <p:nvPr/>
        </p:nvSpPr>
        <p:spPr>
          <a:xfrm>
            <a:off x="8851900" y="1324570"/>
            <a:ext cx="1792097"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1828"/>
                </a:solidFill>
                <a:latin typeface="Inter" pitchFamily="34" charset="0"/>
                <a:ea typeface="Inter" pitchFamily="34" charset="-122"/>
                <a:cs typeface="Inter" pitchFamily="34" charset="-120"/>
              </a:rPr>
              <a:t>호우경보 발령.</a:t>
            </a:r>
            <a:endParaRPr lang="en-US" sz="1400" dirty="0"/>
          </a:p>
          <a:p>
            <a:pPr algn="l" indent="0" marL="0">
              <a:lnSpc>
                <a:spcPts val="1960"/>
              </a:lnSpc>
              <a:buNone/>
            </a:pPr>
            <a:r>
              <a:rPr lang="en-US" sz="1400" b="1" dirty="0">
                <a:solidFill>
                  <a:srgbClr val="101828"/>
                </a:solidFill>
                <a:latin typeface="Inter" pitchFamily="34" charset="0"/>
                <a:ea typeface="Inter" pitchFamily="34" charset="-122"/>
                <a:cs typeface="Inter" pitchFamily="34" charset="-120"/>
              </a:rPr>
              <a:t>안전에 유의하세요.</a:t>
            </a:r>
            <a:endParaRPr lang="en-US" sz="1400" dirty="0"/>
          </a:p>
        </p:txBody>
      </p:sp>
      <p:sp>
        <p:nvSpPr>
          <p:cNvPr id="12" name="Shape 8"/>
          <p:cNvSpPr/>
          <p:nvPr/>
        </p:nvSpPr>
        <p:spPr>
          <a:xfrm>
            <a:off x="8832850" y="2698750"/>
            <a:ext cx="2070100" cy="1493242"/>
          </a:xfrm>
          <a:custGeom>
            <a:avLst/>
            <a:gdLst/>
            <a:ahLst/>
            <a:cxnLst/>
            <a:rect l="l" t="t" r="r" b="b"/>
            <a:pathLst>
              <a:path w="2070100" h="1493242">
                <a:moveTo>
                  <a:pt x="152400" y="0"/>
                </a:moveTo>
                <a:lnTo>
                  <a:pt x="1917700" y="0"/>
                </a:lnTo>
                <a:arcTo hR="152400" wR="152400" stAng="16200000" swAng="5400000"/>
                <a:lnTo>
                  <a:pt x="2070100" y="1455142"/>
                </a:lnTo>
                <a:arcTo hR="38100" wR="38100" stAng="0" swAng="5400000"/>
                <a:lnTo>
                  <a:pt x="152400" y="1493242"/>
                </a:lnTo>
                <a:arcTo hR="152400" wR="152400" stAng="5400000" swAng="5400000"/>
                <a:lnTo>
                  <a:pt x="0" y="152400"/>
                </a:lnTo>
                <a:arcTo hR="152400" wR="152400" stAng="10800000" swAng="5400000"/>
                <a:close/>
              </a:path>
            </a:pathLst>
          </a:custGeom>
          <a:solidFill>
            <a:srgbClr val="175CD3"/>
          </a:solidFill>
          <a:ln/>
        </p:spPr>
      </p:sp>
      <p:sp>
        <p:nvSpPr>
          <p:cNvPr id="13" name="Text 9"/>
          <p:cNvSpPr/>
          <p:nvPr/>
        </p:nvSpPr>
        <p:spPr>
          <a:xfrm>
            <a:off x="8905367" y="2825750"/>
            <a:ext cx="1870583"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D1E9FF"/>
                </a:solidFill>
                <a:latin typeface="Inter" pitchFamily="34" charset="0"/>
                <a:ea typeface="Inter" pitchFamily="34" charset="-122"/>
                <a:cs typeface="Inter" pitchFamily="34" charset="-120"/>
              </a:rPr>
              <a:t>모아보기 · 예시</a:t>
            </a:r>
            <a:endParaRPr lang="en-US" sz="1200" dirty="0"/>
          </a:p>
        </p:txBody>
      </p:sp>
      <p:sp>
        <p:nvSpPr>
          <p:cNvPr id="14" name="Text 10"/>
          <p:cNvSpPr/>
          <p:nvPr/>
        </p:nvSpPr>
        <p:spPr>
          <a:xfrm>
            <a:off x="8905367" y="3089870"/>
            <a:ext cx="1870583" cy="52308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FFFFFF"/>
                </a:solidFill>
                <a:latin typeface="Inter" pitchFamily="34" charset="0"/>
                <a:ea typeface="Inter" pitchFamily="34" charset="-122"/>
                <a:cs typeface="Inter" pitchFamily="34" charset="-120"/>
              </a:rPr>
              <a:t>지금 할 일:</a:t>
            </a:r>
            <a:endParaRPr lang="en-US" sz="1400" dirty="0"/>
          </a:p>
          <a:p>
            <a:pPr algn="r" indent="0" marL="0">
              <a:lnSpc>
                <a:spcPts val="1960"/>
              </a:lnSpc>
              <a:buNone/>
            </a:pPr>
            <a:r>
              <a:rPr lang="en-US" sz="1400" b="1" dirty="0">
                <a:solidFill>
                  <a:srgbClr val="FFFFFF"/>
                </a:solidFill>
                <a:latin typeface="Inter" pitchFamily="34" charset="0"/>
                <a:ea typeface="Inter" pitchFamily="34" charset="-122"/>
                <a:cs typeface="Inter" pitchFamily="34" charset="-120"/>
              </a:rPr>
              <a:t>지하차도로 가지 않기</a:t>
            </a:r>
            <a:endParaRPr lang="en-US" sz="1400" dirty="0"/>
          </a:p>
        </p:txBody>
      </p:sp>
      <p:sp>
        <p:nvSpPr>
          <p:cNvPr id="15" name="Text 11"/>
          <p:cNvSpPr/>
          <p:nvPr/>
        </p:nvSpPr>
        <p:spPr>
          <a:xfrm>
            <a:off x="8905367" y="3638352"/>
            <a:ext cx="1870583" cy="45204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D1E9FF"/>
                </a:solidFill>
                <a:latin typeface="Inter" pitchFamily="34" charset="0"/>
                <a:ea typeface="Inter" pitchFamily="34" charset="-122"/>
                <a:cs typeface="Inter" pitchFamily="34" charset="-120"/>
              </a:rPr>
              <a:t>근거:</a:t>
            </a:r>
            <a:endParaRPr lang="en-US" sz="1200" dirty="0"/>
          </a:p>
          <a:p>
            <a:pPr algn="r" indent="0" marL="0">
              <a:lnSpc>
                <a:spcPts val="1680"/>
              </a:lnSpc>
              <a:buNone/>
            </a:pPr>
            <a:r>
              <a:rPr lang="en-US" sz="1200" dirty="0">
                <a:solidFill>
                  <a:srgbClr val="D1E9FF"/>
                </a:solidFill>
                <a:latin typeface="Inter" pitchFamily="34" charset="0"/>
                <a:ea typeface="Inter" pitchFamily="34" charset="-122"/>
                <a:cs typeface="Inter" pitchFamily="34" charset="-120"/>
              </a:rPr>
              <a:t>공식 호우·태풍 행동요령</a:t>
            </a:r>
            <a:endParaRPr lang="en-US" sz="1200" dirty="0"/>
          </a:p>
        </p:txBody>
      </p:sp>
      <p:sp>
        <p:nvSpPr>
          <p:cNvPr id="16" name="Shape 12"/>
          <p:cNvSpPr/>
          <p:nvPr/>
        </p:nvSpPr>
        <p:spPr>
          <a:xfrm>
            <a:off x="812800" y="6248400"/>
            <a:ext cx="10566400" cy="6350"/>
          </a:xfrm>
          <a:prstGeom prst="rect">
            <a:avLst/>
          </a:prstGeom>
          <a:solidFill>
            <a:srgbClr val="D0D5DD"/>
          </a:solidFill>
          <a:ln/>
        </p:spPr>
      </p:sp>
      <p:sp>
        <p:nvSpPr>
          <p:cNvPr id="17" name="Text 13"/>
          <p:cNvSpPr/>
          <p:nvPr/>
        </p:nvSpPr>
        <p:spPr>
          <a:xfrm>
            <a:off x="812800" y="637540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 · AI 캡스톤 광주 4반</a:t>
            </a:r>
            <a:endParaRPr lang="en-US" sz="1200" dirty="0"/>
          </a:p>
        </p:txBody>
      </p:sp>
      <p:sp>
        <p:nvSpPr>
          <p:cNvPr id="18" name="Text 14"/>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981075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문제</a:t>
            </a:r>
            <a:endParaRPr lang="en-US" sz="1400" dirty="0"/>
          </a:p>
        </p:txBody>
      </p:sp>
      <p:sp>
        <p:nvSpPr>
          <p:cNvPr id="5" name="Text 2"/>
          <p:cNvSpPr/>
          <p:nvPr>
            <p:ph type="title"/>
          </p:nvPr>
        </p:nvSpPr>
        <p:spPr>
          <a:xfrm>
            <a:off x="812800" y="934641"/>
            <a:ext cx="981075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Plus Jakarta Sans" pitchFamily="34" charset="0"/>
                <a:ea typeface="Plus Jakarta Sans" pitchFamily="34" charset="-122"/>
                <a:cs typeface="Plus Jakarta Sans" pitchFamily="34" charset="-120"/>
              </a:rPr>
              <a:t>문자는 오는데, 무엇을 해야 할지 모른다</a:t>
            </a:r>
            <a:endParaRPr lang="en-US" sz="3000" dirty="0"/>
          </a:p>
        </p:txBody>
      </p:sp>
      <p:sp>
        <p:nvSpPr>
          <p:cNvPr id="6" name="Shape 3"/>
          <p:cNvSpPr/>
          <p:nvPr/>
        </p:nvSpPr>
        <p:spPr>
          <a:xfrm>
            <a:off x="819150" y="1633141"/>
            <a:ext cx="3373934" cy="1777901"/>
          </a:xfrm>
          <a:prstGeom prst="roundRect">
            <a:avLst>
              <a:gd name="adj" fmla="val 5357"/>
            </a:avLst>
          </a:prstGeom>
          <a:solidFill>
            <a:srgbClr val="FFFFFF"/>
          </a:solidFill>
          <a:ln w="12700">
            <a:solidFill>
              <a:srgbClr val="C0CCE0"/>
            </a:solidFill>
            <a:prstDash val="solid"/>
          </a:ln>
        </p:spPr>
      </p:sp>
      <p:sp>
        <p:nvSpPr>
          <p:cNvPr id="7" name="Text 4"/>
          <p:cNvSpPr/>
          <p:nvPr/>
        </p:nvSpPr>
        <p:spPr>
          <a:xfrm>
            <a:off x="1054100" y="1868091"/>
            <a:ext cx="2991155"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8"/>
                </a:solidFill>
                <a:latin typeface="Plus Jakarta Sans" pitchFamily="34" charset="0"/>
                <a:ea typeface="Plus Jakarta Sans" pitchFamily="34" charset="-122"/>
                <a:cs typeface="Plus Jakarta Sans" pitchFamily="34" charset="-120"/>
              </a:rPr>
              <a:t>문자는 짧다</a:t>
            </a:r>
            <a:endParaRPr lang="en-US" sz="1900" dirty="0"/>
          </a:p>
        </p:txBody>
      </p:sp>
      <p:sp>
        <p:nvSpPr>
          <p:cNvPr id="8" name="Text 5"/>
          <p:cNvSpPr/>
          <p:nvPr/>
        </p:nvSpPr>
        <p:spPr>
          <a:xfrm>
            <a:off x="1054100" y="2246511"/>
            <a:ext cx="1318915" cy="307280"/>
          </a:xfrm>
          <a:custGeom>
            <a:avLst/>
            <a:gdLst/>
            <a:ahLst/>
            <a:cxnLst/>
            <a:rect l="l" t="t" r="r" b="b"/>
            <a:pathLst>
              <a:path w="1318915" h="307280">
                <a:moveTo>
                  <a:pt x="153640" y="0"/>
                </a:moveTo>
                <a:lnTo>
                  <a:pt x="1165275" y="0"/>
                </a:lnTo>
                <a:arcTo hR="153640" wR="153640" stAng="16200000" swAng="5400000"/>
                <a:lnTo>
                  <a:pt x="1318915" y="153640"/>
                </a:lnTo>
                <a:arcTo hR="153640" wR="153640" stAng="0" swAng="5400000"/>
                <a:lnTo>
                  <a:pt x="153640" y="307280"/>
                </a:lnTo>
                <a:arcTo hR="153640" wR="153640" stAng="5400000" swAng="5400000"/>
                <a:lnTo>
                  <a:pt x="0" y="153640"/>
                </a:lnTo>
                <a:arcTo hR="153640" wR="153640" stAng="10800000" swAng="5400000"/>
                <a:close/>
              </a:path>
            </a:pathLst>
          </a:custGeom>
          <a:solidFill>
            <a:srgbClr val="F2F4F7"/>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Inter" pitchFamily="34" charset="0"/>
                <a:ea typeface="Inter" pitchFamily="34" charset="-122"/>
                <a:cs typeface="Inter" pitchFamily="34" charset="-120"/>
              </a:rPr>
              <a:t>“호우경보 발령”</a:t>
            </a:r>
            <a:endParaRPr lang="en-US" sz="1300" dirty="0"/>
          </a:p>
        </p:txBody>
      </p:sp>
      <p:sp>
        <p:nvSpPr>
          <p:cNvPr id="9" name="Text 6"/>
          <p:cNvSpPr/>
          <p:nvPr/>
        </p:nvSpPr>
        <p:spPr>
          <a:xfrm>
            <a:off x="1054100" y="2642691"/>
            <a:ext cx="2991155"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75467"/>
                </a:solidFill>
                <a:latin typeface="Inter" pitchFamily="34" charset="0"/>
                <a:ea typeface="Inter" pitchFamily="34" charset="-122"/>
                <a:cs typeface="Inter" pitchFamily="34" charset="-120"/>
              </a:rPr>
              <a:t>단계만 알려 주고, 지금 해야 할 행동은 없다.</a:t>
            </a:r>
            <a:endParaRPr lang="en-US" sz="1400" dirty="0"/>
          </a:p>
        </p:txBody>
      </p:sp>
      <p:sp>
        <p:nvSpPr>
          <p:cNvPr id="10" name="Shape 7"/>
          <p:cNvSpPr/>
          <p:nvPr/>
        </p:nvSpPr>
        <p:spPr>
          <a:xfrm>
            <a:off x="4408984" y="1633141"/>
            <a:ext cx="3374033" cy="1777901"/>
          </a:xfrm>
          <a:prstGeom prst="roundRect">
            <a:avLst>
              <a:gd name="adj" fmla="val 5357"/>
            </a:avLst>
          </a:prstGeom>
          <a:solidFill>
            <a:srgbClr val="FFFFFF"/>
          </a:solidFill>
          <a:ln w="12700">
            <a:solidFill>
              <a:srgbClr val="C0CCE0"/>
            </a:solidFill>
            <a:prstDash val="solid"/>
          </a:ln>
        </p:spPr>
      </p:sp>
      <p:sp>
        <p:nvSpPr>
          <p:cNvPr id="11" name="Text 8"/>
          <p:cNvSpPr/>
          <p:nvPr/>
        </p:nvSpPr>
        <p:spPr>
          <a:xfrm>
            <a:off x="4643934" y="1868091"/>
            <a:ext cx="2991257"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8"/>
                </a:solidFill>
                <a:latin typeface="Plus Jakarta Sans" pitchFamily="34" charset="0"/>
                <a:ea typeface="Plus Jakarta Sans" pitchFamily="34" charset="-122"/>
                <a:cs typeface="Plus Jakarta Sans" pitchFamily="34" charset="-120"/>
              </a:rPr>
              <a:t>정보가 흩어져 있다</a:t>
            </a:r>
            <a:endParaRPr lang="en-US" sz="1900" dirty="0"/>
          </a:p>
        </p:txBody>
      </p:sp>
      <p:sp>
        <p:nvSpPr>
          <p:cNvPr id="12" name="Text 9"/>
          <p:cNvSpPr/>
          <p:nvPr/>
        </p:nvSpPr>
        <p:spPr>
          <a:xfrm>
            <a:off x="4643934" y="2246511"/>
            <a:ext cx="2991257"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75467"/>
                </a:solidFill>
                <a:latin typeface="Inter" pitchFamily="34" charset="0"/>
                <a:ea typeface="Inter" pitchFamily="34" charset="-122"/>
                <a:cs typeface="Inter" pitchFamily="34" charset="-120"/>
              </a:rPr>
              <a:t>특보·문자·행동요령·대피소가 API 8개(공공 7종 + 지도), 발급처 3곳에 나뉘어 있다.</a:t>
            </a:r>
            <a:endParaRPr lang="en-US" sz="1400" dirty="0"/>
          </a:p>
        </p:txBody>
      </p:sp>
      <p:sp>
        <p:nvSpPr>
          <p:cNvPr id="13" name="Shape 10"/>
          <p:cNvSpPr/>
          <p:nvPr/>
        </p:nvSpPr>
        <p:spPr>
          <a:xfrm>
            <a:off x="7998916" y="1633141"/>
            <a:ext cx="3373934" cy="1777901"/>
          </a:xfrm>
          <a:prstGeom prst="roundRect">
            <a:avLst>
              <a:gd name="adj" fmla="val 5357"/>
            </a:avLst>
          </a:prstGeom>
          <a:solidFill>
            <a:srgbClr val="FFFFFF"/>
          </a:solidFill>
          <a:ln w="12700">
            <a:solidFill>
              <a:srgbClr val="C0CCE0"/>
            </a:solidFill>
            <a:prstDash val="solid"/>
          </a:ln>
        </p:spPr>
      </p:sp>
      <p:sp>
        <p:nvSpPr>
          <p:cNvPr id="14" name="Text 11"/>
          <p:cNvSpPr/>
          <p:nvPr/>
        </p:nvSpPr>
        <p:spPr>
          <a:xfrm>
            <a:off x="8233866" y="1868091"/>
            <a:ext cx="2991155"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75CD3"/>
                </a:solidFill>
                <a:latin typeface="Plus Jakarta Sans" pitchFamily="34" charset="0"/>
                <a:ea typeface="Plus Jakarta Sans" pitchFamily="34" charset="-122"/>
                <a:cs typeface="Plus Jakarta Sans" pitchFamily="34" charset="-120"/>
              </a:rPr>
              <a:t>AI</a:t>
            </a:r>
            <a:r>
              <a:rPr lang="en-US" sz="1900" b="1" dirty="0">
                <a:solidFill>
                  <a:srgbClr val="101828"/>
                </a:solidFill>
                <a:latin typeface="Plus Jakarta Sans" pitchFamily="34" charset="0"/>
                <a:ea typeface="Plus Jakarta Sans" pitchFamily="34" charset="-122"/>
                <a:cs typeface="Plus Jakarta Sans" pitchFamily="34" charset="-120"/>
              </a:rPr>
              <a:t>는 지어낼 수 있다</a:t>
            </a:r>
            <a:endParaRPr lang="en-US" sz="1900" dirty="0"/>
          </a:p>
        </p:txBody>
      </p:sp>
      <p:sp>
        <p:nvSpPr>
          <p:cNvPr id="15" name="Text 12"/>
          <p:cNvSpPr/>
          <p:nvPr/>
        </p:nvSpPr>
        <p:spPr>
          <a:xfrm>
            <a:off x="8233866" y="2246511"/>
            <a:ext cx="2991155"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75467"/>
                </a:solidFill>
                <a:latin typeface="Inter" pitchFamily="34" charset="0"/>
                <a:ea typeface="Inter" pitchFamily="34" charset="-122"/>
                <a:cs typeface="Inter" pitchFamily="34" charset="-120"/>
              </a:rPr>
              <a:t>공식 근거 없이 답하면 그럴듯하지만 틀린 안내가 나온다.</a:t>
            </a:r>
            <a:endParaRPr lang="en-US" sz="1400" dirty="0"/>
          </a:p>
        </p:txBody>
      </p:sp>
      <p:sp>
        <p:nvSpPr>
          <p:cNvPr id="16" name="Shape 13"/>
          <p:cNvSpPr/>
          <p:nvPr/>
        </p:nvSpPr>
        <p:spPr>
          <a:xfrm>
            <a:off x="812800" y="3671391"/>
            <a:ext cx="5181600" cy="1777802"/>
          </a:xfrm>
          <a:prstGeom prst="roundRect">
            <a:avLst>
              <a:gd name="adj" fmla="val 5715"/>
            </a:avLst>
          </a:prstGeom>
          <a:solidFill>
            <a:srgbClr val="EFF8FF"/>
          </a:solidFill>
          <a:ln/>
        </p:spPr>
      </p:sp>
      <p:sp>
        <p:nvSpPr>
          <p:cNvPr id="17" name="Text 14"/>
          <p:cNvSpPr/>
          <p:nvPr/>
        </p:nvSpPr>
        <p:spPr>
          <a:xfrm>
            <a:off x="1041400" y="3874591"/>
            <a:ext cx="486613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75CD3"/>
                </a:solidFill>
                <a:latin typeface="Plus Jakarta Sans" pitchFamily="34" charset="0"/>
                <a:ea typeface="Plus Jakarta Sans" pitchFamily="34" charset="-122"/>
                <a:cs typeface="Plus Jakarta Sans" pitchFamily="34" charset="-120"/>
              </a:rPr>
              <a:t>20,259건</a:t>
            </a:r>
            <a:endParaRPr lang="en-US" sz="2800" dirty="0"/>
          </a:p>
        </p:txBody>
      </p:sp>
      <p:sp>
        <p:nvSpPr>
          <p:cNvPr id="18" name="Text 15"/>
          <p:cNvSpPr/>
          <p:nvPr/>
        </p:nvSpPr>
        <p:spPr>
          <a:xfrm>
            <a:off x="1041400" y="4435872"/>
            <a:ext cx="486613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828"/>
                </a:solidFill>
                <a:latin typeface="Inter" pitchFamily="34" charset="0"/>
                <a:ea typeface="Inter" pitchFamily="34" charset="-122"/>
                <a:cs typeface="Inter" pitchFamily="34" charset="-120"/>
              </a:rPr>
              <a:t>2023년 전국 재난문자 발송 수. 2019년까지는 연평균 414건이었다.</a:t>
            </a:r>
            <a:endParaRPr lang="en-US" sz="1400" dirty="0"/>
          </a:p>
        </p:txBody>
      </p:sp>
      <p:sp>
        <p:nvSpPr>
          <p:cNvPr id="19" name="Text 16"/>
          <p:cNvSpPr/>
          <p:nvPr/>
        </p:nvSpPr>
        <p:spPr>
          <a:xfrm>
            <a:off x="1041400" y="4997053"/>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nter" pitchFamily="34" charset="0"/>
                <a:ea typeface="Inter" pitchFamily="34" charset="-122"/>
                <a:cs typeface="Inter" pitchFamily="34" charset="-120"/>
              </a:rPr>
              <a:t>출처: 전북일보 2024.10.9 (행정안전부 자료)</a:t>
            </a:r>
            <a:endParaRPr lang="en-US" sz="1200" dirty="0"/>
          </a:p>
        </p:txBody>
      </p:sp>
      <p:sp>
        <p:nvSpPr>
          <p:cNvPr id="20" name="Shape 17"/>
          <p:cNvSpPr/>
          <p:nvPr/>
        </p:nvSpPr>
        <p:spPr>
          <a:xfrm>
            <a:off x="6197600" y="3671391"/>
            <a:ext cx="5181600" cy="1777802"/>
          </a:xfrm>
          <a:prstGeom prst="roundRect">
            <a:avLst>
              <a:gd name="adj" fmla="val 5715"/>
            </a:avLst>
          </a:prstGeom>
          <a:solidFill>
            <a:srgbClr val="EFF8FF"/>
          </a:solidFill>
          <a:ln/>
        </p:spPr>
      </p:sp>
      <p:sp>
        <p:nvSpPr>
          <p:cNvPr id="21" name="Text 18"/>
          <p:cNvSpPr/>
          <p:nvPr/>
        </p:nvSpPr>
        <p:spPr>
          <a:xfrm>
            <a:off x="6426200" y="3874591"/>
            <a:ext cx="486613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1828"/>
                </a:solidFill>
                <a:latin typeface="Inter" pitchFamily="34" charset="0"/>
                <a:ea typeface="Inter" pitchFamily="34" charset="-122"/>
                <a:cs typeface="Inter" pitchFamily="34" charset="-120"/>
              </a:rPr>
              <a:t>“‘안전한 곳으로 대피’ 등 다소 모호한 내용이 많고, 과다 발송과 고령층 미수신 등의 문제가 있다”</a:t>
            </a:r>
            <a:endParaRPr lang="en-US" sz="1500" dirty="0"/>
          </a:p>
        </p:txBody>
      </p:sp>
      <p:sp>
        <p:nvSpPr>
          <p:cNvPr id="22" name="Text 19"/>
          <p:cNvSpPr/>
          <p:nvPr/>
        </p:nvSpPr>
        <p:spPr>
          <a:xfrm>
            <a:off x="6426200" y="4471491"/>
            <a:ext cx="486613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5CD3"/>
                </a:solidFill>
                <a:latin typeface="Inter" pitchFamily="34" charset="0"/>
                <a:ea typeface="Inter" pitchFamily="34" charset="-122"/>
                <a:cs typeface="Inter" pitchFamily="34" charset="-120"/>
              </a:rPr>
              <a:t>행정안전부가 ‘언제, 어디로, 어떻게’를 알려 주는 표준문안을 만든다.</a:t>
            </a:r>
            <a:endParaRPr lang="en-US" sz="1400" dirty="0"/>
          </a:p>
        </p:txBody>
      </p:sp>
      <p:sp>
        <p:nvSpPr>
          <p:cNvPr id="23" name="Text 20"/>
          <p:cNvSpPr/>
          <p:nvPr/>
        </p:nvSpPr>
        <p:spPr>
          <a:xfrm>
            <a:off x="6426200" y="5032673"/>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nter" pitchFamily="34" charset="0"/>
                <a:ea typeface="Inter" pitchFamily="34" charset="-122"/>
                <a:cs typeface="Inter" pitchFamily="34" charset="-120"/>
              </a:rPr>
              <a:t>출처: 경향신문 2025.8.27</a:t>
            </a:r>
            <a:endParaRPr lang="en-US" sz="1200" dirty="0"/>
          </a:p>
        </p:txBody>
      </p:sp>
      <p:sp>
        <p:nvSpPr>
          <p:cNvPr id="24" name="Shape 21"/>
          <p:cNvSpPr/>
          <p:nvPr/>
        </p:nvSpPr>
        <p:spPr>
          <a:xfrm>
            <a:off x="812800" y="6248400"/>
            <a:ext cx="10566400" cy="6350"/>
          </a:xfrm>
          <a:prstGeom prst="rect">
            <a:avLst/>
          </a:prstGeom>
          <a:solidFill>
            <a:srgbClr val="D0D5DD"/>
          </a:solidFill>
          <a:ln/>
        </p:spPr>
      </p:sp>
      <p:sp>
        <p:nvSpPr>
          <p:cNvPr id="25" name="Text 22"/>
          <p:cNvSpPr/>
          <p:nvPr/>
        </p:nvSpPr>
        <p:spPr>
          <a:xfrm>
            <a:off x="812800" y="63754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a:t>
            </a:r>
            <a:endParaRPr lang="en-US" sz="1200" dirty="0"/>
          </a:p>
        </p:txBody>
      </p:sp>
      <p:sp>
        <p:nvSpPr>
          <p:cNvPr id="26" name="Text 23"/>
          <p:cNvSpPr/>
          <p:nvPr/>
        </p:nvSpPr>
        <p:spPr>
          <a:xfrm>
            <a:off x="4918075"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문제</a:t>
            </a:r>
            <a:endParaRPr lang="en-US" sz="1200" dirty="0"/>
          </a:p>
        </p:txBody>
      </p:sp>
      <p:sp>
        <p:nvSpPr>
          <p:cNvPr id="27" name="Text 24"/>
          <p:cNvSpPr/>
          <p:nvPr/>
        </p:nvSpPr>
        <p:spPr>
          <a:xfrm>
            <a:off x="5410398"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설계</a:t>
            </a:r>
            <a:endParaRPr lang="en-US" sz="1200" dirty="0"/>
          </a:p>
        </p:txBody>
      </p:sp>
      <p:sp>
        <p:nvSpPr>
          <p:cNvPr id="28" name="Text 25"/>
          <p:cNvSpPr/>
          <p:nvPr/>
        </p:nvSpPr>
        <p:spPr>
          <a:xfrm>
            <a:off x="5902722" y="6375400"/>
            <a:ext cx="685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시연·결과</a:t>
            </a:r>
            <a:endParaRPr lang="en-US" sz="1200" dirty="0"/>
          </a:p>
        </p:txBody>
      </p:sp>
      <p:sp>
        <p:nvSpPr>
          <p:cNvPr id="29" name="Text 26"/>
          <p:cNvSpPr/>
          <p:nvPr/>
        </p:nvSpPr>
        <p:spPr>
          <a:xfrm>
            <a:off x="6702623" y="6375400"/>
            <a:ext cx="685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한계·개선</a:t>
            </a:r>
            <a:endParaRPr lang="en-US" sz="1200" dirty="0"/>
          </a:p>
        </p:txBody>
      </p:sp>
      <p:sp>
        <p:nvSpPr>
          <p:cNvPr id="30" name="Text 27"/>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1020318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설계 · 구조</a:t>
            </a:r>
            <a:endParaRPr lang="en-US" sz="1400" dirty="0"/>
          </a:p>
        </p:txBody>
      </p:sp>
      <p:sp>
        <p:nvSpPr>
          <p:cNvPr id="5" name="Text 2"/>
          <p:cNvSpPr/>
          <p:nvPr>
            <p:ph type="title"/>
          </p:nvPr>
        </p:nvSpPr>
        <p:spPr>
          <a:xfrm>
            <a:off x="812800" y="934641"/>
            <a:ext cx="1020318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75CD3"/>
                </a:solidFill>
                <a:latin typeface="Plus Jakarta Sans" pitchFamily="34" charset="0"/>
                <a:ea typeface="Plus Jakarta Sans" pitchFamily="34" charset="-122"/>
                <a:cs typeface="Plus Jakarta Sans" pitchFamily="34" charset="-120"/>
              </a:rPr>
              <a:t>AI</a:t>
            </a:r>
            <a:r>
              <a:rPr lang="en-US" sz="3000" b="1" i="0" dirty="0">
                <a:solidFill>
                  <a:srgbClr val="101828"/>
                </a:solidFill>
                <a:latin typeface="Plus Jakarta Sans" pitchFamily="34" charset="0"/>
                <a:ea typeface="Plus Jakarta Sans" pitchFamily="34" charset="-122"/>
                <a:cs typeface="Plus Jakarta Sans" pitchFamily="34" charset="-120"/>
              </a:rPr>
              <a:t>는 이해와 작성만, 계획·판단·검증은 코드가</a:t>
            </a:r>
            <a:endParaRPr lang="en-US" sz="3000" dirty="0"/>
          </a:p>
        </p:txBody>
      </p:sp>
      <p:sp>
        <p:nvSpPr>
          <p:cNvPr id="6" name="Shape 3"/>
          <p:cNvSpPr/>
          <p:nvPr/>
        </p:nvSpPr>
        <p:spPr>
          <a:xfrm>
            <a:off x="819150" y="1593850"/>
            <a:ext cx="1689100" cy="685800"/>
          </a:xfrm>
          <a:prstGeom prst="roundRect">
            <a:avLst>
              <a:gd name="adj" fmla="val 13889"/>
            </a:avLst>
          </a:prstGeom>
          <a:solidFill>
            <a:srgbClr val="FFFFFF"/>
          </a:solidFill>
          <a:ln w="12700">
            <a:solidFill>
              <a:srgbClr val="C0CCE0"/>
            </a:solidFill>
            <a:prstDash val="solid"/>
          </a:ln>
        </p:spPr>
      </p:sp>
      <p:sp>
        <p:nvSpPr>
          <p:cNvPr id="7" name="Text 4"/>
          <p:cNvSpPr/>
          <p:nvPr/>
        </p:nvSpPr>
        <p:spPr>
          <a:xfrm>
            <a:off x="939800" y="1710730"/>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01828"/>
                </a:solidFill>
                <a:latin typeface="Noto Sans KR" pitchFamily="34" charset="0"/>
                <a:ea typeface="Noto Sans KR" pitchFamily="34" charset="-122"/>
                <a:cs typeface="Noto Sans KR" pitchFamily="34" charset="-120"/>
              </a:rPr>
              <a:t>분기</a:t>
            </a:r>
            <a:endParaRPr lang="en-US" sz="1400" dirty="0"/>
          </a:p>
        </p:txBody>
      </p:sp>
      <p:sp>
        <p:nvSpPr>
          <p:cNvPr id="8" name="Text 5"/>
          <p:cNvSpPr/>
          <p:nvPr/>
        </p:nvSpPr>
        <p:spPr>
          <a:xfrm>
            <a:off x="939800" y="1949450"/>
            <a:ext cx="149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Noto Sans KR" pitchFamily="34" charset="0"/>
                <a:ea typeface="Noto Sans KR" pitchFamily="34" charset="-122"/>
                <a:cs typeface="Noto Sans KR" pitchFamily="34" charset="-120"/>
              </a:rPr>
              <a:t>위급·범위 판정</a:t>
            </a:r>
            <a:endParaRPr lang="en-US" sz="1200" dirty="0"/>
          </a:p>
        </p:txBody>
      </p:sp>
      <p:sp>
        <p:nvSpPr>
          <p:cNvPr id="9" name="Shape 6"/>
          <p:cNvSpPr/>
          <p:nvPr/>
        </p:nvSpPr>
        <p:spPr>
          <a:xfrm>
            <a:off x="3035300" y="1593850"/>
            <a:ext cx="1689100" cy="685800"/>
          </a:xfrm>
          <a:prstGeom prst="roundRect">
            <a:avLst>
              <a:gd name="adj" fmla="val 13889"/>
            </a:avLst>
          </a:prstGeom>
          <a:solidFill>
            <a:srgbClr val="EFF8FF"/>
          </a:solidFill>
          <a:ln w="12700">
            <a:solidFill>
              <a:srgbClr val="1570EF"/>
            </a:solidFill>
            <a:prstDash val="solid"/>
          </a:ln>
        </p:spPr>
      </p:sp>
      <p:sp>
        <p:nvSpPr>
          <p:cNvPr id="10" name="Text 7"/>
          <p:cNvSpPr/>
          <p:nvPr/>
        </p:nvSpPr>
        <p:spPr>
          <a:xfrm>
            <a:off x="3155950" y="1710730"/>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5CD3"/>
                </a:solidFill>
                <a:latin typeface="Noto Sans KR" pitchFamily="34" charset="0"/>
                <a:ea typeface="Noto Sans KR" pitchFamily="34" charset="-122"/>
                <a:cs typeface="Noto Sans KR" pitchFamily="34" charset="-120"/>
              </a:rPr>
              <a:t>의도 파악</a:t>
            </a:r>
            <a:endParaRPr lang="en-US" sz="1400" dirty="0"/>
          </a:p>
        </p:txBody>
      </p:sp>
      <p:sp>
        <p:nvSpPr>
          <p:cNvPr id="11" name="Text 8"/>
          <p:cNvSpPr/>
          <p:nvPr/>
        </p:nvSpPr>
        <p:spPr>
          <a:xfrm>
            <a:off x="3155950" y="1949450"/>
            <a:ext cx="149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Noto Sans KR" pitchFamily="34" charset="0"/>
                <a:ea typeface="Noto Sans KR" pitchFamily="34" charset="-122"/>
                <a:cs typeface="Noto Sans KR" pitchFamily="34" charset="-120"/>
              </a:rPr>
              <a:t>의도·재난 유형</a:t>
            </a:r>
            <a:endParaRPr lang="en-US" sz="1200" dirty="0"/>
          </a:p>
        </p:txBody>
      </p:sp>
      <p:sp>
        <p:nvSpPr>
          <p:cNvPr id="12" name="Shape 9"/>
          <p:cNvSpPr/>
          <p:nvPr/>
        </p:nvSpPr>
        <p:spPr>
          <a:xfrm>
            <a:off x="5251450" y="1593850"/>
            <a:ext cx="1689100" cy="685800"/>
          </a:xfrm>
          <a:prstGeom prst="roundRect">
            <a:avLst>
              <a:gd name="adj" fmla="val 13889"/>
            </a:avLst>
          </a:prstGeom>
          <a:solidFill>
            <a:srgbClr val="FFFFFF"/>
          </a:solidFill>
          <a:ln w="12700">
            <a:solidFill>
              <a:srgbClr val="C0CCE0"/>
            </a:solidFill>
            <a:prstDash val="solid"/>
          </a:ln>
        </p:spPr>
      </p:sp>
      <p:sp>
        <p:nvSpPr>
          <p:cNvPr id="13" name="Text 10"/>
          <p:cNvSpPr/>
          <p:nvPr/>
        </p:nvSpPr>
        <p:spPr>
          <a:xfrm>
            <a:off x="5372100" y="1710730"/>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01828"/>
                </a:solidFill>
                <a:latin typeface="Noto Sans KR" pitchFamily="34" charset="0"/>
                <a:ea typeface="Noto Sans KR" pitchFamily="34" charset="-122"/>
                <a:cs typeface="Noto Sans KR" pitchFamily="34" charset="-120"/>
              </a:rPr>
              <a:t>지역 확정</a:t>
            </a:r>
            <a:endParaRPr lang="en-US" sz="1400" dirty="0"/>
          </a:p>
        </p:txBody>
      </p:sp>
      <p:sp>
        <p:nvSpPr>
          <p:cNvPr id="14" name="Text 11"/>
          <p:cNvSpPr/>
          <p:nvPr/>
        </p:nvSpPr>
        <p:spPr>
          <a:xfrm>
            <a:off x="5372100" y="1949450"/>
            <a:ext cx="149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Noto Sans KR" pitchFamily="34" charset="0"/>
                <a:ea typeface="Noto Sans KR" pitchFamily="34" charset="-122"/>
                <a:cs typeface="Noto Sans KR" pitchFamily="34" charset="-120"/>
              </a:rPr>
              <a:t>점수로 결정</a:t>
            </a:r>
            <a:endParaRPr lang="en-US" sz="1200" dirty="0"/>
          </a:p>
        </p:txBody>
      </p:sp>
      <p:sp>
        <p:nvSpPr>
          <p:cNvPr id="15" name="Shape 12"/>
          <p:cNvSpPr/>
          <p:nvPr/>
        </p:nvSpPr>
        <p:spPr>
          <a:xfrm>
            <a:off x="7467600" y="1593850"/>
            <a:ext cx="1689100" cy="685800"/>
          </a:xfrm>
          <a:prstGeom prst="roundRect">
            <a:avLst>
              <a:gd name="adj" fmla="val 13889"/>
            </a:avLst>
          </a:prstGeom>
          <a:solidFill>
            <a:srgbClr val="FFFFFF"/>
          </a:solidFill>
          <a:ln w="12700">
            <a:solidFill>
              <a:srgbClr val="C0CCE0"/>
            </a:solidFill>
            <a:prstDash val="solid"/>
          </a:ln>
        </p:spPr>
      </p:sp>
      <p:sp>
        <p:nvSpPr>
          <p:cNvPr id="16" name="Text 13"/>
          <p:cNvSpPr/>
          <p:nvPr/>
        </p:nvSpPr>
        <p:spPr>
          <a:xfrm>
            <a:off x="7588250" y="1710730"/>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01828"/>
                </a:solidFill>
                <a:latin typeface="Noto Sans KR" pitchFamily="34" charset="0"/>
                <a:ea typeface="Noto Sans KR" pitchFamily="34" charset="-122"/>
                <a:cs typeface="Noto Sans KR" pitchFamily="34" charset="-120"/>
              </a:rPr>
              <a:t>계획</a:t>
            </a:r>
            <a:endParaRPr lang="en-US" sz="1400" dirty="0"/>
          </a:p>
        </p:txBody>
      </p:sp>
      <p:sp>
        <p:nvSpPr>
          <p:cNvPr id="17" name="Text 14"/>
          <p:cNvSpPr/>
          <p:nvPr/>
        </p:nvSpPr>
        <p:spPr>
          <a:xfrm>
            <a:off x="7588250" y="1949450"/>
            <a:ext cx="149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Noto Sans KR" pitchFamily="34" charset="0"/>
                <a:ea typeface="Noto Sans KR" pitchFamily="34" charset="-122"/>
                <a:cs typeface="Noto Sans KR" pitchFamily="34" charset="-120"/>
              </a:rPr>
              <a:t>조회 단계 정하기</a:t>
            </a:r>
            <a:endParaRPr lang="en-US" sz="1200" dirty="0"/>
          </a:p>
        </p:txBody>
      </p:sp>
      <p:sp>
        <p:nvSpPr>
          <p:cNvPr id="18" name="Shape 15"/>
          <p:cNvSpPr/>
          <p:nvPr/>
        </p:nvSpPr>
        <p:spPr>
          <a:xfrm>
            <a:off x="9683750" y="1593850"/>
            <a:ext cx="1689100" cy="685800"/>
          </a:xfrm>
          <a:prstGeom prst="roundRect">
            <a:avLst>
              <a:gd name="adj" fmla="val 13889"/>
            </a:avLst>
          </a:prstGeom>
          <a:solidFill>
            <a:srgbClr val="FFFFFF"/>
          </a:solidFill>
          <a:ln w="12700">
            <a:solidFill>
              <a:srgbClr val="C0CCE0"/>
            </a:solidFill>
            <a:prstDash val="solid"/>
          </a:ln>
        </p:spPr>
      </p:sp>
      <p:sp>
        <p:nvSpPr>
          <p:cNvPr id="19" name="Text 16"/>
          <p:cNvSpPr/>
          <p:nvPr/>
        </p:nvSpPr>
        <p:spPr>
          <a:xfrm>
            <a:off x="9804400" y="1710730"/>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01828"/>
                </a:solidFill>
                <a:latin typeface="Noto Sans KR" pitchFamily="34" charset="0"/>
                <a:ea typeface="Noto Sans KR" pitchFamily="34" charset="-122"/>
                <a:cs typeface="Noto Sans KR" pitchFamily="34" charset="-120"/>
              </a:rPr>
              <a:t>조회</a:t>
            </a:r>
            <a:endParaRPr lang="en-US" sz="1400" dirty="0"/>
          </a:p>
        </p:txBody>
      </p:sp>
      <p:sp>
        <p:nvSpPr>
          <p:cNvPr id="20" name="Text 17"/>
          <p:cNvSpPr/>
          <p:nvPr/>
        </p:nvSpPr>
        <p:spPr>
          <a:xfrm>
            <a:off x="9804400" y="1949450"/>
            <a:ext cx="149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Noto Sans KR" pitchFamily="34" charset="0"/>
                <a:ea typeface="Noto Sans KR" pitchFamily="34" charset="-122"/>
                <a:cs typeface="Noto Sans KR" pitchFamily="34" charset="-120"/>
              </a:rPr>
              <a:t>API 동시 조회</a:t>
            </a:r>
            <a:endParaRPr lang="en-US" sz="1200" dirty="0"/>
          </a:p>
        </p:txBody>
      </p:sp>
      <p:sp>
        <p:nvSpPr>
          <p:cNvPr id="21" name="Shape 18"/>
          <p:cNvSpPr/>
          <p:nvPr/>
        </p:nvSpPr>
        <p:spPr>
          <a:xfrm>
            <a:off x="819150" y="2546350"/>
            <a:ext cx="1689100" cy="596900"/>
          </a:xfrm>
          <a:prstGeom prst="roundRect">
            <a:avLst>
              <a:gd name="adj" fmla="val 15957"/>
            </a:avLst>
          </a:prstGeom>
          <a:solidFill>
            <a:srgbClr val="F9FAFB"/>
          </a:solidFill>
          <a:ln w="12700">
            <a:solidFill>
              <a:srgbClr val="98A2B3"/>
            </a:solidFill>
            <a:prstDash val="dash"/>
          </a:ln>
        </p:spPr>
      </p:sp>
      <p:sp>
        <p:nvSpPr>
          <p:cNvPr id="22" name="Text 19"/>
          <p:cNvSpPr/>
          <p:nvPr/>
        </p:nvSpPr>
        <p:spPr>
          <a:xfrm>
            <a:off x="939800" y="2618780"/>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01828"/>
                </a:solidFill>
                <a:latin typeface="Noto Sans KR" pitchFamily="34" charset="0"/>
                <a:ea typeface="Noto Sans KR" pitchFamily="34" charset="-122"/>
                <a:cs typeface="Noto Sans KR" pitchFamily="34" charset="-120"/>
              </a:rPr>
              <a:t>고정 응답</a:t>
            </a:r>
            <a:endParaRPr lang="en-US" sz="1400" dirty="0"/>
          </a:p>
        </p:txBody>
      </p:sp>
      <p:sp>
        <p:nvSpPr>
          <p:cNvPr id="23" name="Text 20"/>
          <p:cNvSpPr/>
          <p:nvPr/>
        </p:nvSpPr>
        <p:spPr>
          <a:xfrm>
            <a:off x="939800" y="2857500"/>
            <a:ext cx="149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5CD3"/>
                </a:solidFill>
                <a:latin typeface="Noto Sans KR" pitchFamily="34" charset="0"/>
                <a:ea typeface="Noto Sans KR" pitchFamily="34" charset="-122"/>
                <a:cs typeface="Noto Sans KR" pitchFamily="34" charset="-120"/>
              </a:rPr>
              <a:t>AI</a:t>
            </a:r>
            <a:r>
              <a:rPr lang="en-US" sz="1200" dirty="0">
                <a:solidFill>
                  <a:srgbClr val="475467"/>
                </a:solidFill>
                <a:latin typeface="Noto Sans KR" pitchFamily="34" charset="0"/>
                <a:ea typeface="Noto Sans KR" pitchFamily="34" charset="-122"/>
                <a:cs typeface="Noto Sans KR" pitchFamily="34" charset="-120"/>
              </a:rPr>
              <a:t> 없이 안내</a:t>
            </a:r>
            <a:endParaRPr lang="en-US" sz="1200" dirty="0"/>
          </a:p>
        </p:txBody>
      </p:sp>
      <p:sp>
        <p:nvSpPr>
          <p:cNvPr id="24" name="Shape 21"/>
          <p:cNvSpPr/>
          <p:nvPr/>
        </p:nvSpPr>
        <p:spPr>
          <a:xfrm>
            <a:off x="5251450" y="2546350"/>
            <a:ext cx="1689100" cy="596900"/>
          </a:xfrm>
          <a:prstGeom prst="roundRect">
            <a:avLst>
              <a:gd name="adj" fmla="val 15957"/>
            </a:avLst>
          </a:prstGeom>
          <a:solidFill>
            <a:srgbClr val="F9FAFB"/>
          </a:solidFill>
          <a:ln w="12700">
            <a:solidFill>
              <a:srgbClr val="98A2B3"/>
            </a:solidFill>
            <a:prstDash val="dash"/>
          </a:ln>
        </p:spPr>
      </p:sp>
      <p:sp>
        <p:nvSpPr>
          <p:cNvPr id="25" name="Text 22"/>
          <p:cNvSpPr/>
          <p:nvPr/>
        </p:nvSpPr>
        <p:spPr>
          <a:xfrm>
            <a:off x="5372100" y="2618780"/>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01828"/>
                </a:solidFill>
                <a:latin typeface="Noto Sans KR" pitchFamily="34" charset="0"/>
                <a:ea typeface="Noto Sans KR" pitchFamily="34" charset="-122"/>
                <a:cs typeface="Noto Sans KR" pitchFamily="34" charset="-120"/>
              </a:rPr>
              <a:t>지역 되묻기</a:t>
            </a:r>
            <a:endParaRPr lang="en-US" sz="1400" dirty="0"/>
          </a:p>
        </p:txBody>
      </p:sp>
      <p:sp>
        <p:nvSpPr>
          <p:cNvPr id="26" name="Text 23"/>
          <p:cNvSpPr/>
          <p:nvPr/>
        </p:nvSpPr>
        <p:spPr>
          <a:xfrm>
            <a:off x="5372100" y="2857500"/>
            <a:ext cx="149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Noto Sans KR" pitchFamily="34" charset="0"/>
                <a:ea typeface="Noto Sans KR" pitchFamily="34" charset="-122"/>
                <a:cs typeface="Noto Sans KR" pitchFamily="34" charset="-120"/>
              </a:rPr>
              <a:t>지원 지역 안내</a:t>
            </a:r>
            <a:endParaRPr lang="en-US" sz="1200" dirty="0"/>
          </a:p>
        </p:txBody>
      </p:sp>
      <p:sp>
        <p:nvSpPr>
          <p:cNvPr id="27" name="Shape 24"/>
          <p:cNvSpPr/>
          <p:nvPr/>
        </p:nvSpPr>
        <p:spPr>
          <a:xfrm>
            <a:off x="9683750" y="3435350"/>
            <a:ext cx="1689100" cy="685800"/>
          </a:xfrm>
          <a:prstGeom prst="roundRect">
            <a:avLst>
              <a:gd name="adj" fmla="val 13889"/>
            </a:avLst>
          </a:prstGeom>
          <a:solidFill>
            <a:srgbClr val="FFFFFF"/>
          </a:solidFill>
          <a:ln w="12700">
            <a:solidFill>
              <a:srgbClr val="C0CCE0"/>
            </a:solidFill>
            <a:prstDash val="solid"/>
          </a:ln>
        </p:spPr>
      </p:sp>
      <p:sp>
        <p:nvSpPr>
          <p:cNvPr id="28" name="Text 25"/>
          <p:cNvSpPr/>
          <p:nvPr/>
        </p:nvSpPr>
        <p:spPr>
          <a:xfrm>
            <a:off x="9804400" y="3552230"/>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01828"/>
                </a:solidFill>
                <a:latin typeface="Noto Sans KR" pitchFamily="34" charset="0"/>
                <a:ea typeface="Noto Sans KR" pitchFamily="34" charset="-122"/>
                <a:cs typeface="Noto Sans KR" pitchFamily="34" charset="-120"/>
              </a:rPr>
              <a:t>판정</a:t>
            </a:r>
            <a:endParaRPr lang="en-US" sz="1400" dirty="0"/>
          </a:p>
        </p:txBody>
      </p:sp>
      <p:sp>
        <p:nvSpPr>
          <p:cNvPr id="29" name="Text 26"/>
          <p:cNvSpPr/>
          <p:nvPr/>
        </p:nvSpPr>
        <p:spPr>
          <a:xfrm>
            <a:off x="9804400" y="3790950"/>
            <a:ext cx="149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Noto Sans KR" pitchFamily="34" charset="0"/>
                <a:ea typeface="Noto Sans KR" pitchFamily="34" charset="-122"/>
                <a:cs typeface="Noto Sans KR" pitchFamily="34" charset="-120"/>
              </a:rPr>
              <a:t>특보 등급 계산</a:t>
            </a:r>
            <a:endParaRPr lang="en-US" sz="1200" dirty="0"/>
          </a:p>
        </p:txBody>
      </p:sp>
      <p:sp>
        <p:nvSpPr>
          <p:cNvPr id="30" name="Shape 27"/>
          <p:cNvSpPr/>
          <p:nvPr/>
        </p:nvSpPr>
        <p:spPr>
          <a:xfrm>
            <a:off x="7467600" y="3435350"/>
            <a:ext cx="1689100" cy="685800"/>
          </a:xfrm>
          <a:prstGeom prst="roundRect">
            <a:avLst>
              <a:gd name="adj" fmla="val 13889"/>
            </a:avLst>
          </a:prstGeom>
          <a:solidFill>
            <a:srgbClr val="EFF8FF"/>
          </a:solidFill>
          <a:ln w="12700">
            <a:solidFill>
              <a:srgbClr val="1570EF"/>
            </a:solidFill>
            <a:prstDash val="solid"/>
          </a:ln>
        </p:spPr>
      </p:sp>
      <p:sp>
        <p:nvSpPr>
          <p:cNvPr id="31" name="Text 28"/>
          <p:cNvSpPr/>
          <p:nvPr/>
        </p:nvSpPr>
        <p:spPr>
          <a:xfrm>
            <a:off x="7588250" y="3552230"/>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5CD3"/>
                </a:solidFill>
                <a:latin typeface="Noto Sans KR" pitchFamily="34" charset="0"/>
                <a:ea typeface="Noto Sans KR" pitchFamily="34" charset="-122"/>
                <a:cs typeface="Noto Sans KR" pitchFamily="34" charset="-120"/>
              </a:rPr>
              <a:t>작성</a:t>
            </a:r>
            <a:endParaRPr lang="en-US" sz="1400" dirty="0"/>
          </a:p>
        </p:txBody>
      </p:sp>
      <p:sp>
        <p:nvSpPr>
          <p:cNvPr id="32" name="Text 29"/>
          <p:cNvSpPr/>
          <p:nvPr/>
        </p:nvSpPr>
        <p:spPr>
          <a:xfrm>
            <a:off x="7588250" y="3790950"/>
            <a:ext cx="149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Noto Sans KR" pitchFamily="34" charset="0"/>
                <a:ea typeface="Noto Sans KR" pitchFamily="34" charset="-122"/>
                <a:cs typeface="Noto Sans KR" pitchFamily="34" charset="-120"/>
              </a:rPr>
              <a:t>답변 문장 쓰기</a:t>
            </a:r>
            <a:endParaRPr lang="en-US" sz="1200" dirty="0"/>
          </a:p>
        </p:txBody>
      </p:sp>
      <p:sp>
        <p:nvSpPr>
          <p:cNvPr id="33" name="Shape 30"/>
          <p:cNvSpPr/>
          <p:nvPr/>
        </p:nvSpPr>
        <p:spPr>
          <a:xfrm>
            <a:off x="5251450" y="3435350"/>
            <a:ext cx="1689100" cy="685800"/>
          </a:xfrm>
          <a:prstGeom prst="roundRect">
            <a:avLst>
              <a:gd name="adj" fmla="val 13889"/>
            </a:avLst>
          </a:prstGeom>
          <a:solidFill>
            <a:srgbClr val="FFFFFF"/>
          </a:solidFill>
          <a:ln w="12700">
            <a:solidFill>
              <a:srgbClr val="C0CCE0"/>
            </a:solidFill>
            <a:prstDash val="solid"/>
          </a:ln>
        </p:spPr>
      </p:sp>
      <p:sp>
        <p:nvSpPr>
          <p:cNvPr id="34" name="Text 31"/>
          <p:cNvSpPr/>
          <p:nvPr/>
        </p:nvSpPr>
        <p:spPr>
          <a:xfrm>
            <a:off x="5372100" y="3552230"/>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01828"/>
                </a:solidFill>
                <a:latin typeface="Noto Sans KR" pitchFamily="34" charset="0"/>
                <a:ea typeface="Noto Sans KR" pitchFamily="34" charset="-122"/>
                <a:cs typeface="Noto Sans KR" pitchFamily="34" charset="-120"/>
              </a:rPr>
              <a:t>검증</a:t>
            </a:r>
            <a:endParaRPr lang="en-US" sz="1400" dirty="0"/>
          </a:p>
        </p:txBody>
      </p:sp>
      <p:sp>
        <p:nvSpPr>
          <p:cNvPr id="35" name="Text 32"/>
          <p:cNvSpPr/>
          <p:nvPr/>
        </p:nvSpPr>
        <p:spPr>
          <a:xfrm>
            <a:off x="5372100" y="3790950"/>
            <a:ext cx="149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Noto Sans KR" pitchFamily="34" charset="0"/>
                <a:ea typeface="Noto Sans KR" pitchFamily="34" charset="-122"/>
                <a:cs typeface="Noto Sans KR" pitchFamily="34" charset="-120"/>
              </a:rPr>
              <a:t>규칙 검사</a:t>
            </a:r>
            <a:endParaRPr lang="en-US" sz="1200" dirty="0"/>
          </a:p>
        </p:txBody>
      </p:sp>
      <p:sp>
        <p:nvSpPr>
          <p:cNvPr id="36" name="Shape 33"/>
          <p:cNvSpPr/>
          <p:nvPr/>
        </p:nvSpPr>
        <p:spPr>
          <a:xfrm>
            <a:off x="3035300" y="3435350"/>
            <a:ext cx="1689100" cy="685800"/>
          </a:xfrm>
          <a:prstGeom prst="roundRect">
            <a:avLst>
              <a:gd name="adj" fmla="val 13889"/>
            </a:avLst>
          </a:prstGeom>
          <a:solidFill>
            <a:srgbClr val="FFFFFF"/>
          </a:solidFill>
          <a:ln w="12700">
            <a:solidFill>
              <a:srgbClr val="C0CCE0"/>
            </a:solidFill>
            <a:prstDash val="solid"/>
          </a:ln>
        </p:spPr>
      </p:sp>
      <p:sp>
        <p:nvSpPr>
          <p:cNvPr id="37" name="Text 34"/>
          <p:cNvSpPr/>
          <p:nvPr/>
        </p:nvSpPr>
        <p:spPr>
          <a:xfrm>
            <a:off x="3155950" y="3552230"/>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01828"/>
                </a:solidFill>
                <a:latin typeface="Noto Sans KR" pitchFamily="34" charset="0"/>
                <a:ea typeface="Noto Sans KR" pitchFamily="34" charset="-122"/>
                <a:cs typeface="Noto Sans KR" pitchFamily="34" charset="-120"/>
              </a:rPr>
              <a:t>최종</a:t>
            </a:r>
            <a:endParaRPr lang="en-US" sz="1400" dirty="0"/>
          </a:p>
        </p:txBody>
      </p:sp>
      <p:sp>
        <p:nvSpPr>
          <p:cNvPr id="38" name="Text 35"/>
          <p:cNvSpPr/>
          <p:nvPr/>
        </p:nvSpPr>
        <p:spPr>
          <a:xfrm>
            <a:off x="3155950" y="3790950"/>
            <a:ext cx="149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Noto Sans KR" pitchFamily="34" charset="0"/>
                <a:ea typeface="Noto Sans KR" pitchFamily="34" charset="-122"/>
                <a:cs typeface="Noto Sans KR" pitchFamily="34" charset="-120"/>
              </a:rPr>
              <a:t>답변 전달</a:t>
            </a:r>
            <a:endParaRPr lang="en-US" sz="1200" dirty="0"/>
          </a:p>
        </p:txBody>
      </p:sp>
      <p:sp>
        <p:nvSpPr>
          <p:cNvPr id="39" name="Shape 36"/>
          <p:cNvSpPr/>
          <p:nvPr/>
        </p:nvSpPr>
        <p:spPr>
          <a:xfrm>
            <a:off x="3035300" y="4451350"/>
            <a:ext cx="1689100" cy="622300"/>
          </a:xfrm>
          <a:prstGeom prst="roundRect">
            <a:avLst>
              <a:gd name="adj" fmla="val 15306"/>
            </a:avLst>
          </a:prstGeom>
          <a:solidFill>
            <a:srgbClr val="F9FAFB"/>
          </a:solidFill>
          <a:ln w="12700">
            <a:solidFill>
              <a:srgbClr val="98A2B3"/>
            </a:solidFill>
            <a:prstDash val="dash"/>
          </a:ln>
        </p:spPr>
      </p:sp>
      <p:sp>
        <p:nvSpPr>
          <p:cNvPr id="40" name="Text 37"/>
          <p:cNvSpPr/>
          <p:nvPr/>
        </p:nvSpPr>
        <p:spPr>
          <a:xfrm>
            <a:off x="3155950" y="4536480"/>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01828"/>
                </a:solidFill>
                <a:latin typeface="Noto Sans KR" pitchFamily="34" charset="0"/>
                <a:ea typeface="Noto Sans KR" pitchFamily="34" charset="-122"/>
                <a:cs typeface="Noto Sans KR" pitchFamily="34" charset="-120"/>
              </a:rPr>
              <a:t>고정 양식</a:t>
            </a:r>
            <a:endParaRPr lang="en-US" sz="1400" dirty="0"/>
          </a:p>
        </p:txBody>
      </p:sp>
      <p:sp>
        <p:nvSpPr>
          <p:cNvPr id="41" name="Text 38"/>
          <p:cNvSpPr/>
          <p:nvPr/>
        </p:nvSpPr>
        <p:spPr>
          <a:xfrm>
            <a:off x="3155950" y="4775200"/>
            <a:ext cx="149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5CD3"/>
                </a:solidFill>
                <a:latin typeface="Noto Sans KR" pitchFamily="34" charset="0"/>
                <a:ea typeface="Noto Sans KR" pitchFamily="34" charset="-122"/>
                <a:cs typeface="Noto Sans KR" pitchFamily="34" charset="-120"/>
              </a:rPr>
              <a:t>AI</a:t>
            </a:r>
            <a:r>
              <a:rPr lang="en-US" sz="1200" dirty="0">
                <a:solidFill>
                  <a:srgbClr val="475467"/>
                </a:solidFill>
                <a:latin typeface="Noto Sans KR" pitchFamily="34" charset="0"/>
                <a:ea typeface="Noto Sans KR" pitchFamily="34" charset="-122"/>
                <a:cs typeface="Noto Sans KR" pitchFamily="34" charset="-120"/>
              </a:rPr>
              <a:t> 없이 답변</a:t>
            </a:r>
            <a:endParaRPr lang="en-US" sz="1200" dirty="0"/>
          </a:p>
        </p:txBody>
      </p:sp>
      <p:pic>
        <p:nvPicPr>
          <p:cNvPr id="42" name="Image 1" descr="connector">    </p:cNvPr>
          <p:cNvPicPr>
            <a:picLocks noChangeAspect="1"/>
          </p:cNvPicPr>
          <p:nvPr/>
        </p:nvPicPr>
        <p:blipFill>
          <a:blip r:embed="rId2"/>
          <a:srcRect l="0" r="0" t="0" b="0"/>
          <a:stretch/>
        </p:blipFill>
        <p:spPr>
          <a:xfrm>
            <a:off x="2463800" y="1885950"/>
            <a:ext cx="615950" cy="101600"/>
          </a:xfrm>
          <a:prstGeom prst="rect">
            <a:avLst/>
          </a:prstGeom>
        </p:spPr>
      </p:pic>
      <p:pic>
        <p:nvPicPr>
          <p:cNvPr id="43" name="Image 2" descr="connector">    </p:cNvPr>
          <p:cNvPicPr>
            <a:picLocks noChangeAspect="1"/>
          </p:cNvPicPr>
          <p:nvPr/>
        </p:nvPicPr>
        <p:blipFill>
          <a:blip r:embed="rId3"/>
          <a:srcRect l="0" r="0" t="0" b="0"/>
          <a:stretch/>
        </p:blipFill>
        <p:spPr>
          <a:xfrm>
            <a:off x="4679950" y="1885950"/>
            <a:ext cx="615950" cy="101600"/>
          </a:xfrm>
          <a:prstGeom prst="rect">
            <a:avLst/>
          </a:prstGeom>
        </p:spPr>
      </p:pic>
      <p:pic>
        <p:nvPicPr>
          <p:cNvPr id="44" name="Image 3" descr="connector">    </p:cNvPr>
          <p:cNvPicPr>
            <a:picLocks noChangeAspect="1"/>
          </p:cNvPicPr>
          <p:nvPr/>
        </p:nvPicPr>
        <p:blipFill>
          <a:blip r:embed="rId4"/>
          <a:srcRect l="0" r="0" t="0" b="0"/>
          <a:stretch/>
        </p:blipFill>
        <p:spPr>
          <a:xfrm>
            <a:off x="6896100" y="1885950"/>
            <a:ext cx="615950" cy="101600"/>
          </a:xfrm>
          <a:prstGeom prst="rect">
            <a:avLst/>
          </a:prstGeom>
        </p:spPr>
      </p:pic>
      <p:pic>
        <p:nvPicPr>
          <p:cNvPr id="45" name="Image 4" descr="connector">    </p:cNvPr>
          <p:cNvPicPr>
            <a:picLocks noChangeAspect="1"/>
          </p:cNvPicPr>
          <p:nvPr/>
        </p:nvPicPr>
        <p:blipFill>
          <a:blip r:embed="rId5"/>
          <a:srcRect l="0" r="0" t="0" b="0"/>
          <a:stretch/>
        </p:blipFill>
        <p:spPr>
          <a:xfrm>
            <a:off x="9112250" y="1885950"/>
            <a:ext cx="615950" cy="101600"/>
          </a:xfrm>
          <a:prstGeom prst="rect">
            <a:avLst/>
          </a:prstGeom>
        </p:spPr>
      </p:pic>
      <p:pic>
        <p:nvPicPr>
          <p:cNvPr id="46" name="Image 5" descr="connector">    </p:cNvPr>
          <p:cNvPicPr>
            <a:picLocks noChangeAspect="1"/>
          </p:cNvPicPr>
          <p:nvPr/>
        </p:nvPicPr>
        <p:blipFill>
          <a:blip r:embed="rId6"/>
          <a:srcRect l="0" r="0" t="0" b="0"/>
          <a:stretch/>
        </p:blipFill>
        <p:spPr>
          <a:xfrm>
            <a:off x="10477500" y="2235200"/>
            <a:ext cx="101600" cy="1244600"/>
          </a:xfrm>
          <a:prstGeom prst="rect">
            <a:avLst/>
          </a:prstGeom>
        </p:spPr>
      </p:pic>
      <p:pic>
        <p:nvPicPr>
          <p:cNvPr id="47" name="Image 6" descr="connector">    </p:cNvPr>
          <p:cNvPicPr>
            <a:picLocks noChangeAspect="1"/>
          </p:cNvPicPr>
          <p:nvPr/>
        </p:nvPicPr>
        <p:blipFill>
          <a:blip r:embed="rId7"/>
          <a:srcRect l="0" r="0" t="0" b="0"/>
          <a:stretch/>
        </p:blipFill>
        <p:spPr>
          <a:xfrm>
            <a:off x="9112250" y="3727450"/>
            <a:ext cx="615950" cy="101600"/>
          </a:xfrm>
          <a:prstGeom prst="rect">
            <a:avLst/>
          </a:prstGeom>
        </p:spPr>
      </p:pic>
      <p:pic>
        <p:nvPicPr>
          <p:cNvPr id="48" name="Image 7" descr="connector">    </p:cNvPr>
          <p:cNvPicPr>
            <a:picLocks noChangeAspect="1"/>
          </p:cNvPicPr>
          <p:nvPr/>
        </p:nvPicPr>
        <p:blipFill>
          <a:blip r:embed="rId8"/>
          <a:srcRect l="0" r="0" t="0" b="0"/>
          <a:stretch/>
        </p:blipFill>
        <p:spPr>
          <a:xfrm>
            <a:off x="6896100" y="3727450"/>
            <a:ext cx="615950" cy="101600"/>
          </a:xfrm>
          <a:prstGeom prst="rect">
            <a:avLst/>
          </a:prstGeom>
        </p:spPr>
      </p:pic>
      <p:pic>
        <p:nvPicPr>
          <p:cNvPr id="49" name="Image 8" descr="connector">    </p:cNvPr>
          <p:cNvPicPr>
            <a:picLocks noChangeAspect="1"/>
          </p:cNvPicPr>
          <p:nvPr/>
        </p:nvPicPr>
        <p:blipFill>
          <a:blip r:embed="rId9"/>
          <a:srcRect l="0" r="0" t="0" b="0"/>
          <a:stretch/>
        </p:blipFill>
        <p:spPr>
          <a:xfrm>
            <a:off x="4679950" y="3727450"/>
            <a:ext cx="615950" cy="101600"/>
          </a:xfrm>
          <a:prstGeom prst="rect">
            <a:avLst/>
          </a:prstGeom>
        </p:spPr>
      </p:pic>
      <p:pic>
        <p:nvPicPr>
          <p:cNvPr id="50" name="Image 9" descr="connector">    </p:cNvPr>
          <p:cNvPicPr>
            <a:picLocks noChangeAspect="1"/>
          </p:cNvPicPr>
          <p:nvPr/>
        </p:nvPicPr>
        <p:blipFill>
          <a:blip r:embed="rId10"/>
          <a:srcRect l="0" r="0" t="0" b="0"/>
          <a:stretch/>
        </p:blipFill>
        <p:spPr>
          <a:xfrm>
            <a:off x="1612900" y="2235200"/>
            <a:ext cx="101600" cy="355600"/>
          </a:xfrm>
          <a:prstGeom prst="rect">
            <a:avLst/>
          </a:prstGeom>
        </p:spPr>
      </p:pic>
      <p:pic>
        <p:nvPicPr>
          <p:cNvPr id="51" name="Image 10" descr="connector">    </p:cNvPr>
          <p:cNvPicPr>
            <a:picLocks noChangeAspect="1"/>
          </p:cNvPicPr>
          <p:nvPr/>
        </p:nvPicPr>
        <p:blipFill>
          <a:blip r:embed="rId11"/>
          <a:srcRect l="0" r="0" t="0" b="0"/>
          <a:stretch/>
        </p:blipFill>
        <p:spPr>
          <a:xfrm>
            <a:off x="6045200" y="2235200"/>
            <a:ext cx="101600" cy="355600"/>
          </a:xfrm>
          <a:prstGeom prst="rect">
            <a:avLst/>
          </a:prstGeom>
        </p:spPr>
      </p:pic>
      <p:pic>
        <p:nvPicPr>
          <p:cNvPr id="52" name="Image 11" descr="connector">    </p:cNvPr>
          <p:cNvPicPr>
            <a:picLocks noChangeAspect="1"/>
          </p:cNvPicPr>
          <p:nvPr/>
        </p:nvPicPr>
        <p:blipFill>
          <a:blip r:embed="rId12"/>
          <a:srcRect l="0" r="0" t="0" b="0"/>
          <a:stretch/>
        </p:blipFill>
        <p:spPr>
          <a:xfrm>
            <a:off x="4679950" y="4076700"/>
            <a:ext cx="831850" cy="736600"/>
          </a:xfrm>
          <a:prstGeom prst="rect">
            <a:avLst/>
          </a:prstGeom>
        </p:spPr>
      </p:pic>
      <p:pic>
        <p:nvPicPr>
          <p:cNvPr id="53" name="Image 12" descr="connector">    </p:cNvPr>
          <p:cNvPicPr>
            <a:picLocks noChangeAspect="1"/>
          </p:cNvPicPr>
          <p:nvPr/>
        </p:nvPicPr>
        <p:blipFill>
          <a:blip r:embed="rId13"/>
          <a:srcRect l="0" r="0" t="0" b="0"/>
          <a:stretch/>
        </p:blipFill>
        <p:spPr>
          <a:xfrm>
            <a:off x="3829050" y="4076700"/>
            <a:ext cx="101600" cy="419100"/>
          </a:xfrm>
          <a:prstGeom prst="rect">
            <a:avLst/>
          </a:prstGeom>
        </p:spPr>
      </p:pic>
      <p:sp>
        <p:nvSpPr>
          <p:cNvPr id="54" name="Shape 39"/>
          <p:cNvSpPr/>
          <p:nvPr/>
        </p:nvSpPr>
        <p:spPr>
          <a:xfrm>
            <a:off x="8302625" y="4140200"/>
            <a:ext cx="0" cy="368300"/>
          </a:xfrm>
          <a:prstGeom prst="line">
            <a:avLst/>
          </a:prstGeom>
          <a:noFill/>
          <a:ln w="19050">
            <a:solidFill>
              <a:srgbClr val="1570EF"/>
            </a:solidFill>
            <a:prstDash val="solid"/>
          </a:ln>
        </p:spPr>
      </p:sp>
      <p:sp>
        <p:nvSpPr>
          <p:cNvPr id="55" name="Shape 40"/>
          <p:cNvSpPr/>
          <p:nvPr/>
        </p:nvSpPr>
        <p:spPr>
          <a:xfrm>
            <a:off x="6096000" y="4498975"/>
            <a:ext cx="2216150" cy="0"/>
          </a:xfrm>
          <a:prstGeom prst="line">
            <a:avLst/>
          </a:prstGeom>
          <a:noFill/>
          <a:ln w="19050">
            <a:solidFill>
              <a:srgbClr val="1570EF"/>
            </a:solidFill>
            <a:prstDash val="solid"/>
          </a:ln>
        </p:spPr>
      </p:sp>
      <p:sp>
        <p:nvSpPr>
          <p:cNvPr id="56" name="Shape 41"/>
          <p:cNvSpPr/>
          <p:nvPr/>
        </p:nvSpPr>
        <p:spPr>
          <a:xfrm>
            <a:off x="6105525" y="4140200"/>
            <a:ext cx="0" cy="368300"/>
          </a:xfrm>
          <a:prstGeom prst="line">
            <a:avLst/>
          </a:prstGeom>
          <a:noFill/>
          <a:ln w="19050">
            <a:solidFill>
              <a:srgbClr val="1570EF"/>
            </a:solidFill>
            <a:prstDash val="solid"/>
          </a:ln>
        </p:spPr>
      </p:sp>
      <p:pic>
        <p:nvPicPr>
          <p:cNvPr id="57" name="Image 13" descr="arrow-up">    </p:cNvPr>
          <p:cNvPicPr>
            <a:picLocks noChangeAspect="1"/>
          </p:cNvPicPr>
          <p:nvPr/>
        </p:nvPicPr>
        <p:blipFill>
          <a:blip r:embed="rId14"/>
          <a:srcRect l="0" r="0" t="0" b="0"/>
          <a:stretch/>
        </p:blipFill>
        <p:spPr>
          <a:xfrm>
            <a:off x="8242300" y="4140200"/>
            <a:ext cx="152400" cy="228600"/>
          </a:xfrm>
          <a:prstGeom prst="rect">
            <a:avLst/>
          </a:prstGeom>
        </p:spPr>
      </p:pic>
      <p:sp>
        <p:nvSpPr>
          <p:cNvPr id="58" name="Text 42"/>
          <p:cNvSpPr/>
          <p:nvPr/>
        </p:nvSpPr>
        <p:spPr>
          <a:xfrm>
            <a:off x="6141529" y="4203700"/>
            <a:ext cx="2106041"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5CD3"/>
                </a:solidFill>
                <a:latin typeface="Noto Sans KR" pitchFamily="34" charset="0"/>
                <a:ea typeface="Noto Sans KR" pitchFamily="34" charset="-122"/>
                <a:cs typeface="Noto Sans KR" pitchFamily="34" charset="-120"/>
              </a:rPr>
              <a:t>위반 시 1회 재작성</a:t>
            </a:r>
            <a:endParaRPr lang="en-US" sz="1200" dirty="0"/>
          </a:p>
        </p:txBody>
      </p:sp>
      <p:sp>
        <p:nvSpPr>
          <p:cNvPr id="59" name="Text 43"/>
          <p:cNvSpPr/>
          <p:nvPr/>
        </p:nvSpPr>
        <p:spPr>
          <a:xfrm>
            <a:off x="1739900" y="231140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Noto Sans KR" pitchFamily="34" charset="0"/>
                <a:ea typeface="Noto Sans KR" pitchFamily="34" charset="-122"/>
                <a:cs typeface="Noto Sans KR" pitchFamily="34" charset="-120"/>
              </a:rPr>
              <a:t>위급·범위 밖</a:t>
            </a:r>
            <a:endParaRPr lang="en-US" sz="1200" dirty="0"/>
          </a:p>
        </p:txBody>
      </p:sp>
      <p:sp>
        <p:nvSpPr>
          <p:cNvPr id="60" name="Text 44"/>
          <p:cNvSpPr/>
          <p:nvPr/>
        </p:nvSpPr>
        <p:spPr>
          <a:xfrm>
            <a:off x="6172200" y="2311400"/>
            <a:ext cx="170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Noto Sans KR" pitchFamily="34" charset="0"/>
                <a:ea typeface="Noto Sans KR" pitchFamily="34" charset="-122"/>
                <a:cs typeface="Noto Sans KR" pitchFamily="34" charset="-120"/>
              </a:rPr>
              <a:t>지역 신호 없음</a:t>
            </a:r>
            <a:endParaRPr lang="en-US" sz="1200" dirty="0"/>
          </a:p>
        </p:txBody>
      </p:sp>
      <p:sp>
        <p:nvSpPr>
          <p:cNvPr id="61" name="Text 45"/>
          <p:cNvSpPr/>
          <p:nvPr/>
        </p:nvSpPr>
        <p:spPr>
          <a:xfrm>
            <a:off x="4775200" y="3505200"/>
            <a:ext cx="495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1828"/>
                </a:solidFill>
                <a:latin typeface="Noto Sans KR" pitchFamily="34" charset="0"/>
                <a:ea typeface="Noto Sans KR" pitchFamily="34" charset="-122"/>
                <a:cs typeface="Noto Sans KR" pitchFamily="34" charset="-120"/>
              </a:rPr>
              <a:t>통과</a:t>
            </a:r>
            <a:endParaRPr lang="en-US" sz="1200" dirty="0"/>
          </a:p>
        </p:txBody>
      </p:sp>
      <p:sp>
        <p:nvSpPr>
          <p:cNvPr id="62" name="Text 46"/>
          <p:cNvSpPr/>
          <p:nvPr/>
        </p:nvSpPr>
        <p:spPr>
          <a:xfrm>
            <a:off x="5537200" y="450850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Noto Sans KR" pitchFamily="34" charset="0"/>
                <a:ea typeface="Noto Sans KR" pitchFamily="34" charset="-122"/>
                <a:cs typeface="Noto Sans KR" pitchFamily="34" charset="-120"/>
              </a:rPr>
              <a:t>그래도 위반 시</a:t>
            </a:r>
            <a:endParaRPr lang="en-US" sz="1200" dirty="0"/>
          </a:p>
        </p:txBody>
      </p:sp>
      <p:sp>
        <p:nvSpPr>
          <p:cNvPr id="63" name="Shape 47"/>
          <p:cNvSpPr/>
          <p:nvPr/>
        </p:nvSpPr>
        <p:spPr>
          <a:xfrm>
            <a:off x="7467600" y="4743450"/>
            <a:ext cx="165100" cy="165100"/>
          </a:xfrm>
          <a:prstGeom prst="roundRect">
            <a:avLst>
              <a:gd name="adj" fmla="val 19231"/>
            </a:avLst>
          </a:prstGeom>
          <a:solidFill>
            <a:srgbClr val="EFF8FF"/>
          </a:solidFill>
          <a:ln w="12700">
            <a:solidFill>
              <a:srgbClr val="1570EF"/>
            </a:solidFill>
            <a:prstDash val="solid"/>
          </a:ln>
        </p:spPr>
      </p:sp>
      <p:sp>
        <p:nvSpPr>
          <p:cNvPr id="64" name="Text 48"/>
          <p:cNvSpPr/>
          <p:nvPr/>
        </p:nvSpPr>
        <p:spPr>
          <a:xfrm>
            <a:off x="7740650" y="4699000"/>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5CD3"/>
                </a:solidFill>
                <a:latin typeface="Noto Sans KR" pitchFamily="34" charset="0"/>
                <a:ea typeface="Noto Sans KR" pitchFamily="34" charset="-122"/>
                <a:cs typeface="Noto Sans KR" pitchFamily="34" charset="-120"/>
              </a:rPr>
              <a:t>AI</a:t>
            </a:r>
            <a:r>
              <a:rPr lang="en-US" sz="1200" dirty="0">
                <a:solidFill>
                  <a:srgbClr val="101828"/>
                </a:solidFill>
                <a:latin typeface="Noto Sans KR" pitchFamily="34" charset="0"/>
                <a:ea typeface="Noto Sans KR" pitchFamily="34" charset="-122"/>
                <a:cs typeface="Noto Sans KR" pitchFamily="34" charset="-120"/>
              </a:rPr>
              <a:t>가 관여하는 단계</a:t>
            </a:r>
            <a:endParaRPr lang="en-US" sz="1200" dirty="0"/>
          </a:p>
        </p:txBody>
      </p:sp>
      <p:sp>
        <p:nvSpPr>
          <p:cNvPr id="65" name="Shape 49"/>
          <p:cNvSpPr/>
          <p:nvPr/>
        </p:nvSpPr>
        <p:spPr>
          <a:xfrm>
            <a:off x="7467600" y="5010150"/>
            <a:ext cx="165100" cy="165100"/>
          </a:xfrm>
          <a:prstGeom prst="roundRect">
            <a:avLst>
              <a:gd name="adj" fmla="val 19231"/>
            </a:avLst>
          </a:prstGeom>
          <a:solidFill>
            <a:srgbClr val="FFFFFF"/>
          </a:solidFill>
          <a:ln w="12700">
            <a:solidFill>
              <a:srgbClr val="C0CCE0"/>
            </a:solidFill>
            <a:prstDash val="solid"/>
          </a:ln>
        </p:spPr>
      </p:sp>
      <p:sp>
        <p:nvSpPr>
          <p:cNvPr id="66" name="Text 50"/>
          <p:cNvSpPr/>
          <p:nvPr/>
        </p:nvSpPr>
        <p:spPr>
          <a:xfrm>
            <a:off x="7740650" y="4965700"/>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28"/>
                </a:solidFill>
                <a:latin typeface="Noto Sans KR" pitchFamily="34" charset="0"/>
                <a:ea typeface="Noto Sans KR" pitchFamily="34" charset="-122"/>
                <a:cs typeface="Noto Sans KR" pitchFamily="34" charset="-120"/>
              </a:rPr>
              <a:t>코드만 하는 단계</a:t>
            </a:r>
            <a:endParaRPr lang="en-US" sz="1200" dirty="0"/>
          </a:p>
        </p:txBody>
      </p:sp>
      <p:sp>
        <p:nvSpPr>
          <p:cNvPr id="67" name="Shape 51"/>
          <p:cNvSpPr/>
          <p:nvPr/>
        </p:nvSpPr>
        <p:spPr>
          <a:xfrm>
            <a:off x="7467600" y="5276850"/>
            <a:ext cx="165100" cy="165100"/>
          </a:xfrm>
          <a:prstGeom prst="roundRect">
            <a:avLst>
              <a:gd name="adj" fmla="val 19231"/>
            </a:avLst>
          </a:prstGeom>
          <a:solidFill>
            <a:srgbClr val="F9FAFB"/>
          </a:solidFill>
          <a:ln w="12700">
            <a:solidFill>
              <a:srgbClr val="98A2B3"/>
            </a:solidFill>
            <a:prstDash val="dash"/>
          </a:ln>
        </p:spPr>
      </p:sp>
      <p:sp>
        <p:nvSpPr>
          <p:cNvPr id="68" name="Text 52"/>
          <p:cNvSpPr/>
          <p:nvPr/>
        </p:nvSpPr>
        <p:spPr>
          <a:xfrm>
            <a:off x="7740650" y="5232400"/>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28"/>
                </a:solidFill>
                <a:latin typeface="Noto Sans KR" pitchFamily="34" charset="0"/>
                <a:ea typeface="Noto Sans KR" pitchFamily="34" charset="-122"/>
                <a:cs typeface="Noto Sans KR" pitchFamily="34" charset="-120"/>
              </a:rPr>
              <a:t>예외 경로 (점선)</a:t>
            </a:r>
            <a:endParaRPr lang="en-US" sz="1200" dirty="0"/>
          </a:p>
        </p:txBody>
      </p:sp>
      <p:sp>
        <p:nvSpPr>
          <p:cNvPr id="69" name="Shape 53"/>
          <p:cNvSpPr/>
          <p:nvPr/>
        </p:nvSpPr>
        <p:spPr>
          <a:xfrm>
            <a:off x="815975" y="5337175"/>
            <a:ext cx="6292850" cy="501650"/>
          </a:xfrm>
          <a:prstGeom prst="roundRect">
            <a:avLst>
              <a:gd name="adj" fmla="val 19620"/>
            </a:avLst>
          </a:prstGeom>
          <a:solidFill>
            <a:srgbClr val="EFF8FF"/>
          </a:solidFill>
          <a:ln w="6350">
            <a:solidFill>
              <a:srgbClr val="B2DDFF"/>
            </a:solidFill>
            <a:prstDash val="solid"/>
          </a:ln>
        </p:spPr>
      </p:sp>
      <p:sp>
        <p:nvSpPr>
          <p:cNvPr id="70" name="Text 54"/>
          <p:cNvSpPr/>
          <p:nvPr/>
        </p:nvSpPr>
        <p:spPr>
          <a:xfrm>
            <a:off x="946150" y="5368330"/>
            <a:ext cx="62134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1828"/>
                </a:solidFill>
                <a:latin typeface="Noto Sans KR" pitchFamily="34" charset="0"/>
                <a:ea typeface="Noto Sans KR" pitchFamily="34" charset="-122"/>
                <a:cs typeface="Noto Sans KR" pitchFamily="34" charset="-120"/>
              </a:rPr>
              <a:t>실제 사례 · “광주 지금 밖에 나가도 돼?” 질문 3회</a:t>
            </a:r>
            <a:endParaRPr lang="en-US" sz="1200" dirty="0"/>
          </a:p>
        </p:txBody>
      </p:sp>
      <p:sp>
        <p:nvSpPr>
          <p:cNvPr id="71" name="Text 55"/>
          <p:cNvSpPr/>
          <p:nvPr/>
        </p:nvSpPr>
        <p:spPr>
          <a:xfrm>
            <a:off x="946150" y="5594350"/>
            <a:ext cx="62134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5CD3"/>
                </a:solidFill>
                <a:latin typeface="Noto Sans KR" pitchFamily="34" charset="0"/>
                <a:ea typeface="Noto Sans KR" pitchFamily="34" charset="-122"/>
                <a:cs typeface="Noto Sans KR" pitchFamily="34" charset="-120"/>
              </a:rPr>
              <a:t>AI</a:t>
            </a:r>
            <a:r>
              <a:rPr lang="en-US" sz="1200" dirty="0">
                <a:solidFill>
                  <a:srgbClr val="475467"/>
                </a:solidFill>
                <a:latin typeface="Noto Sans KR" pitchFamily="34" charset="0"/>
                <a:ea typeface="Noto Sans KR" pitchFamily="34" charset="-122"/>
                <a:cs typeface="Noto Sans KR" pitchFamily="34" charset="-120"/>
              </a:rPr>
              <a:t>가 모두 질문에 없는 ‘태풍’을 냈고, 코드가 전부 걸러 냈다.</a:t>
            </a:r>
            <a:endParaRPr lang="en-US" sz="1200" dirty="0"/>
          </a:p>
        </p:txBody>
      </p:sp>
      <p:sp>
        <p:nvSpPr>
          <p:cNvPr id="72" name="Text 56"/>
          <p:cNvSpPr/>
          <p:nvPr/>
        </p:nvSpPr>
        <p:spPr>
          <a:xfrm>
            <a:off x="7343712" y="5613400"/>
            <a:ext cx="403548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Noto Sans KR" pitchFamily="34" charset="0"/>
                <a:ea typeface="Noto Sans KR" pitchFamily="34" charset="-122"/>
                <a:cs typeface="Noto Sans KR" pitchFamily="34" charset="-120"/>
              </a:rPr>
              <a:t>*각 단계는 LangGraph로 연결</a:t>
            </a:r>
            <a:endParaRPr lang="en-US" sz="1200" dirty="0"/>
          </a:p>
        </p:txBody>
      </p:sp>
      <p:sp>
        <p:nvSpPr>
          <p:cNvPr id="73" name="Shape 57"/>
          <p:cNvSpPr/>
          <p:nvPr/>
        </p:nvSpPr>
        <p:spPr>
          <a:xfrm>
            <a:off x="812800" y="6248400"/>
            <a:ext cx="10566400" cy="6350"/>
          </a:xfrm>
          <a:prstGeom prst="rect">
            <a:avLst/>
          </a:prstGeom>
          <a:solidFill>
            <a:srgbClr val="D0D5DD"/>
          </a:solidFill>
          <a:ln/>
        </p:spPr>
      </p:sp>
      <p:sp>
        <p:nvSpPr>
          <p:cNvPr id="74" name="Text 58"/>
          <p:cNvSpPr/>
          <p:nvPr/>
        </p:nvSpPr>
        <p:spPr>
          <a:xfrm>
            <a:off x="812800" y="63754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a:t>
            </a:r>
            <a:endParaRPr lang="en-US" sz="1200" dirty="0"/>
          </a:p>
        </p:txBody>
      </p:sp>
      <p:sp>
        <p:nvSpPr>
          <p:cNvPr id="75" name="Text 59"/>
          <p:cNvSpPr/>
          <p:nvPr/>
        </p:nvSpPr>
        <p:spPr>
          <a:xfrm>
            <a:off x="4918075"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문제</a:t>
            </a:r>
            <a:endParaRPr lang="en-US" sz="1200" dirty="0"/>
          </a:p>
        </p:txBody>
      </p:sp>
      <p:sp>
        <p:nvSpPr>
          <p:cNvPr id="76" name="Text 60"/>
          <p:cNvSpPr/>
          <p:nvPr/>
        </p:nvSpPr>
        <p:spPr>
          <a:xfrm>
            <a:off x="5410398"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설계</a:t>
            </a:r>
            <a:endParaRPr lang="en-US" sz="1200" dirty="0"/>
          </a:p>
        </p:txBody>
      </p:sp>
      <p:sp>
        <p:nvSpPr>
          <p:cNvPr id="77" name="Text 61"/>
          <p:cNvSpPr/>
          <p:nvPr/>
        </p:nvSpPr>
        <p:spPr>
          <a:xfrm>
            <a:off x="5902722" y="6375400"/>
            <a:ext cx="685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시연·결과</a:t>
            </a:r>
            <a:endParaRPr lang="en-US" sz="1200" dirty="0"/>
          </a:p>
        </p:txBody>
      </p:sp>
      <p:sp>
        <p:nvSpPr>
          <p:cNvPr id="78" name="Text 62"/>
          <p:cNvSpPr/>
          <p:nvPr/>
        </p:nvSpPr>
        <p:spPr>
          <a:xfrm>
            <a:off x="6702623" y="6375400"/>
            <a:ext cx="685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한계·개선</a:t>
            </a:r>
            <a:endParaRPr lang="en-US" sz="1200" dirty="0"/>
          </a:p>
        </p:txBody>
      </p:sp>
      <p:sp>
        <p:nvSpPr>
          <p:cNvPr id="79" name="Text 63"/>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981075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설계 · 기술 선택</a:t>
            </a:r>
            <a:endParaRPr lang="en-US" sz="1400" dirty="0"/>
          </a:p>
        </p:txBody>
      </p:sp>
      <p:sp>
        <p:nvSpPr>
          <p:cNvPr id="5" name="Text 2"/>
          <p:cNvSpPr/>
          <p:nvPr>
            <p:ph type="title"/>
          </p:nvPr>
        </p:nvSpPr>
        <p:spPr>
          <a:xfrm>
            <a:off x="812800" y="934641"/>
            <a:ext cx="981075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Plus Jakarta Sans" pitchFamily="34" charset="0"/>
                <a:ea typeface="Plus Jakarta Sans" pitchFamily="34" charset="-122"/>
                <a:cs typeface="Plus Jakarta Sans" pitchFamily="34" charset="-120"/>
              </a:rPr>
              <a:t>필요한 곳에, 이유가 있는 기술만 썼다</a:t>
            </a:r>
            <a:endParaRPr lang="en-US" sz="3000" dirty="0"/>
          </a:p>
        </p:txBody>
      </p:sp>
      <p:sp>
        <p:nvSpPr>
          <p:cNvPr id="6" name="Text 3"/>
          <p:cNvSpPr/>
          <p:nvPr/>
        </p:nvSpPr>
        <p:spPr>
          <a:xfrm>
            <a:off x="1003300" y="1550591"/>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085"/>
                </a:solidFill>
                <a:latin typeface="Inter" pitchFamily="34" charset="0"/>
                <a:ea typeface="Inter" pitchFamily="34" charset="-122"/>
                <a:cs typeface="Inter" pitchFamily="34" charset="-120"/>
              </a:rPr>
              <a:t>기술</a:t>
            </a:r>
            <a:endParaRPr lang="en-US" sz="1200" dirty="0"/>
          </a:p>
        </p:txBody>
      </p:sp>
      <p:sp>
        <p:nvSpPr>
          <p:cNvPr id="7" name="Text 4"/>
          <p:cNvSpPr/>
          <p:nvPr/>
        </p:nvSpPr>
        <p:spPr>
          <a:xfrm>
            <a:off x="2806700" y="1550591"/>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1828"/>
                </a:solidFill>
                <a:latin typeface="Inter" pitchFamily="34" charset="0"/>
                <a:ea typeface="Inter" pitchFamily="34" charset="-122"/>
                <a:cs typeface="Inter" pitchFamily="34" charset="-120"/>
              </a:rPr>
              <a:t>생긴 문제</a:t>
            </a:r>
            <a:endParaRPr lang="en-US" sz="1200" dirty="0"/>
          </a:p>
        </p:txBody>
      </p:sp>
      <p:sp>
        <p:nvSpPr>
          <p:cNvPr id="8" name="Text 5"/>
          <p:cNvSpPr/>
          <p:nvPr/>
        </p:nvSpPr>
        <p:spPr>
          <a:xfrm>
            <a:off x="6007100" y="1550591"/>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그래서 이렇게 썼다</a:t>
            </a:r>
            <a:endParaRPr lang="en-US" sz="1200" dirty="0"/>
          </a:p>
        </p:txBody>
      </p:sp>
      <p:sp>
        <p:nvSpPr>
          <p:cNvPr id="9" name="Shape 6"/>
          <p:cNvSpPr/>
          <p:nvPr/>
        </p:nvSpPr>
        <p:spPr>
          <a:xfrm>
            <a:off x="819150" y="1821061"/>
            <a:ext cx="10553700" cy="551061"/>
          </a:xfrm>
          <a:prstGeom prst="roundRect">
            <a:avLst>
              <a:gd name="adj" fmla="val 17285"/>
            </a:avLst>
          </a:prstGeom>
          <a:solidFill>
            <a:srgbClr val="FFFFFF"/>
          </a:solidFill>
          <a:ln w="12700">
            <a:solidFill>
              <a:srgbClr val="C0CCE0"/>
            </a:solidFill>
            <a:prstDash val="solid"/>
          </a:ln>
        </p:spPr>
      </p:sp>
      <p:sp>
        <p:nvSpPr>
          <p:cNvPr id="10" name="Text 7"/>
          <p:cNvSpPr/>
          <p:nvPr/>
        </p:nvSpPr>
        <p:spPr>
          <a:xfrm>
            <a:off x="1003300" y="1981002"/>
            <a:ext cx="1701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Multi-Agent 구조</a:t>
            </a:r>
            <a:endParaRPr lang="en-US" sz="1300" dirty="0"/>
          </a:p>
        </p:txBody>
      </p:sp>
      <p:sp>
        <p:nvSpPr>
          <p:cNvPr id="11" name="Text 8"/>
          <p:cNvSpPr/>
          <p:nvPr/>
        </p:nvSpPr>
        <p:spPr>
          <a:xfrm>
            <a:off x="2806700" y="1993702"/>
            <a:ext cx="313944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5CD3"/>
                </a:solidFill>
                <a:latin typeface="Inter" pitchFamily="34" charset="0"/>
                <a:ea typeface="Inter" pitchFamily="34" charset="-122"/>
                <a:cs typeface="Inter" pitchFamily="34" charset="-120"/>
              </a:rPr>
              <a:t>AI</a:t>
            </a:r>
            <a:r>
              <a:rPr lang="en-US" sz="1200" dirty="0">
                <a:solidFill>
                  <a:srgbClr val="475467"/>
                </a:solidFill>
                <a:latin typeface="Inter" pitchFamily="34" charset="0"/>
                <a:ea typeface="Inter" pitchFamily="34" charset="-122"/>
                <a:cs typeface="Inter" pitchFamily="34" charset="-120"/>
              </a:rPr>
              <a:t> 혼자 답하면 틀려도 걸러 낼 곳이 없다.</a:t>
            </a:r>
            <a:endParaRPr lang="en-US" sz="1200" dirty="0"/>
          </a:p>
        </p:txBody>
      </p:sp>
      <p:sp>
        <p:nvSpPr>
          <p:cNvPr id="12" name="Text 9"/>
          <p:cNvSpPr/>
          <p:nvPr/>
        </p:nvSpPr>
        <p:spPr>
          <a:xfrm>
            <a:off x="6007100" y="1890911"/>
            <a:ext cx="510159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역할이 나뉜 단계를 LangGraph로 연결했다. 판단·검증은 코드가 맡고, 틀린 답은 1회 다시 쓴 뒤 고정 양식으로 답한다.</a:t>
            </a:r>
            <a:endParaRPr lang="en-US" sz="1200" dirty="0"/>
          </a:p>
        </p:txBody>
      </p:sp>
      <p:sp>
        <p:nvSpPr>
          <p:cNvPr id="13" name="Shape 10"/>
          <p:cNvSpPr/>
          <p:nvPr/>
        </p:nvSpPr>
        <p:spPr>
          <a:xfrm>
            <a:off x="819150" y="2435622"/>
            <a:ext cx="10553700" cy="551061"/>
          </a:xfrm>
          <a:prstGeom prst="roundRect">
            <a:avLst>
              <a:gd name="adj" fmla="val 17285"/>
            </a:avLst>
          </a:prstGeom>
          <a:solidFill>
            <a:srgbClr val="FFFFFF"/>
          </a:solidFill>
          <a:ln w="12700">
            <a:solidFill>
              <a:srgbClr val="C0CCE0"/>
            </a:solidFill>
            <a:prstDash val="solid"/>
          </a:ln>
        </p:spPr>
      </p:sp>
      <p:sp>
        <p:nvSpPr>
          <p:cNvPr id="14" name="Text 11"/>
          <p:cNvSpPr/>
          <p:nvPr/>
        </p:nvSpPr>
        <p:spPr>
          <a:xfrm>
            <a:off x="1003300" y="2595563"/>
            <a:ext cx="1701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MCP</a:t>
            </a:r>
            <a:endParaRPr lang="en-US" sz="1300" dirty="0"/>
          </a:p>
        </p:txBody>
      </p:sp>
      <p:sp>
        <p:nvSpPr>
          <p:cNvPr id="15" name="Text 12"/>
          <p:cNvSpPr/>
          <p:nvPr/>
        </p:nvSpPr>
        <p:spPr>
          <a:xfrm>
            <a:off x="2806700" y="2505472"/>
            <a:ext cx="31394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API 8개(공공 7종 + 지도)가 키 8개로 나뉘고 형식도 제각각이다.</a:t>
            </a:r>
            <a:endParaRPr lang="en-US" sz="1200" dirty="0"/>
          </a:p>
        </p:txBody>
      </p:sp>
      <p:sp>
        <p:nvSpPr>
          <p:cNvPr id="16" name="Text 13"/>
          <p:cNvSpPr/>
          <p:nvPr/>
        </p:nvSpPr>
        <p:spPr>
          <a:xfrm>
            <a:off x="6007100" y="2505472"/>
            <a:ext cx="510159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하나의 도구 형식으로 묶어 같은 방식으로 동시에 조회한다. API가 바뀌어도 서버 안에서 고친다.</a:t>
            </a:r>
            <a:endParaRPr lang="en-US" sz="1200" dirty="0"/>
          </a:p>
        </p:txBody>
      </p:sp>
      <p:sp>
        <p:nvSpPr>
          <p:cNvPr id="17" name="Shape 14"/>
          <p:cNvSpPr/>
          <p:nvPr/>
        </p:nvSpPr>
        <p:spPr>
          <a:xfrm>
            <a:off x="819150" y="3050183"/>
            <a:ext cx="10553700" cy="551061"/>
          </a:xfrm>
          <a:prstGeom prst="roundRect">
            <a:avLst>
              <a:gd name="adj" fmla="val 17285"/>
            </a:avLst>
          </a:prstGeom>
          <a:solidFill>
            <a:srgbClr val="FFFFFF"/>
          </a:solidFill>
          <a:ln w="12700">
            <a:solidFill>
              <a:srgbClr val="C0CCE0"/>
            </a:solidFill>
            <a:prstDash val="solid"/>
          </a:ln>
        </p:spPr>
      </p:sp>
      <p:sp>
        <p:nvSpPr>
          <p:cNvPr id="18" name="Text 15"/>
          <p:cNvSpPr/>
          <p:nvPr/>
        </p:nvSpPr>
        <p:spPr>
          <a:xfrm>
            <a:off x="1003300" y="3210123"/>
            <a:ext cx="1701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의존성 주입</a:t>
            </a:r>
            <a:endParaRPr lang="en-US" sz="1300" dirty="0"/>
          </a:p>
        </p:txBody>
      </p:sp>
      <p:sp>
        <p:nvSpPr>
          <p:cNvPr id="19" name="Text 16"/>
          <p:cNvSpPr/>
          <p:nvPr/>
        </p:nvSpPr>
        <p:spPr>
          <a:xfrm>
            <a:off x="2806700" y="3120033"/>
            <a:ext cx="31394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실제 모델로 테스트하면 느리고(질문 하나에 수십 초) 결과도 매번 다르다.</a:t>
            </a:r>
            <a:endParaRPr lang="en-US" sz="1200" dirty="0"/>
          </a:p>
        </p:txBody>
      </p:sp>
      <p:sp>
        <p:nvSpPr>
          <p:cNvPr id="20" name="Text 17"/>
          <p:cNvSpPr/>
          <p:nvPr/>
        </p:nvSpPr>
        <p:spPr>
          <a:xfrm>
            <a:off x="6007100" y="3120033"/>
            <a:ext cx="510159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모델을 테스트 응답으로 바꿔 끼워 코드가 맞는지 즉시 테스트한다. 실제 모델 평가는 따로 돌린다.</a:t>
            </a:r>
            <a:endParaRPr lang="en-US" sz="1200" dirty="0"/>
          </a:p>
        </p:txBody>
      </p:sp>
      <p:sp>
        <p:nvSpPr>
          <p:cNvPr id="21" name="Shape 18"/>
          <p:cNvSpPr/>
          <p:nvPr/>
        </p:nvSpPr>
        <p:spPr>
          <a:xfrm>
            <a:off x="819150" y="3664744"/>
            <a:ext cx="10553700" cy="551061"/>
          </a:xfrm>
          <a:prstGeom prst="roundRect">
            <a:avLst>
              <a:gd name="adj" fmla="val 17285"/>
            </a:avLst>
          </a:prstGeom>
          <a:solidFill>
            <a:srgbClr val="FFFFFF"/>
          </a:solidFill>
          <a:ln w="12700">
            <a:solidFill>
              <a:srgbClr val="C0CCE0"/>
            </a:solidFill>
            <a:prstDash val="solid"/>
          </a:ln>
        </p:spPr>
      </p:sp>
      <p:sp>
        <p:nvSpPr>
          <p:cNvPr id="22" name="Text 19"/>
          <p:cNvSpPr/>
          <p:nvPr/>
        </p:nvSpPr>
        <p:spPr>
          <a:xfrm>
            <a:off x="1003300" y="3824684"/>
            <a:ext cx="1701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LangSmith</a:t>
            </a:r>
            <a:endParaRPr lang="en-US" sz="1300" dirty="0"/>
          </a:p>
        </p:txBody>
      </p:sp>
      <p:sp>
        <p:nvSpPr>
          <p:cNvPr id="23" name="Text 20"/>
          <p:cNvSpPr/>
          <p:nvPr/>
        </p:nvSpPr>
        <p:spPr>
          <a:xfrm>
            <a:off x="2806700" y="3734594"/>
            <a:ext cx="31394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답이 틀렸을 때 어느 단계 탓인지 알아야 고칠 수 있다.</a:t>
            </a:r>
            <a:endParaRPr lang="en-US" sz="1200" dirty="0"/>
          </a:p>
        </p:txBody>
      </p:sp>
      <p:sp>
        <p:nvSpPr>
          <p:cNvPr id="24" name="Text 21"/>
          <p:cNvSpPr/>
          <p:nvPr/>
        </p:nvSpPr>
        <p:spPr>
          <a:xfrm>
            <a:off x="6007100" y="3837384"/>
            <a:ext cx="510159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단계별 입력과 출력을 기록해 추적하고, 평가 질문 세트도 같은 방식으로 돌린다.</a:t>
            </a:r>
            <a:endParaRPr lang="en-US" sz="1200" dirty="0"/>
          </a:p>
        </p:txBody>
      </p:sp>
      <p:sp>
        <p:nvSpPr>
          <p:cNvPr id="25" name="Shape 22"/>
          <p:cNvSpPr/>
          <p:nvPr/>
        </p:nvSpPr>
        <p:spPr>
          <a:xfrm>
            <a:off x="819150" y="4279305"/>
            <a:ext cx="10553700" cy="551061"/>
          </a:xfrm>
          <a:prstGeom prst="roundRect">
            <a:avLst>
              <a:gd name="adj" fmla="val 17285"/>
            </a:avLst>
          </a:prstGeom>
          <a:solidFill>
            <a:srgbClr val="FFFFFF"/>
          </a:solidFill>
          <a:ln w="12700">
            <a:solidFill>
              <a:srgbClr val="C0CCE0"/>
            </a:solidFill>
            <a:prstDash val="solid"/>
          </a:ln>
        </p:spPr>
      </p:sp>
      <p:sp>
        <p:nvSpPr>
          <p:cNvPr id="26" name="Text 23"/>
          <p:cNvSpPr/>
          <p:nvPr/>
        </p:nvSpPr>
        <p:spPr>
          <a:xfrm>
            <a:off x="1003300" y="4439245"/>
            <a:ext cx="1701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모듈화 · 테스트</a:t>
            </a:r>
            <a:endParaRPr lang="en-US" sz="1300" dirty="0"/>
          </a:p>
        </p:txBody>
      </p:sp>
      <p:sp>
        <p:nvSpPr>
          <p:cNvPr id="27" name="Text 24"/>
          <p:cNvSpPr/>
          <p:nvPr/>
        </p:nvSpPr>
        <p:spPr>
          <a:xfrm>
            <a:off x="2806700" y="4451945"/>
            <a:ext cx="313944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고칠 때마다 예전에 되던 것이 깨질 수 있다.</a:t>
            </a:r>
            <a:endParaRPr lang="en-US" sz="1200" dirty="0"/>
          </a:p>
        </p:txBody>
      </p:sp>
      <p:sp>
        <p:nvSpPr>
          <p:cNvPr id="28" name="Text 25"/>
          <p:cNvSpPr/>
          <p:nvPr/>
        </p:nvSpPr>
        <p:spPr>
          <a:xfrm>
            <a:off x="6007100" y="4349155"/>
            <a:ext cx="510159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데이터 서버·백엔드·화면을 나누고, 단위 테스트와 평가 질문 세트를 자동으로 돌린다.</a:t>
            </a:r>
            <a:endParaRPr lang="en-US" sz="1200" dirty="0"/>
          </a:p>
        </p:txBody>
      </p:sp>
      <p:sp>
        <p:nvSpPr>
          <p:cNvPr id="29" name="Shape 26"/>
          <p:cNvSpPr/>
          <p:nvPr/>
        </p:nvSpPr>
        <p:spPr>
          <a:xfrm>
            <a:off x="819150" y="4893866"/>
            <a:ext cx="10553700" cy="551061"/>
          </a:xfrm>
          <a:prstGeom prst="roundRect">
            <a:avLst>
              <a:gd name="adj" fmla="val 17285"/>
            </a:avLst>
          </a:prstGeom>
          <a:solidFill>
            <a:srgbClr val="EFF8FF"/>
          </a:solidFill>
          <a:ln w="12700">
            <a:solidFill>
              <a:srgbClr val="B2DDFF"/>
            </a:solidFill>
            <a:prstDash val="solid"/>
          </a:ln>
        </p:spPr>
      </p:sp>
      <p:sp>
        <p:nvSpPr>
          <p:cNvPr id="30" name="Text 27"/>
          <p:cNvSpPr/>
          <p:nvPr/>
        </p:nvSpPr>
        <p:spPr>
          <a:xfrm>
            <a:off x="1003300" y="5053806"/>
            <a:ext cx="1701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RAG는 쓰지 않음</a:t>
            </a:r>
            <a:endParaRPr lang="en-US" sz="1300" dirty="0"/>
          </a:p>
        </p:txBody>
      </p:sp>
      <p:sp>
        <p:nvSpPr>
          <p:cNvPr id="31" name="Text 28"/>
          <p:cNvSpPr/>
          <p:nvPr/>
        </p:nvSpPr>
        <p:spPr>
          <a:xfrm>
            <a:off x="2806700" y="5066506"/>
            <a:ext cx="313944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행동요령을 문서 검색 </a:t>
            </a:r>
            <a:r>
              <a:rPr lang="en-US" sz="1200" dirty="0">
                <a:solidFill>
                  <a:srgbClr val="175CD3"/>
                </a:solidFill>
                <a:latin typeface="Inter" pitchFamily="34" charset="0"/>
                <a:ea typeface="Inter" pitchFamily="34" charset="-122"/>
                <a:cs typeface="Inter" pitchFamily="34" charset="-120"/>
              </a:rPr>
              <a:t>AI</a:t>
            </a:r>
            <a:r>
              <a:rPr lang="en-US" sz="1200" dirty="0">
                <a:solidFill>
                  <a:srgbClr val="475467"/>
                </a:solidFill>
                <a:latin typeface="Inter" pitchFamily="34" charset="0"/>
                <a:ea typeface="Inter" pitchFamily="34" charset="-122"/>
                <a:cs typeface="Inter" pitchFamily="34" charset="-120"/>
              </a:rPr>
              <a:t>로 찾을지 검토했다.</a:t>
            </a:r>
            <a:endParaRPr lang="en-US" sz="1200" dirty="0"/>
          </a:p>
        </p:txBody>
      </p:sp>
      <p:sp>
        <p:nvSpPr>
          <p:cNvPr id="32" name="Text 29"/>
          <p:cNvSpPr/>
          <p:nvPr/>
        </p:nvSpPr>
        <p:spPr>
          <a:xfrm>
            <a:off x="6007100" y="4963716"/>
            <a:ext cx="510159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약 1,500건이고 종류·시기·대상별로 정리돼 있어, 규칙으로 고르면 같은 질문에 같은 근거가 나온다.</a:t>
            </a:r>
            <a:endParaRPr lang="en-US" sz="1200" dirty="0"/>
          </a:p>
        </p:txBody>
      </p:sp>
      <p:sp>
        <p:nvSpPr>
          <p:cNvPr id="33" name="Shape 30"/>
          <p:cNvSpPr/>
          <p:nvPr/>
        </p:nvSpPr>
        <p:spPr>
          <a:xfrm>
            <a:off x="812800" y="6248400"/>
            <a:ext cx="10566400" cy="6350"/>
          </a:xfrm>
          <a:prstGeom prst="rect">
            <a:avLst/>
          </a:prstGeom>
          <a:solidFill>
            <a:srgbClr val="D0D5DD"/>
          </a:solidFill>
          <a:ln/>
        </p:spPr>
      </p:sp>
      <p:sp>
        <p:nvSpPr>
          <p:cNvPr id="34" name="Text 31"/>
          <p:cNvSpPr/>
          <p:nvPr/>
        </p:nvSpPr>
        <p:spPr>
          <a:xfrm>
            <a:off x="812800" y="63754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a:t>
            </a:r>
            <a:endParaRPr lang="en-US" sz="1200" dirty="0"/>
          </a:p>
        </p:txBody>
      </p:sp>
      <p:sp>
        <p:nvSpPr>
          <p:cNvPr id="35" name="Text 32"/>
          <p:cNvSpPr/>
          <p:nvPr/>
        </p:nvSpPr>
        <p:spPr>
          <a:xfrm>
            <a:off x="4918075"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문제</a:t>
            </a:r>
            <a:endParaRPr lang="en-US" sz="1200" dirty="0"/>
          </a:p>
        </p:txBody>
      </p:sp>
      <p:sp>
        <p:nvSpPr>
          <p:cNvPr id="36" name="Text 33"/>
          <p:cNvSpPr/>
          <p:nvPr/>
        </p:nvSpPr>
        <p:spPr>
          <a:xfrm>
            <a:off x="5410398"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설계</a:t>
            </a:r>
            <a:endParaRPr lang="en-US" sz="1200" dirty="0"/>
          </a:p>
        </p:txBody>
      </p:sp>
      <p:sp>
        <p:nvSpPr>
          <p:cNvPr id="37" name="Text 34"/>
          <p:cNvSpPr/>
          <p:nvPr/>
        </p:nvSpPr>
        <p:spPr>
          <a:xfrm>
            <a:off x="5902722" y="6375400"/>
            <a:ext cx="685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시연·결과</a:t>
            </a:r>
            <a:endParaRPr lang="en-US" sz="1200" dirty="0"/>
          </a:p>
        </p:txBody>
      </p:sp>
      <p:sp>
        <p:nvSpPr>
          <p:cNvPr id="38" name="Text 35"/>
          <p:cNvSpPr/>
          <p:nvPr/>
        </p:nvSpPr>
        <p:spPr>
          <a:xfrm>
            <a:off x="6702623" y="6375400"/>
            <a:ext cx="685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한계·개선</a:t>
            </a:r>
            <a:endParaRPr lang="en-US" sz="1200" dirty="0"/>
          </a:p>
        </p:txBody>
      </p:sp>
      <p:sp>
        <p:nvSpPr>
          <p:cNvPr id="39" name="Text 36"/>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981075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시연·결과 · 시연</a:t>
            </a:r>
            <a:endParaRPr lang="en-US" sz="1400" dirty="0"/>
          </a:p>
        </p:txBody>
      </p:sp>
      <p:sp>
        <p:nvSpPr>
          <p:cNvPr id="5" name="Text 2"/>
          <p:cNvSpPr/>
          <p:nvPr>
            <p:ph type="title"/>
          </p:nvPr>
        </p:nvSpPr>
        <p:spPr>
          <a:xfrm>
            <a:off x="812800" y="934641"/>
            <a:ext cx="981075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Plus Jakarta Sans" pitchFamily="34" charset="0"/>
                <a:ea typeface="Plus Jakarta Sans" pitchFamily="34" charset="-122"/>
                <a:cs typeface="Plus Jakarta Sans" pitchFamily="34" charset="-120"/>
              </a:rPr>
              <a:t>알려 줄 땐 근거와 함께, 없으면 없다고 한다</a:t>
            </a:r>
            <a:endParaRPr lang="en-US" sz="3000" dirty="0"/>
          </a:p>
        </p:txBody>
      </p:sp>
      <p:sp>
        <p:nvSpPr>
          <p:cNvPr id="6" name="Shape 3"/>
          <p:cNvSpPr/>
          <p:nvPr/>
        </p:nvSpPr>
        <p:spPr>
          <a:xfrm>
            <a:off x="819150" y="1582341"/>
            <a:ext cx="5168900" cy="3414911"/>
          </a:xfrm>
          <a:prstGeom prst="roundRect">
            <a:avLst>
              <a:gd name="adj" fmla="val 2789"/>
            </a:avLst>
          </a:prstGeom>
          <a:solidFill>
            <a:srgbClr val="FFFFFF"/>
          </a:solidFill>
          <a:ln w="12700">
            <a:solidFill>
              <a:srgbClr val="C0CCE0"/>
            </a:solidFill>
            <a:prstDash val="solid"/>
          </a:ln>
        </p:spPr>
      </p:sp>
      <p:sp>
        <p:nvSpPr>
          <p:cNvPr id="7" name="Shape 4"/>
          <p:cNvSpPr/>
          <p:nvPr/>
        </p:nvSpPr>
        <p:spPr>
          <a:xfrm>
            <a:off x="1003300" y="1766491"/>
            <a:ext cx="3970536" cy="2159000"/>
          </a:xfrm>
          <a:prstGeom prst="roundRect">
            <a:avLst>
              <a:gd name="adj" fmla="val 3529"/>
            </a:avLst>
          </a:prstGeom>
          <a:solidFill>
            <a:srgbClr val="F5FAFF"/>
          </a:solidFill>
          <a:ln/>
        </p:spPr>
      </p:sp>
      <p:pic>
        <p:nvPicPr>
          <p:cNvPr id="8" name="Image 1" descr="화면 녹화: 폭염특보 질문에 근거와 쉼터를 붙여 답함">    </p:cNvPr>
          <p:cNvPicPr>
            <a:picLocks noChangeAspect="1"/>
          </p:cNvPicPr>
          <p:nvPr/>
        </p:nvPicPr>
        <p:blipFill>
          <a:blip r:embed="rId2"/>
          <a:srcRect l="0" r="0" t="0" b="0"/>
          <a:stretch/>
        </p:blipFill>
        <p:spPr>
          <a:xfrm>
            <a:off x="1003300" y="1766491"/>
            <a:ext cx="3970536" cy="2159000"/>
          </a:xfrm>
          <a:prstGeom prst="roundRect">
            <a:avLst>
              <a:gd name="adj" fmla="val 3529"/>
            </a:avLst>
          </a:prstGeom>
        </p:spPr>
      </p:pic>
      <p:sp>
        <p:nvSpPr>
          <p:cNvPr id="9" name="Text 5"/>
          <p:cNvSpPr/>
          <p:nvPr/>
        </p:nvSpPr>
        <p:spPr>
          <a:xfrm>
            <a:off x="1003300" y="4014391"/>
            <a:ext cx="494461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01828"/>
                </a:solidFill>
                <a:latin typeface="Plus Jakarta Sans" pitchFamily="34" charset="0"/>
                <a:ea typeface="Plus Jakarta Sans" pitchFamily="34" charset="-122"/>
                <a:cs typeface="Plus Jakarta Sans" pitchFamily="34" charset="-120"/>
              </a:rPr>
              <a:t>① “광주 폭염특보 났는데 지금 나가도 돼?”</a:t>
            </a:r>
            <a:endParaRPr lang="en-US" sz="1500" dirty="0"/>
          </a:p>
        </p:txBody>
      </p:sp>
      <p:sp>
        <p:nvSpPr>
          <p:cNvPr id="10" name="Text 6"/>
          <p:cNvSpPr/>
          <p:nvPr/>
        </p:nvSpPr>
        <p:spPr>
          <a:xfrm>
            <a:off x="1003300" y="4350941"/>
            <a:ext cx="494461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nter" pitchFamily="34" charset="0"/>
                <a:ea typeface="Inter" pitchFamily="34" charset="-122"/>
                <a:cs typeface="Inter" pitchFamily="34" charset="-120"/>
              </a:rPr>
              <a:t>판단→근거→요약 정보→최종 답 순으로 채워지고, 특보·행동요령·쉼터에 근거 번호가 붙는다.</a:t>
            </a:r>
            <a:endParaRPr lang="en-US" sz="1300" dirty="0"/>
          </a:p>
        </p:txBody>
      </p:sp>
      <p:sp>
        <p:nvSpPr>
          <p:cNvPr id="11" name="Shape 7"/>
          <p:cNvSpPr/>
          <p:nvPr/>
        </p:nvSpPr>
        <p:spPr>
          <a:xfrm>
            <a:off x="6203950" y="1582341"/>
            <a:ext cx="5168900" cy="3414911"/>
          </a:xfrm>
          <a:prstGeom prst="roundRect">
            <a:avLst>
              <a:gd name="adj" fmla="val 2789"/>
            </a:avLst>
          </a:prstGeom>
          <a:solidFill>
            <a:srgbClr val="FFFFFF"/>
          </a:solidFill>
          <a:ln w="12700">
            <a:solidFill>
              <a:srgbClr val="C0CCE0"/>
            </a:solidFill>
            <a:prstDash val="solid"/>
          </a:ln>
        </p:spPr>
      </p:sp>
      <p:sp>
        <p:nvSpPr>
          <p:cNvPr id="12" name="Shape 8"/>
          <p:cNvSpPr/>
          <p:nvPr/>
        </p:nvSpPr>
        <p:spPr>
          <a:xfrm>
            <a:off x="6388100" y="1766491"/>
            <a:ext cx="3970536" cy="2159000"/>
          </a:xfrm>
          <a:prstGeom prst="roundRect">
            <a:avLst>
              <a:gd name="adj" fmla="val 3529"/>
            </a:avLst>
          </a:prstGeom>
          <a:solidFill>
            <a:srgbClr val="F5FAFF"/>
          </a:solidFill>
          <a:ln/>
        </p:spPr>
      </p:sp>
      <p:pic>
        <p:nvPicPr>
          <p:cNvPr id="13" name="Image 2" descr="화면 녹화: 공식 데이터에 없는 질문에 정보 없음으로 답함">    </p:cNvPr>
          <p:cNvPicPr>
            <a:picLocks noChangeAspect="1"/>
          </p:cNvPicPr>
          <p:nvPr/>
        </p:nvPicPr>
        <p:blipFill>
          <a:blip r:embed="rId3"/>
          <a:srcRect l="0" r="0" t="0" b="0"/>
          <a:stretch/>
        </p:blipFill>
        <p:spPr>
          <a:xfrm>
            <a:off x="6388100" y="1766491"/>
            <a:ext cx="3970536" cy="2159000"/>
          </a:xfrm>
          <a:prstGeom prst="roundRect">
            <a:avLst>
              <a:gd name="adj" fmla="val 3529"/>
            </a:avLst>
          </a:prstGeom>
        </p:spPr>
      </p:pic>
      <p:sp>
        <p:nvSpPr>
          <p:cNvPr id="14" name="Text 9"/>
          <p:cNvSpPr/>
          <p:nvPr/>
        </p:nvSpPr>
        <p:spPr>
          <a:xfrm>
            <a:off x="6388100" y="4014391"/>
            <a:ext cx="494461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01828"/>
                </a:solidFill>
                <a:latin typeface="Plus Jakarta Sans" pitchFamily="34" charset="0"/>
                <a:ea typeface="Plus Jakarta Sans" pitchFamily="34" charset="-122"/>
                <a:cs typeface="Plus Jakarta Sans" pitchFamily="34" charset="-120"/>
              </a:rPr>
              <a:t>② “호우 때 지하차도에서 차가 물에 잠기면 어떻게 탈출해?”</a:t>
            </a:r>
            <a:endParaRPr lang="en-US" sz="1500" dirty="0"/>
          </a:p>
        </p:txBody>
      </p:sp>
      <p:sp>
        <p:nvSpPr>
          <p:cNvPr id="15" name="Text 10"/>
          <p:cNvSpPr/>
          <p:nvPr/>
        </p:nvSpPr>
        <p:spPr>
          <a:xfrm>
            <a:off x="6388100" y="4350941"/>
            <a:ext cx="49446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nter" pitchFamily="34" charset="0"/>
                <a:ea typeface="Inter" pitchFamily="34" charset="-122"/>
                <a:cs typeface="Inter" pitchFamily="34" charset="-120"/>
              </a:rPr>
              <a:t>조회했지만 행동요령이 없어, 지어내지 않고 “정보 없음”으로 답한다.</a:t>
            </a:r>
            <a:endParaRPr lang="en-US" sz="1300" dirty="0"/>
          </a:p>
        </p:txBody>
      </p:sp>
      <p:sp>
        <p:nvSpPr>
          <p:cNvPr id="16" name="Text 11"/>
          <p:cNvSpPr/>
          <p:nvPr/>
        </p:nvSpPr>
        <p:spPr>
          <a:xfrm>
            <a:off x="812800" y="520680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 실제 시연을 빨리 감은 영상. 최종 답까지의 실제 시간은 평균 약 </a:t>
            </a:r>
            <a:r>
              <a:rPr lang="en-US" sz="1200" b="1" dirty="0">
                <a:solidFill>
                  <a:srgbClr val="101828"/>
                </a:solidFill>
                <a:latin typeface="Inter" pitchFamily="34" charset="0"/>
                <a:ea typeface="Inter" pitchFamily="34" charset="-122"/>
                <a:cs typeface="Inter" pitchFamily="34" charset="-120"/>
              </a:rPr>
              <a:t>30초</a:t>
            </a:r>
            <a:r>
              <a:rPr lang="en-US" sz="1200" dirty="0">
                <a:solidFill>
                  <a:srgbClr val="667085"/>
                </a:solidFill>
                <a:latin typeface="Inter" pitchFamily="34" charset="0"/>
                <a:ea typeface="Inter" pitchFamily="34" charset="-122"/>
                <a:cs typeface="Inter" pitchFamily="34" charset="-120"/>
              </a:rPr>
              <a:t>(8번).</a:t>
            </a:r>
            <a:endParaRPr lang="en-US" sz="1200" dirty="0"/>
          </a:p>
        </p:txBody>
      </p:sp>
      <p:sp>
        <p:nvSpPr>
          <p:cNvPr id="17" name="Shape 12"/>
          <p:cNvSpPr/>
          <p:nvPr/>
        </p:nvSpPr>
        <p:spPr>
          <a:xfrm>
            <a:off x="812800" y="6248400"/>
            <a:ext cx="10566400" cy="6350"/>
          </a:xfrm>
          <a:prstGeom prst="rect">
            <a:avLst/>
          </a:prstGeom>
          <a:solidFill>
            <a:srgbClr val="D0D5DD"/>
          </a:solidFill>
          <a:ln/>
        </p:spPr>
      </p:sp>
      <p:sp>
        <p:nvSpPr>
          <p:cNvPr id="18" name="Text 13"/>
          <p:cNvSpPr/>
          <p:nvPr/>
        </p:nvSpPr>
        <p:spPr>
          <a:xfrm>
            <a:off x="812800" y="63754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a:t>
            </a:r>
            <a:endParaRPr lang="en-US" sz="1200" dirty="0"/>
          </a:p>
        </p:txBody>
      </p:sp>
      <p:sp>
        <p:nvSpPr>
          <p:cNvPr id="19" name="Text 14"/>
          <p:cNvSpPr/>
          <p:nvPr/>
        </p:nvSpPr>
        <p:spPr>
          <a:xfrm>
            <a:off x="4914602"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문제</a:t>
            </a:r>
            <a:endParaRPr lang="en-US" sz="1200" dirty="0"/>
          </a:p>
        </p:txBody>
      </p:sp>
      <p:sp>
        <p:nvSpPr>
          <p:cNvPr id="20" name="Text 15"/>
          <p:cNvSpPr/>
          <p:nvPr/>
        </p:nvSpPr>
        <p:spPr>
          <a:xfrm>
            <a:off x="5406926"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설계</a:t>
            </a:r>
            <a:endParaRPr lang="en-US" sz="1200" dirty="0"/>
          </a:p>
        </p:txBody>
      </p:sp>
      <p:sp>
        <p:nvSpPr>
          <p:cNvPr id="21" name="Text 16"/>
          <p:cNvSpPr/>
          <p:nvPr/>
        </p:nvSpPr>
        <p:spPr>
          <a:xfrm>
            <a:off x="5899249" y="6375400"/>
            <a:ext cx="6938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시연·결과</a:t>
            </a:r>
            <a:endParaRPr lang="en-US" sz="1200" dirty="0"/>
          </a:p>
        </p:txBody>
      </p:sp>
      <p:sp>
        <p:nvSpPr>
          <p:cNvPr id="22" name="Text 17"/>
          <p:cNvSpPr/>
          <p:nvPr/>
        </p:nvSpPr>
        <p:spPr>
          <a:xfrm>
            <a:off x="6706096" y="6375400"/>
            <a:ext cx="685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한계·개선</a:t>
            </a:r>
            <a:endParaRPr lang="en-US" sz="1200" dirty="0"/>
          </a:p>
        </p:txBody>
      </p:sp>
      <p:sp>
        <p:nvSpPr>
          <p:cNvPr id="23" name="Text 18"/>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981075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시연·결과 · 해결한 것</a:t>
            </a:r>
            <a:endParaRPr lang="en-US" sz="1400" dirty="0"/>
          </a:p>
        </p:txBody>
      </p:sp>
      <p:sp>
        <p:nvSpPr>
          <p:cNvPr id="5" name="Text 2"/>
          <p:cNvSpPr/>
          <p:nvPr>
            <p:ph type="title"/>
          </p:nvPr>
        </p:nvSpPr>
        <p:spPr>
          <a:xfrm>
            <a:off x="812800" y="934641"/>
            <a:ext cx="981075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Plus Jakarta Sans" pitchFamily="34" charset="0"/>
                <a:ea typeface="Plus Jakarta Sans" pitchFamily="34" charset="-122"/>
                <a:cs typeface="Plus Jakarta Sans" pitchFamily="34" charset="-120"/>
              </a:rPr>
              <a:t>그래서 이 세 가지 문제를 해결했다</a:t>
            </a:r>
            <a:endParaRPr lang="en-US" sz="3000" dirty="0"/>
          </a:p>
        </p:txBody>
      </p:sp>
      <p:sp>
        <p:nvSpPr>
          <p:cNvPr id="6" name="Shape 3"/>
          <p:cNvSpPr/>
          <p:nvPr/>
        </p:nvSpPr>
        <p:spPr>
          <a:xfrm>
            <a:off x="819150" y="1633141"/>
            <a:ext cx="3373934" cy="1897261"/>
          </a:xfrm>
          <a:prstGeom prst="roundRect">
            <a:avLst>
              <a:gd name="adj" fmla="val 5020"/>
            </a:avLst>
          </a:prstGeom>
          <a:solidFill>
            <a:srgbClr val="FFFFFF"/>
          </a:solidFill>
          <a:ln w="12700">
            <a:solidFill>
              <a:srgbClr val="C0CCE0"/>
            </a:solidFill>
            <a:prstDash val="solid"/>
          </a:ln>
        </p:spPr>
      </p:sp>
      <p:sp>
        <p:nvSpPr>
          <p:cNvPr id="7" name="Text 4"/>
          <p:cNvSpPr/>
          <p:nvPr/>
        </p:nvSpPr>
        <p:spPr>
          <a:xfrm>
            <a:off x="1054100" y="1868091"/>
            <a:ext cx="1479649" cy="307280"/>
          </a:xfrm>
          <a:custGeom>
            <a:avLst/>
            <a:gdLst/>
            <a:ahLst/>
            <a:cxnLst/>
            <a:rect l="l" t="t" r="r" b="b"/>
            <a:pathLst>
              <a:path w="1479649" h="307280">
                <a:moveTo>
                  <a:pt x="153640" y="0"/>
                </a:moveTo>
                <a:lnTo>
                  <a:pt x="1326009" y="0"/>
                </a:lnTo>
                <a:arcTo hR="153640" wR="153640" stAng="16200000" swAng="5400000"/>
                <a:lnTo>
                  <a:pt x="1479649" y="153640"/>
                </a:lnTo>
                <a:arcTo hR="153640" wR="153640" stAng="0" swAng="5400000"/>
                <a:lnTo>
                  <a:pt x="153640" y="307280"/>
                </a:lnTo>
                <a:arcTo hR="153640" wR="153640" stAng="5400000" swAng="5400000"/>
                <a:lnTo>
                  <a:pt x="0" y="153640"/>
                </a:lnTo>
                <a:arcTo hR="153640" wR="153640" stAng="10800000" swAng="5400000"/>
                <a:close/>
              </a:path>
            </a:pathLst>
          </a:custGeom>
          <a:solidFill>
            <a:srgbClr val="F2F4F7"/>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Inter" pitchFamily="34" charset="0"/>
                <a:ea typeface="Inter" pitchFamily="34" charset="-122"/>
                <a:cs typeface="Inter" pitchFamily="34" charset="-120"/>
              </a:rPr>
              <a:t>문자엔 행동이 없다</a:t>
            </a:r>
            <a:endParaRPr lang="en-US" sz="1300" dirty="0"/>
          </a:p>
        </p:txBody>
      </p:sp>
      <p:sp>
        <p:nvSpPr>
          <p:cNvPr id="8" name="Text 5"/>
          <p:cNvSpPr/>
          <p:nvPr/>
        </p:nvSpPr>
        <p:spPr>
          <a:xfrm>
            <a:off x="1054100" y="2264271"/>
            <a:ext cx="2991155" cy="43428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75CD3"/>
                </a:solidFill>
                <a:latin typeface="Plus Jakarta Sans" pitchFamily="34" charset="0"/>
                <a:ea typeface="Plus Jakarta Sans" pitchFamily="34" charset="-122"/>
                <a:cs typeface="Plus Jakarta Sans" pitchFamily="34" charset="-120"/>
              </a:rPr>
              <a:t>지금 할 일</a:t>
            </a:r>
            <a:endParaRPr lang="en-US" sz="2800" dirty="0"/>
          </a:p>
        </p:txBody>
      </p:sp>
      <p:sp>
        <p:nvSpPr>
          <p:cNvPr id="9" name="Text 6"/>
          <p:cNvSpPr/>
          <p:nvPr/>
        </p:nvSpPr>
        <p:spPr>
          <a:xfrm>
            <a:off x="1054100" y="2762052"/>
            <a:ext cx="2991155"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75467"/>
                </a:solidFill>
                <a:latin typeface="Inter" pitchFamily="34" charset="0"/>
                <a:ea typeface="Inter" pitchFamily="34" charset="-122"/>
                <a:cs typeface="Inter" pitchFamily="34" charset="-120"/>
              </a:rPr>
              <a:t>특보 수준에 맞춰 바로 할 행동을 먼저 보여 준다.</a:t>
            </a:r>
            <a:endParaRPr lang="en-US" sz="1400" dirty="0"/>
          </a:p>
        </p:txBody>
      </p:sp>
      <p:sp>
        <p:nvSpPr>
          <p:cNvPr id="10" name="Shape 7"/>
          <p:cNvSpPr/>
          <p:nvPr/>
        </p:nvSpPr>
        <p:spPr>
          <a:xfrm>
            <a:off x="4408984" y="1633141"/>
            <a:ext cx="3374033" cy="1897261"/>
          </a:xfrm>
          <a:prstGeom prst="roundRect">
            <a:avLst>
              <a:gd name="adj" fmla="val 5020"/>
            </a:avLst>
          </a:prstGeom>
          <a:solidFill>
            <a:srgbClr val="FFFFFF"/>
          </a:solidFill>
          <a:ln w="12700">
            <a:solidFill>
              <a:srgbClr val="C0CCE0"/>
            </a:solidFill>
            <a:prstDash val="solid"/>
          </a:ln>
        </p:spPr>
      </p:sp>
      <p:sp>
        <p:nvSpPr>
          <p:cNvPr id="11" name="Text 8"/>
          <p:cNvSpPr/>
          <p:nvPr/>
        </p:nvSpPr>
        <p:spPr>
          <a:xfrm>
            <a:off x="4643934" y="1868091"/>
            <a:ext cx="1479649" cy="307280"/>
          </a:xfrm>
          <a:custGeom>
            <a:avLst/>
            <a:gdLst/>
            <a:ahLst/>
            <a:cxnLst/>
            <a:rect l="l" t="t" r="r" b="b"/>
            <a:pathLst>
              <a:path w="1479649" h="307280">
                <a:moveTo>
                  <a:pt x="153640" y="0"/>
                </a:moveTo>
                <a:lnTo>
                  <a:pt x="1326009" y="0"/>
                </a:lnTo>
                <a:arcTo hR="153640" wR="153640" stAng="16200000" swAng="5400000"/>
                <a:lnTo>
                  <a:pt x="1479649" y="153640"/>
                </a:lnTo>
                <a:arcTo hR="153640" wR="153640" stAng="0" swAng="5400000"/>
                <a:lnTo>
                  <a:pt x="153640" y="307280"/>
                </a:lnTo>
                <a:arcTo hR="153640" wR="153640" stAng="5400000" swAng="5400000"/>
                <a:lnTo>
                  <a:pt x="0" y="153640"/>
                </a:lnTo>
                <a:arcTo hR="153640" wR="153640" stAng="10800000" swAng="5400000"/>
                <a:close/>
              </a:path>
            </a:pathLst>
          </a:custGeom>
          <a:solidFill>
            <a:srgbClr val="F2F4F7"/>
          </a:solidFill>
          <a:ln/>
        </p:spPr>
        <p:txBody>
          <a:bodyPr wrap="none" lIns="0" tIns="0" rIns="0" bIns="0" rtlCol="0" anchor="ctr">
            <a:normAutofit/>
          </a:bodyPr>
          <a:lstStyle/>
          <a:p>
            <a:pPr algn="ctr" indent="0" marL="0">
              <a:lnSpc>
                <a:spcPts val="1820"/>
              </a:lnSpc>
              <a:buNone/>
            </a:pPr>
            <a:r>
              <a:rPr lang="en-US" sz="1300" b="1" dirty="0">
                <a:solidFill>
                  <a:srgbClr val="101828"/>
                </a:solidFill>
                <a:latin typeface="Inter" pitchFamily="34" charset="0"/>
                <a:ea typeface="Inter" pitchFamily="34" charset="-122"/>
                <a:cs typeface="Inter" pitchFamily="34" charset="-120"/>
              </a:rPr>
              <a:t>정보가 흩어져 있다</a:t>
            </a:r>
            <a:endParaRPr lang="en-US" sz="1300" dirty="0"/>
          </a:p>
        </p:txBody>
      </p:sp>
      <p:sp>
        <p:nvSpPr>
          <p:cNvPr id="12" name="Text 9"/>
          <p:cNvSpPr/>
          <p:nvPr/>
        </p:nvSpPr>
        <p:spPr>
          <a:xfrm>
            <a:off x="4643934" y="2264271"/>
            <a:ext cx="2991257" cy="43428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75CD3"/>
                </a:solidFill>
                <a:latin typeface="Plus Jakarta Sans" pitchFamily="34" charset="0"/>
                <a:ea typeface="Plus Jakarta Sans" pitchFamily="34" charset="-122"/>
                <a:cs typeface="Plus Jakarta Sans" pitchFamily="34" charset="-120"/>
              </a:rPr>
              <a:t>공식 근거</a:t>
            </a:r>
            <a:endParaRPr lang="en-US" sz="2800" dirty="0"/>
          </a:p>
        </p:txBody>
      </p:sp>
      <p:sp>
        <p:nvSpPr>
          <p:cNvPr id="13" name="Text 10"/>
          <p:cNvSpPr/>
          <p:nvPr/>
        </p:nvSpPr>
        <p:spPr>
          <a:xfrm>
            <a:off x="4643934" y="2762052"/>
            <a:ext cx="2991257"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75467"/>
                </a:solidFill>
                <a:latin typeface="Inter" pitchFamily="34" charset="0"/>
                <a:ea typeface="Inter" pitchFamily="34" charset="-122"/>
                <a:cs typeface="Inter" pitchFamily="34" charset="-120"/>
              </a:rPr>
              <a:t>모든 안내에 특보·문자·행동요령·대피소 출처 번호가 붙는다.</a:t>
            </a:r>
            <a:endParaRPr lang="en-US" sz="1400" dirty="0"/>
          </a:p>
        </p:txBody>
      </p:sp>
      <p:sp>
        <p:nvSpPr>
          <p:cNvPr id="14" name="Shape 11"/>
          <p:cNvSpPr/>
          <p:nvPr/>
        </p:nvSpPr>
        <p:spPr>
          <a:xfrm>
            <a:off x="7998916" y="1633141"/>
            <a:ext cx="3373934" cy="1897261"/>
          </a:xfrm>
          <a:prstGeom prst="roundRect">
            <a:avLst>
              <a:gd name="adj" fmla="val 5020"/>
            </a:avLst>
          </a:prstGeom>
          <a:solidFill>
            <a:srgbClr val="FFFFFF"/>
          </a:solidFill>
          <a:ln w="12700">
            <a:solidFill>
              <a:srgbClr val="C0CCE0"/>
            </a:solidFill>
            <a:prstDash val="solid"/>
          </a:ln>
        </p:spPr>
      </p:sp>
      <p:sp>
        <p:nvSpPr>
          <p:cNvPr id="15" name="Text 12"/>
          <p:cNvSpPr/>
          <p:nvPr/>
        </p:nvSpPr>
        <p:spPr>
          <a:xfrm>
            <a:off x="8233866" y="1868091"/>
            <a:ext cx="1544340" cy="307280"/>
          </a:xfrm>
          <a:custGeom>
            <a:avLst/>
            <a:gdLst/>
            <a:ahLst/>
            <a:cxnLst/>
            <a:rect l="l" t="t" r="r" b="b"/>
            <a:pathLst>
              <a:path w="1544340" h="307280">
                <a:moveTo>
                  <a:pt x="153640" y="0"/>
                </a:moveTo>
                <a:lnTo>
                  <a:pt x="1390700" y="0"/>
                </a:lnTo>
                <a:arcTo hR="153640" wR="153640" stAng="16200000" swAng="5400000"/>
                <a:lnTo>
                  <a:pt x="1544340" y="153640"/>
                </a:lnTo>
                <a:arcTo hR="153640" wR="153640" stAng="0" swAng="5400000"/>
                <a:lnTo>
                  <a:pt x="153640" y="307280"/>
                </a:lnTo>
                <a:arcTo hR="153640" wR="153640" stAng="5400000" swAng="5400000"/>
                <a:lnTo>
                  <a:pt x="0" y="153640"/>
                </a:lnTo>
                <a:arcTo hR="153640" wR="153640" stAng="10800000" swAng="5400000"/>
                <a:close/>
              </a:path>
            </a:pathLst>
          </a:custGeom>
          <a:solidFill>
            <a:srgbClr val="F2F4F7"/>
          </a:solidFill>
          <a:ln/>
        </p:spPr>
        <p:txBody>
          <a:bodyPr wrap="none" lIns="0" tIns="0" rIns="0" bIns="0" rtlCol="0" anchor="ctr">
            <a:normAutofit/>
          </a:bodyPr>
          <a:lstStyle/>
          <a:p>
            <a:pPr algn="ctr" indent="0" marL="0">
              <a:lnSpc>
                <a:spcPts val="1820"/>
              </a:lnSpc>
              <a:buNone/>
            </a:pPr>
            <a:r>
              <a:rPr lang="en-US" sz="1300" b="1" dirty="0">
                <a:solidFill>
                  <a:srgbClr val="175CD3"/>
                </a:solidFill>
                <a:latin typeface="Inter" pitchFamily="34" charset="0"/>
                <a:ea typeface="Inter" pitchFamily="34" charset="-122"/>
                <a:cs typeface="Inter" pitchFamily="34" charset="-120"/>
              </a:rPr>
              <a:t>AI</a:t>
            </a:r>
            <a:r>
              <a:rPr lang="en-US" sz="1300" b="1" dirty="0">
                <a:solidFill>
                  <a:srgbClr val="101828"/>
                </a:solidFill>
                <a:latin typeface="Inter" pitchFamily="34" charset="0"/>
                <a:ea typeface="Inter" pitchFamily="34" charset="-122"/>
                <a:cs typeface="Inter" pitchFamily="34" charset="-120"/>
              </a:rPr>
              <a:t>는 지어낼 수 있다</a:t>
            </a:r>
            <a:endParaRPr lang="en-US" sz="1300" dirty="0"/>
          </a:p>
        </p:txBody>
      </p:sp>
      <p:sp>
        <p:nvSpPr>
          <p:cNvPr id="16" name="Text 13"/>
          <p:cNvSpPr/>
          <p:nvPr/>
        </p:nvSpPr>
        <p:spPr>
          <a:xfrm>
            <a:off x="8233866" y="2264271"/>
            <a:ext cx="2991155" cy="43428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75CD3"/>
                </a:solidFill>
                <a:latin typeface="Plus Jakarta Sans" pitchFamily="34" charset="0"/>
                <a:ea typeface="Plus Jakarta Sans" pitchFamily="34" charset="-122"/>
                <a:cs typeface="Plus Jakarta Sans" pitchFamily="34" charset="-120"/>
              </a:rPr>
              <a:t>정보 없음</a:t>
            </a:r>
            <a:endParaRPr lang="en-US" sz="2800" dirty="0"/>
          </a:p>
        </p:txBody>
      </p:sp>
      <p:sp>
        <p:nvSpPr>
          <p:cNvPr id="17" name="Text 14"/>
          <p:cNvSpPr/>
          <p:nvPr/>
        </p:nvSpPr>
        <p:spPr>
          <a:xfrm>
            <a:off x="8233866" y="2762052"/>
            <a:ext cx="2991155"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75467"/>
                </a:solidFill>
                <a:latin typeface="Inter" pitchFamily="34" charset="0"/>
                <a:ea typeface="Inter" pitchFamily="34" charset="-122"/>
                <a:cs typeface="Inter" pitchFamily="34" charset="-120"/>
              </a:rPr>
              <a:t>공식 데이터에 없는 내용은 지어내지 않는다.</a:t>
            </a:r>
            <a:endParaRPr lang="en-US" sz="1400" dirty="0"/>
          </a:p>
        </p:txBody>
      </p:sp>
      <p:sp>
        <p:nvSpPr>
          <p:cNvPr id="18" name="Shape 15"/>
          <p:cNvSpPr/>
          <p:nvPr/>
        </p:nvSpPr>
        <p:spPr>
          <a:xfrm>
            <a:off x="812800" y="3790752"/>
            <a:ext cx="3386634" cy="998141"/>
          </a:xfrm>
          <a:prstGeom prst="roundRect">
            <a:avLst>
              <a:gd name="adj" fmla="val 10179"/>
            </a:avLst>
          </a:prstGeom>
          <a:solidFill>
            <a:srgbClr val="EFF8FF"/>
          </a:solidFill>
          <a:ln/>
        </p:spPr>
      </p:sp>
      <p:sp>
        <p:nvSpPr>
          <p:cNvPr id="19" name="Text 16"/>
          <p:cNvSpPr/>
          <p:nvPr/>
        </p:nvSpPr>
        <p:spPr>
          <a:xfrm>
            <a:off x="1041400" y="3968552"/>
            <a:ext cx="301731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75CD3"/>
                </a:solidFill>
                <a:latin typeface="Plus Jakarta Sans" pitchFamily="34" charset="0"/>
                <a:ea typeface="Plus Jakarta Sans" pitchFamily="34" charset="-122"/>
                <a:cs typeface="Plus Jakarta Sans" pitchFamily="34" charset="-120"/>
              </a:rPr>
              <a:t>7종</a:t>
            </a:r>
            <a:endParaRPr lang="en-US" sz="2200" dirty="0"/>
          </a:p>
        </p:txBody>
      </p:sp>
      <p:sp>
        <p:nvSpPr>
          <p:cNvPr id="20" name="Text 17"/>
          <p:cNvSpPr/>
          <p:nvPr/>
        </p:nvSpPr>
        <p:spPr>
          <a:xfrm>
            <a:off x="1041400" y="4397772"/>
            <a:ext cx="31580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28"/>
                </a:solidFill>
                <a:latin typeface="Inter" pitchFamily="34" charset="0"/>
                <a:ea typeface="Inter" pitchFamily="34" charset="-122"/>
                <a:cs typeface="Inter" pitchFamily="34" charset="-120"/>
              </a:rPr>
              <a:t>연동한 공공 API (특보·문자·행동요령 4·대피소)</a:t>
            </a:r>
            <a:endParaRPr lang="en-US" sz="1200" dirty="0"/>
          </a:p>
        </p:txBody>
      </p:sp>
      <p:sp>
        <p:nvSpPr>
          <p:cNvPr id="21" name="Shape 18"/>
          <p:cNvSpPr/>
          <p:nvPr/>
        </p:nvSpPr>
        <p:spPr>
          <a:xfrm>
            <a:off x="4402634" y="3790752"/>
            <a:ext cx="3386733" cy="998141"/>
          </a:xfrm>
          <a:prstGeom prst="roundRect">
            <a:avLst>
              <a:gd name="adj" fmla="val 10179"/>
            </a:avLst>
          </a:prstGeom>
          <a:solidFill>
            <a:srgbClr val="EFF8FF"/>
          </a:solidFill>
          <a:ln/>
        </p:spPr>
      </p:sp>
      <p:sp>
        <p:nvSpPr>
          <p:cNvPr id="22" name="Text 19"/>
          <p:cNvSpPr/>
          <p:nvPr/>
        </p:nvSpPr>
        <p:spPr>
          <a:xfrm>
            <a:off x="4631234" y="3968552"/>
            <a:ext cx="3017419"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75CD3"/>
                </a:solidFill>
                <a:latin typeface="Plus Jakarta Sans" pitchFamily="34" charset="0"/>
                <a:ea typeface="Plus Jakarta Sans" pitchFamily="34" charset="-122"/>
                <a:cs typeface="Plus Jakarta Sans" pitchFamily="34" charset="-120"/>
              </a:rPr>
              <a:t>301곳</a:t>
            </a:r>
            <a:endParaRPr lang="en-US" sz="2200" dirty="0"/>
          </a:p>
        </p:txBody>
      </p:sp>
      <p:sp>
        <p:nvSpPr>
          <p:cNvPr id="23" name="Text 20"/>
          <p:cNvSpPr/>
          <p:nvPr/>
        </p:nvSpPr>
        <p:spPr>
          <a:xfrm>
            <a:off x="4631234" y="4397772"/>
            <a:ext cx="30174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28"/>
                </a:solidFill>
                <a:latin typeface="Inter" pitchFamily="34" charset="0"/>
                <a:ea typeface="Inter" pitchFamily="34" charset="-122"/>
                <a:cs typeface="Inter" pitchFamily="34" charset="-120"/>
              </a:rPr>
              <a:t>특보를 구분하는 전국 구역</a:t>
            </a:r>
            <a:endParaRPr lang="en-US" sz="1200" dirty="0"/>
          </a:p>
        </p:txBody>
      </p:sp>
      <p:sp>
        <p:nvSpPr>
          <p:cNvPr id="24" name="Shape 21"/>
          <p:cNvSpPr/>
          <p:nvPr/>
        </p:nvSpPr>
        <p:spPr>
          <a:xfrm>
            <a:off x="7992566" y="3790752"/>
            <a:ext cx="3386634" cy="998141"/>
          </a:xfrm>
          <a:prstGeom prst="roundRect">
            <a:avLst>
              <a:gd name="adj" fmla="val 10179"/>
            </a:avLst>
          </a:prstGeom>
          <a:solidFill>
            <a:srgbClr val="EFF8FF"/>
          </a:solidFill>
          <a:ln/>
        </p:spPr>
      </p:sp>
      <p:sp>
        <p:nvSpPr>
          <p:cNvPr id="25" name="Text 22"/>
          <p:cNvSpPr/>
          <p:nvPr/>
        </p:nvSpPr>
        <p:spPr>
          <a:xfrm>
            <a:off x="8221166" y="3968552"/>
            <a:ext cx="301731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75CD3"/>
                </a:solidFill>
                <a:latin typeface="Plus Jakarta Sans" pitchFamily="34" charset="0"/>
                <a:ea typeface="Plus Jakarta Sans" pitchFamily="34" charset="-122"/>
                <a:cs typeface="Plus Jakarta Sans" pitchFamily="34" charset="-120"/>
              </a:rPr>
              <a:t>약 1,500건</a:t>
            </a:r>
            <a:endParaRPr lang="en-US" sz="2200" dirty="0"/>
          </a:p>
        </p:txBody>
      </p:sp>
      <p:sp>
        <p:nvSpPr>
          <p:cNvPr id="26" name="Text 23"/>
          <p:cNvSpPr/>
          <p:nvPr/>
        </p:nvSpPr>
        <p:spPr>
          <a:xfrm>
            <a:off x="8221166" y="4397772"/>
            <a:ext cx="30173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28"/>
                </a:solidFill>
                <a:latin typeface="Inter" pitchFamily="34" charset="0"/>
                <a:ea typeface="Inter" pitchFamily="34" charset="-122"/>
                <a:cs typeface="Inter" pitchFamily="34" charset="-120"/>
              </a:rPr>
              <a:t>근거로 쓰는 공식 행동요령</a:t>
            </a:r>
            <a:endParaRPr lang="en-US" sz="1200" dirty="0"/>
          </a:p>
        </p:txBody>
      </p:sp>
      <p:sp>
        <p:nvSpPr>
          <p:cNvPr id="27" name="Shape 24"/>
          <p:cNvSpPr/>
          <p:nvPr/>
        </p:nvSpPr>
        <p:spPr>
          <a:xfrm>
            <a:off x="812800" y="6248400"/>
            <a:ext cx="10566400" cy="6350"/>
          </a:xfrm>
          <a:prstGeom prst="rect">
            <a:avLst/>
          </a:prstGeom>
          <a:solidFill>
            <a:srgbClr val="D0D5DD"/>
          </a:solidFill>
          <a:ln/>
        </p:spPr>
      </p:sp>
      <p:sp>
        <p:nvSpPr>
          <p:cNvPr id="28" name="Text 25"/>
          <p:cNvSpPr/>
          <p:nvPr/>
        </p:nvSpPr>
        <p:spPr>
          <a:xfrm>
            <a:off x="812800" y="63754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a:t>
            </a:r>
            <a:endParaRPr lang="en-US" sz="1200" dirty="0"/>
          </a:p>
        </p:txBody>
      </p:sp>
      <p:sp>
        <p:nvSpPr>
          <p:cNvPr id="29" name="Text 26"/>
          <p:cNvSpPr/>
          <p:nvPr/>
        </p:nvSpPr>
        <p:spPr>
          <a:xfrm>
            <a:off x="4914602"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문제</a:t>
            </a:r>
            <a:endParaRPr lang="en-US" sz="1200" dirty="0"/>
          </a:p>
        </p:txBody>
      </p:sp>
      <p:sp>
        <p:nvSpPr>
          <p:cNvPr id="30" name="Text 27"/>
          <p:cNvSpPr/>
          <p:nvPr/>
        </p:nvSpPr>
        <p:spPr>
          <a:xfrm>
            <a:off x="5406926"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설계</a:t>
            </a:r>
            <a:endParaRPr lang="en-US" sz="1200" dirty="0"/>
          </a:p>
        </p:txBody>
      </p:sp>
      <p:sp>
        <p:nvSpPr>
          <p:cNvPr id="31" name="Text 28"/>
          <p:cNvSpPr/>
          <p:nvPr/>
        </p:nvSpPr>
        <p:spPr>
          <a:xfrm>
            <a:off x="5899249" y="6375400"/>
            <a:ext cx="6938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시연·결과</a:t>
            </a:r>
            <a:endParaRPr lang="en-US" sz="1200" dirty="0"/>
          </a:p>
        </p:txBody>
      </p:sp>
      <p:sp>
        <p:nvSpPr>
          <p:cNvPr id="32" name="Text 29"/>
          <p:cNvSpPr/>
          <p:nvPr/>
        </p:nvSpPr>
        <p:spPr>
          <a:xfrm>
            <a:off x="6706096" y="6375400"/>
            <a:ext cx="685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한계·개선</a:t>
            </a:r>
            <a:endParaRPr lang="en-US" sz="1200" dirty="0"/>
          </a:p>
        </p:txBody>
      </p:sp>
      <p:sp>
        <p:nvSpPr>
          <p:cNvPr id="33" name="Text 30"/>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981075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시연·결과 · 개선 전/후</a:t>
            </a:r>
            <a:endParaRPr lang="en-US" sz="1400" dirty="0"/>
          </a:p>
        </p:txBody>
      </p:sp>
      <p:sp>
        <p:nvSpPr>
          <p:cNvPr id="5" name="Text 2"/>
          <p:cNvSpPr/>
          <p:nvPr>
            <p:ph type="title"/>
          </p:nvPr>
        </p:nvSpPr>
        <p:spPr>
          <a:xfrm>
            <a:off x="812800" y="934641"/>
            <a:ext cx="981075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Plus Jakarta Sans" pitchFamily="34" charset="0"/>
                <a:ea typeface="Plus Jakarta Sans" pitchFamily="34" charset="-122"/>
                <a:cs typeface="Plus Jakarta Sans" pitchFamily="34" charset="-120"/>
              </a:rPr>
              <a:t>고치기 전과 후를 같은 기준으로 쟀다</a:t>
            </a:r>
            <a:endParaRPr lang="en-US" sz="3000" dirty="0"/>
          </a:p>
        </p:txBody>
      </p:sp>
      <p:sp>
        <p:nvSpPr>
          <p:cNvPr id="6" name="Text 3"/>
          <p:cNvSpPr/>
          <p:nvPr/>
        </p:nvSpPr>
        <p:spPr>
          <a:xfrm>
            <a:off x="990600" y="1575991"/>
            <a:ext cx="21583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085"/>
                </a:solidFill>
                <a:latin typeface="Inter" pitchFamily="34" charset="0"/>
                <a:ea typeface="Inter" pitchFamily="34" charset="-122"/>
                <a:cs typeface="Inter" pitchFamily="34" charset="-120"/>
              </a:rPr>
              <a:t>지표</a:t>
            </a:r>
            <a:endParaRPr lang="en-US" sz="1200" dirty="0"/>
          </a:p>
        </p:txBody>
      </p:sp>
      <p:sp>
        <p:nvSpPr>
          <p:cNvPr id="7" name="Text 4"/>
          <p:cNvSpPr/>
          <p:nvPr/>
        </p:nvSpPr>
        <p:spPr>
          <a:xfrm>
            <a:off x="3238500" y="1575991"/>
            <a:ext cx="1638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1828"/>
                </a:solidFill>
                <a:latin typeface="Inter" pitchFamily="34" charset="0"/>
                <a:ea typeface="Inter" pitchFamily="34" charset="-122"/>
                <a:cs typeface="Inter" pitchFamily="34" charset="-120"/>
              </a:rPr>
              <a:t>고치기 전</a:t>
            </a:r>
            <a:endParaRPr lang="en-US" sz="1200" dirty="0"/>
          </a:p>
        </p:txBody>
      </p:sp>
      <p:sp>
        <p:nvSpPr>
          <p:cNvPr id="8" name="Text 5"/>
          <p:cNvSpPr/>
          <p:nvPr/>
        </p:nvSpPr>
        <p:spPr>
          <a:xfrm>
            <a:off x="4978400" y="1575991"/>
            <a:ext cx="1638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고친 후</a:t>
            </a:r>
            <a:endParaRPr lang="en-US" sz="1200" dirty="0"/>
          </a:p>
        </p:txBody>
      </p:sp>
      <p:sp>
        <p:nvSpPr>
          <p:cNvPr id="9" name="Text 6"/>
          <p:cNvSpPr/>
          <p:nvPr/>
        </p:nvSpPr>
        <p:spPr>
          <a:xfrm>
            <a:off x="6718300" y="1575991"/>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085"/>
                </a:solidFill>
                <a:latin typeface="Inter" pitchFamily="34" charset="0"/>
                <a:ea typeface="Inter" pitchFamily="34" charset="-122"/>
                <a:cs typeface="Inter" pitchFamily="34" charset="-120"/>
              </a:rPr>
              <a:t>뜻</a:t>
            </a:r>
            <a:endParaRPr lang="en-US" sz="1200" dirty="0"/>
          </a:p>
        </p:txBody>
      </p:sp>
      <p:sp>
        <p:nvSpPr>
          <p:cNvPr id="10" name="Shape 7"/>
          <p:cNvSpPr/>
          <p:nvPr/>
        </p:nvSpPr>
        <p:spPr>
          <a:xfrm>
            <a:off x="819150" y="1846461"/>
            <a:ext cx="10553700" cy="370780"/>
          </a:xfrm>
          <a:prstGeom prst="roundRect">
            <a:avLst>
              <a:gd name="adj" fmla="val 25689"/>
            </a:avLst>
          </a:prstGeom>
          <a:solidFill>
            <a:srgbClr val="FFFFFF"/>
          </a:solidFill>
          <a:ln w="12700">
            <a:solidFill>
              <a:srgbClr val="C0CCE0"/>
            </a:solidFill>
            <a:prstDash val="solid"/>
          </a:ln>
        </p:spPr>
      </p:sp>
      <p:sp>
        <p:nvSpPr>
          <p:cNvPr id="11" name="Text 8"/>
          <p:cNvSpPr/>
          <p:nvPr/>
        </p:nvSpPr>
        <p:spPr>
          <a:xfrm>
            <a:off x="1003300" y="1916311"/>
            <a:ext cx="215836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중복 문장 비율</a:t>
            </a:r>
            <a:endParaRPr lang="en-US" sz="1300" dirty="0"/>
          </a:p>
        </p:txBody>
      </p:sp>
      <p:sp>
        <p:nvSpPr>
          <p:cNvPr id="12" name="Text 9"/>
          <p:cNvSpPr/>
          <p:nvPr/>
        </p:nvSpPr>
        <p:spPr>
          <a:xfrm>
            <a:off x="3251200" y="1916311"/>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nter" pitchFamily="34" charset="0"/>
                <a:ea typeface="Inter" pitchFamily="34" charset="-122"/>
                <a:cs typeface="Inter" pitchFamily="34" charset="-120"/>
              </a:rPr>
              <a:t>12.9%</a:t>
            </a:r>
            <a:endParaRPr lang="en-US" sz="1300" dirty="0"/>
          </a:p>
        </p:txBody>
      </p:sp>
      <p:sp>
        <p:nvSpPr>
          <p:cNvPr id="13" name="Text 10"/>
          <p:cNvSpPr/>
          <p:nvPr/>
        </p:nvSpPr>
        <p:spPr>
          <a:xfrm>
            <a:off x="4991100" y="1916311"/>
            <a:ext cx="1638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5CD3"/>
                </a:solidFill>
                <a:latin typeface="Inter" pitchFamily="34" charset="0"/>
                <a:ea typeface="Inter" pitchFamily="34" charset="-122"/>
                <a:cs typeface="Inter" pitchFamily="34" charset="-120"/>
              </a:rPr>
              <a:t>0%</a:t>
            </a:r>
            <a:endParaRPr lang="en-US" sz="1300" dirty="0"/>
          </a:p>
        </p:txBody>
      </p:sp>
      <p:sp>
        <p:nvSpPr>
          <p:cNvPr id="14" name="Text 11"/>
          <p:cNvSpPr/>
          <p:nvPr/>
        </p:nvSpPr>
        <p:spPr>
          <a:xfrm>
            <a:off x="6731000" y="1929011"/>
            <a:ext cx="457835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고른 행동요령 중 거의 같은 문장 비율</a:t>
            </a:r>
            <a:endParaRPr lang="en-US" sz="1200" dirty="0"/>
          </a:p>
        </p:txBody>
      </p:sp>
      <p:sp>
        <p:nvSpPr>
          <p:cNvPr id="15" name="Shape 12"/>
          <p:cNvSpPr/>
          <p:nvPr/>
        </p:nvSpPr>
        <p:spPr>
          <a:xfrm>
            <a:off x="819150" y="2280741"/>
            <a:ext cx="10553700" cy="370780"/>
          </a:xfrm>
          <a:prstGeom prst="roundRect">
            <a:avLst>
              <a:gd name="adj" fmla="val 25689"/>
            </a:avLst>
          </a:prstGeom>
          <a:solidFill>
            <a:srgbClr val="FFFFFF"/>
          </a:solidFill>
          <a:ln w="12700">
            <a:solidFill>
              <a:srgbClr val="C0CCE0"/>
            </a:solidFill>
            <a:prstDash val="solid"/>
          </a:ln>
        </p:spPr>
      </p:sp>
      <p:sp>
        <p:nvSpPr>
          <p:cNvPr id="16" name="Text 13"/>
          <p:cNvSpPr/>
          <p:nvPr/>
        </p:nvSpPr>
        <p:spPr>
          <a:xfrm>
            <a:off x="1003300" y="2350591"/>
            <a:ext cx="215836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실패 원인 구분</a:t>
            </a:r>
            <a:endParaRPr lang="en-US" sz="1300" dirty="0"/>
          </a:p>
        </p:txBody>
      </p:sp>
      <p:sp>
        <p:nvSpPr>
          <p:cNvPr id="17" name="Text 14"/>
          <p:cNvSpPr/>
          <p:nvPr/>
        </p:nvSpPr>
        <p:spPr>
          <a:xfrm>
            <a:off x="3251200" y="2350591"/>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nter" pitchFamily="34" charset="0"/>
                <a:ea typeface="Inter" pitchFamily="34" charset="-122"/>
                <a:cs typeface="Inter" pitchFamily="34" charset="-120"/>
              </a:rPr>
              <a:t>1가지</a:t>
            </a:r>
            <a:endParaRPr lang="en-US" sz="1300" dirty="0"/>
          </a:p>
        </p:txBody>
      </p:sp>
      <p:sp>
        <p:nvSpPr>
          <p:cNvPr id="18" name="Text 15"/>
          <p:cNvSpPr/>
          <p:nvPr/>
        </p:nvSpPr>
        <p:spPr>
          <a:xfrm>
            <a:off x="4991100" y="2350591"/>
            <a:ext cx="1638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5CD3"/>
                </a:solidFill>
                <a:latin typeface="Inter" pitchFamily="34" charset="0"/>
                <a:ea typeface="Inter" pitchFamily="34" charset="-122"/>
                <a:cs typeface="Inter" pitchFamily="34" charset="-120"/>
              </a:rPr>
              <a:t>5가지</a:t>
            </a:r>
            <a:endParaRPr lang="en-US" sz="1300" dirty="0"/>
          </a:p>
        </p:txBody>
      </p:sp>
      <p:sp>
        <p:nvSpPr>
          <p:cNvPr id="19" name="Text 16"/>
          <p:cNvSpPr/>
          <p:nvPr/>
        </p:nvSpPr>
        <p:spPr>
          <a:xfrm>
            <a:off x="6731000" y="2363291"/>
            <a:ext cx="457835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API 장애 5종이 보이는 서로 다른 문구 수</a:t>
            </a:r>
            <a:endParaRPr lang="en-US" sz="1200" dirty="0"/>
          </a:p>
        </p:txBody>
      </p:sp>
      <p:sp>
        <p:nvSpPr>
          <p:cNvPr id="20" name="Shape 17"/>
          <p:cNvSpPr/>
          <p:nvPr/>
        </p:nvSpPr>
        <p:spPr>
          <a:xfrm>
            <a:off x="819150" y="2715022"/>
            <a:ext cx="10553700" cy="370780"/>
          </a:xfrm>
          <a:prstGeom prst="roundRect">
            <a:avLst>
              <a:gd name="adj" fmla="val 25689"/>
            </a:avLst>
          </a:prstGeom>
          <a:solidFill>
            <a:srgbClr val="FFFFFF"/>
          </a:solidFill>
          <a:ln w="12700">
            <a:solidFill>
              <a:srgbClr val="C0CCE0"/>
            </a:solidFill>
            <a:prstDash val="solid"/>
          </a:ln>
        </p:spPr>
      </p:sp>
      <p:sp>
        <p:nvSpPr>
          <p:cNvPr id="21" name="Text 18"/>
          <p:cNvSpPr/>
          <p:nvPr/>
        </p:nvSpPr>
        <p:spPr>
          <a:xfrm>
            <a:off x="1003300" y="2784872"/>
            <a:ext cx="215836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첫 답이 보이기까지</a:t>
            </a:r>
            <a:endParaRPr lang="en-US" sz="1300" dirty="0"/>
          </a:p>
        </p:txBody>
      </p:sp>
      <p:sp>
        <p:nvSpPr>
          <p:cNvPr id="22" name="Text 19"/>
          <p:cNvSpPr/>
          <p:nvPr/>
        </p:nvSpPr>
        <p:spPr>
          <a:xfrm>
            <a:off x="3251200" y="2784872"/>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nter" pitchFamily="34" charset="0"/>
                <a:ea typeface="Inter" pitchFamily="34" charset="-122"/>
                <a:cs typeface="Inter" pitchFamily="34" charset="-120"/>
              </a:rPr>
              <a:t>약 15초</a:t>
            </a:r>
            <a:endParaRPr lang="en-US" sz="1300" dirty="0"/>
          </a:p>
        </p:txBody>
      </p:sp>
      <p:sp>
        <p:nvSpPr>
          <p:cNvPr id="23" name="Text 20"/>
          <p:cNvSpPr/>
          <p:nvPr/>
        </p:nvSpPr>
        <p:spPr>
          <a:xfrm>
            <a:off x="4991100" y="2784872"/>
            <a:ext cx="1638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5CD3"/>
                </a:solidFill>
                <a:latin typeface="Inter" pitchFamily="34" charset="0"/>
                <a:ea typeface="Inter" pitchFamily="34" charset="-122"/>
                <a:cs typeface="Inter" pitchFamily="34" charset="-120"/>
              </a:rPr>
              <a:t>1.7초</a:t>
            </a:r>
            <a:endParaRPr lang="en-US" sz="1300" dirty="0"/>
          </a:p>
        </p:txBody>
      </p:sp>
      <p:sp>
        <p:nvSpPr>
          <p:cNvPr id="24" name="Text 21"/>
          <p:cNvSpPr/>
          <p:nvPr/>
        </p:nvSpPr>
        <p:spPr>
          <a:xfrm>
            <a:off x="6731000" y="2797572"/>
            <a:ext cx="457835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질문 후 검증된 기본 요약이 뜨는 시간 (평균)</a:t>
            </a:r>
            <a:endParaRPr lang="en-US" sz="1200" dirty="0"/>
          </a:p>
        </p:txBody>
      </p:sp>
      <p:sp>
        <p:nvSpPr>
          <p:cNvPr id="25" name="Shape 22"/>
          <p:cNvSpPr/>
          <p:nvPr/>
        </p:nvSpPr>
        <p:spPr>
          <a:xfrm>
            <a:off x="819150" y="3149302"/>
            <a:ext cx="10553700" cy="370780"/>
          </a:xfrm>
          <a:prstGeom prst="roundRect">
            <a:avLst>
              <a:gd name="adj" fmla="val 25689"/>
            </a:avLst>
          </a:prstGeom>
          <a:solidFill>
            <a:srgbClr val="F2F4F7"/>
          </a:solidFill>
          <a:ln w="12700">
            <a:solidFill>
              <a:srgbClr val="D0D5DD"/>
            </a:solidFill>
            <a:prstDash val="solid"/>
          </a:ln>
        </p:spPr>
      </p:sp>
      <p:sp>
        <p:nvSpPr>
          <p:cNvPr id="26" name="Text 23"/>
          <p:cNvSpPr/>
          <p:nvPr/>
        </p:nvSpPr>
        <p:spPr>
          <a:xfrm>
            <a:off x="1003300" y="3219152"/>
            <a:ext cx="215836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최종 답까지</a:t>
            </a:r>
            <a:endParaRPr lang="en-US" sz="1300" dirty="0"/>
          </a:p>
        </p:txBody>
      </p:sp>
      <p:sp>
        <p:nvSpPr>
          <p:cNvPr id="27" name="Text 24"/>
          <p:cNvSpPr/>
          <p:nvPr/>
        </p:nvSpPr>
        <p:spPr>
          <a:xfrm>
            <a:off x="3251200" y="3219152"/>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nter" pitchFamily="34" charset="0"/>
                <a:ea typeface="Inter" pitchFamily="34" charset="-122"/>
                <a:cs typeface="Inter" pitchFamily="34" charset="-120"/>
              </a:rPr>
              <a:t>약 15초</a:t>
            </a:r>
            <a:endParaRPr lang="en-US" sz="1300" dirty="0"/>
          </a:p>
        </p:txBody>
      </p:sp>
      <p:sp>
        <p:nvSpPr>
          <p:cNvPr id="28" name="Text 25"/>
          <p:cNvSpPr/>
          <p:nvPr/>
        </p:nvSpPr>
        <p:spPr>
          <a:xfrm>
            <a:off x="4991100" y="3219152"/>
            <a:ext cx="1638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약 30초</a:t>
            </a:r>
            <a:endParaRPr lang="en-US" sz="1300" dirty="0"/>
          </a:p>
        </p:txBody>
      </p:sp>
      <p:sp>
        <p:nvSpPr>
          <p:cNvPr id="29" name="Text 26"/>
          <p:cNvSpPr/>
          <p:nvPr/>
        </p:nvSpPr>
        <p:spPr>
          <a:xfrm>
            <a:off x="6731000" y="3231852"/>
            <a:ext cx="457835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검증을 마친 최종 답이 나오는 시간 (평균)</a:t>
            </a:r>
            <a:endParaRPr lang="en-US" sz="1200" dirty="0"/>
          </a:p>
        </p:txBody>
      </p:sp>
      <p:sp>
        <p:nvSpPr>
          <p:cNvPr id="30" name="Shape 27"/>
          <p:cNvSpPr/>
          <p:nvPr/>
        </p:nvSpPr>
        <p:spPr>
          <a:xfrm>
            <a:off x="819150" y="3583583"/>
            <a:ext cx="10553700" cy="370780"/>
          </a:xfrm>
          <a:prstGeom prst="roundRect">
            <a:avLst>
              <a:gd name="adj" fmla="val 25689"/>
            </a:avLst>
          </a:prstGeom>
          <a:solidFill>
            <a:srgbClr val="FFFFFF"/>
          </a:solidFill>
          <a:ln w="12700">
            <a:solidFill>
              <a:srgbClr val="C0CCE0"/>
            </a:solidFill>
            <a:prstDash val="solid"/>
          </a:ln>
        </p:spPr>
      </p:sp>
      <p:sp>
        <p:nvSpPr>
          <p:cNvPr id="31" name="Text 28"/>
          <p:cNvSpPr/>
          <p:nvPr/>
        </p:nvSpPr>
        <p:spPr>
          <a:xfrm>
            <a:off x="1003300" y="3653433"/>
            <a:ext cx="215836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평가 통과</a:t>
            </a:r>
            <a:endParaRPr lang="en-US" sz="1300" dirty="0"/>
          </a:p>
        </p:txBody>
      </p:sp>
      <p:sp>
        <p:nvSpPr>
          <p:cNvPr id="32" name="Text 29"/>
          <p:cNvSpPr/>
          <p:nvPr/>
        </p:nvSpPr>
        <p:spPr>
          <a:xfrm>
            <a:off x="3251200" y="3653433"/>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nter" pitchFamily="34" charset="0"/>
                <a:ea typeface="Inter" pitchFamily="34" charset="-122"/>
                <a:cs typeface="Inter" pitchFamily="34" charset="-120"/>
              </a:rPr>
              <a:t>5개 지표 만점</a:t>
            </a:r>
            <a:endParaRPr lang="en-US" sz="1300" dirty="0"/>
          </a:p>
        </p:txBody>
      </p:sp>
      <p:sp>
        <p:nvSpPr>
          <p:cNvPr id="33" name="Text 30"/>
          <p:cNvSpPr/>
          <p:nvPr/>
        </p:nvSpPr>
        <p:spPr>
          <a:xfrm>
            <a:off x="4991100" y="3653433"/>
            <a:ext cx="1638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5CD3"/>
                </a:solidFill>
                <a:latin typeface="Inter" pitchFamily="34" charset="0"/>
                <a:ea typeface="Inter" pitchFamily="34" charset="-122"/>
                <a:cs typeface="Inter" pitchFamily="34" charset="-120"/>
              </a:rPr>
              <a:t>7개 모두 만점</a:t>
            </a:r>
            <a:endParaRPr lang="en-US" sz="1300" dirty="0"/>
          </a:p>
        </p:txBody>
      </p:sp>
      <p:sp>
        <p:nvSpPr>
          <p:cNvPr id="34" name="Text 31"/>
          <p:cNvSpPr/>
          <p:nvPr/>
        </p:nvSpPr>
        <p:spPr>
          <a:xfrm>
            <a:off x="6731000" y="3666133"/>
            <a:ext cx="457835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같은 질문 44건, 채점 가능한 7개 지표</a:t>
            </a:r>
            <a:endParaRPr lang="en-US" sz="1200" dirty="0"/>
          </a:p>
        </p:txBody>
      </p:sp>
      <p:sp>
        <p:nvSpPr>
          <p:cNvPr id="35" name="Shape 32"/>
          <p:cNvSpPr/>
          <p:nvPr/>
        </p:nvSpPr>
        <p:spPr>
          <a:xfrm>
            <a:off x="819150" y="4017863"/>
            <a:ext cx="10553700" cy="370780"/>
          </a:xfrm>
          <a:prstGeom prst="roundRect">
            <a:avLst>
              <a:gd name="adj" fmla="val 25689"/>
            </a:avLst>
          </a:prstGeom>
          <a:solidFill>
            <a:srgbClr val="FFFFFF"/>
          </a:solidFill>
          <a:ln w="12700">
            <a:solidFill>
              <a:srgbClr val="C0CCE0"/>
            </a:solidFill>
            <a:prstDash val="solid"/>
          </a:ln>
        </p:spPr>
      </p:sp>
      <p:sp>
        <p:nvSpPr>
          <p:cNvPr id="36" name="Text 33"/>
          <p:cNvSpPr/>
          <p:nvPr/>
        </p:nvSpPr>
        <p:spPr>
          <a:xfrm>
            <a:off x="1003300" y="4087713"/>
            <a:ext cx="215836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자동 테스트</a:t>
            </a:r>
            <a:endParaRPr lang="en-US" sz="1300" dirty="0"/>
          </a:p>
        </p:txBody>
      </p:sp>
      <p:sp>
        <p:nvSpPr>
          <p:cNvPr id="37" name="Text 34"/>
          <p:cNvSpPr/>
          <p:nvPr/>
        </p:nvSpPr>
        <p:spPr>
          <a:xfrm>
            <a:off x="3251200" y="4087713"/>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nter" pitchFamily="34" charset="0"/>
                <a:ea typeface="Inter" pitchFamily="34" charset="-122"/>
                <a:cs typeface="Inter" pitchFamily="34" charset="-120"/>
              </a:rPr>
              <a:t>108개</a:t>
            </a:r>
            <a:endParaRPr lang="en-US" sz="1300" dirty="0"/>
          </a:p>
        </p:txBody>
      </p:sp>
      <p:sp>
        <p:nvSpPr>
          <p:cNvPr id="38" name="Text 35"/>
          <p:cNvSpPr/>
          <p:nvPr/>
        </p:nvSpPr>
        <p:spPr>
          <a:xfrm>
            <a:off x="4991100" y="4087713"/>
            <a:ext cx="1638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5CD3"/>
                </a:solidFill>
                <a:latin typeface="Inter" pitchFamily="34" charset="0"/>
                <a:ea typeface="Inter" pitchFamily="34" charset="-122"/>
                <a:cs typeface="Inter" pitchFamily="34" charset="-120"/>
              </a:rPr>
              <a:t>186개</a:t>
            </a:r>
            <a:endParaRPr lang="en-US" sz="1300" dirty="0"/>
          </a:p>
        </p:txBody>
      </p:sp>
      <p:sp>
        <p:nvSpPr>
          <p:cNvPr id="39" name="Text 36"/>
          <p:cNvSpPr/>
          <p:nvPr/>
        </p:nvSpPr>
        <p:spPr>
          <a:xfrm>
            <a:off x="6731000" y="4100413"/>
            <a:ext cx="457835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고칠 때마다 돌리는 테스트</a:t>
            </a:r>
            <a:endParaRPr lang="en-US" sz="1200" dirty="0"/>
          </a:p>
        </p:txBody>
      </p:sp>
      <p:sp>
        <p:nvSpPr>
          <p:cNvPr id="40" name="Text 37"/>
          <p:cNvSpPr/>
          <p:nvPr/>
        </p:nvSpPr>
        <p:spPr>
          <a:xfrm>
            <a:off x="812800" y="4598194"/>
            <a:ext cx="4432102" cy="340320"/>
          </a:xfrm>
          <a:prstGeom prst="roundRect">
            <a:avLst>
              <a:gd name="adj" fmla="val 50000"/>
            </a:avLst>
          </a:prstGeom>
          <a:solidFill>
            <a:srgbClr val="F2F4F7"/>
          </a:solidFill>
          <a:ln/>
        </p:spPr>
        <p:txBody>
          <a:bodyPr wrap="none" lIns="0" tIns="0" rIns="0" bIns="0" rtlCol="0" anchor="ctr">
            <a:normAutofit/>
          </a:bodyPr>
          <a:lstStyle/>
          <a:p>
            <a:pPr algn="ctr" indent="0" marL="0">
              <a:lnSpc>
                <a:spcPts val="1680"/>
              </a:lnSpc>
              <a:buNone/>
            </a:pPr>
            <a:r>
              <a:rPr lang="en-US" sz="1200" b="1" dirty="0">
                <a:solidFill>
                  <a:srgbClr val="475467"/>
                </a:solidFill>
                <a:latin typeface="Inter" pitchFamily="34" charset="0"/>
                <a:ea typeface="Inter" pitchFamily="34" charset="-122"/>
                <a:cs typeface="Inter" pitchFamily="34" charset="-120"/>
              </a:rPr>
              <a:t>측정 조건: 같은 질문 기준. 시간은 qwen3:8b, 나머지는 테스트 모델</a:t>
            </a:r>
            <a:endParaRPr lang="en-US" sz="1200" dirty="0"/>
          </a:p>
        </p:txBody>
      </p:sp>
      <p:sp>
        <p:nvSpPr>
          <p:cNvPr id="41" name="Shape 38"/>
          <p:cNvSpPr/>
          <p:nvPr/>
        </p:nvSpPr>
        <p:spPr>
          <a:xfrm>
            <a:off x="812800" y="6248400"/>
            <a:ext cx="10566400" cy="6350"/>
          </a:xfrm>
          <a:prstGeom prst="rect">
            <a:avLst/>
          </a:prstGeom>
          <a:solidFill>
            <a:srgbClr val="D0D5DD"/>
          </a:solidFill>
          <a:ln/>
        </p:spPr>
      </p:sp>
      <p:sp>
        <p:nvSpPr>
          <p:cNvPr id="42" name="Text 39"/>
          <p:cNvSpPr/>
          <p:nvPr/>
        </p:nvSpPr>
        <p:spPr>
          <a:xfrm>
            <a:off x="812800" y="63754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a:t>
            </a:r>
            <a:endParaRPr lang="en-US" sz="1200" dirty="0"/>
          </a:p>
        </p:txBody>
      </p:sp>
      <p:sp>
        <p:nvSpPr>
          <p:cNvPr id="43" name="Text 40"/>
          <p:cNvSpPr/>
          <p:nvPr/>
        </p:nvSpPr>
        <p:spPr>
          <a:xfrm>
            <a:off x="4914602"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문제</a:t>
            </a:r>
            <a:endParaRPr lang="en-US" sz="1200" dirty="0"/>
          </a:p>
        </p:txBody>
      </p:sp>
      <p:sp>
        <p:nvSpPr>
          <p:cNvPr id="44" name="Text 41"/>
          <p:cNvSpPr/>
          <p:nvPr/>
        </p:nvSpPr>
        <p:spPr>
          <a:xfrm>
            <a:off x="5406926"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설계</a:t>
            </a:r>
            <a:endParaRPr lang="en-US" sz="1200" dirty="0"/>
          </a:p>
        </p:txBody>
      </p:sp>
      <p:sp>
        <p:nvSpPr>
          <p:cNvPr id="45" name="Text 42"/>
          <p:cNvSpPr/>
          <p:nvPr/>
        </p:nvSpPr>
        <p:spPr>
          <a:xfrm>
            <a:off x="5899249" y="6375400"/>
            <a:ext cx="6938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시연·결과</a:t>
            </a:r>
            <a:endParaRPr lang="en-US" sz="1200" dirty="0"/>
          </a:p>
        </p:txBody>
      </p:sp>
      <p:sp>
        <p:nvSpPr>
          <p:cNvPr id="46" name="Text 43"/>
          <p:cNvSpPr/>
          <p:nvPr/>
        </p:nvSpPr>
        <p:spPr>
          <a:xfrm>
            <a:off x="6706096" y="6375400"/>
            <a:ext cx="685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한계·개선</a:t>
            </a:r>
            <a:endParaRPr lang="en-US" sz="1200" dirty="0"/>
          </a:p>
        </p:txBody>
      </p:sp>
      <p:sp>
        <p:nvSpPr>
          <p:cNvPr id="47" name="Text 44"/>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981075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한계·개선 · 한계와 트레이드오프</a:t>
            </a:r>
            <a:endParaRPr lang="en-US" sz="1400" dirty="0"/>
          </a:p>
        </p:txBody>
      </p:sp>
      <p:sp>
        <p:nvSpPr>
          <p:cNvPr id="5" name="Text 2"/>
          <p:cNvSpPr/>
          <p:nvPr>
            <p:ph type="title"/>
          </p:nvPr>
        </p:nvSpPr>
        <p:spPr>
          <a:xfrm>
            <a:off x="812800" y="934641"/>
            <a:ext cx="981075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Plus Jakarta Sans" pitchFamily="34" charset="0"/>
                <a:ea typeface="Plus Jakarta Sans" pitchFamily="34" charset="-122"/>
                <a:cs typeface="Plus Jakarta Sans" pitchFamily="34" charset="-120"/>
              </a:rPr>
              <a:t>정확성을 속도보다 우선했다</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588691"/>
          <a:ext cx="10553700" cy="2386707"/>
        </p:xfrm>
        <a:graphic>
          <a:graphicData uri="http://schemas.openxmlformats.org/drawingml/2006/table">
            <a:tbl>
              <a:tblPr/>
              <a:tblGrid>
                <a:gridCol w="2532888"/>
                <a:gridCol w="4010406"/>
                <a:gridCol w="4010406"/>
              </a:tblGrid>
              <a:tr h="359271">
                <a:tc>
                  <a:txBody>
                    <a:bodyPr/>
                    <a:lstStyle/>
                    <a:p>
                      <a:pPr indent="0" marL="0">
                        <a:lnSpc>
                          <a:spcPts val="1820"/>
                        </a:lnSpc>
                        <a:buNone/>
                      </a:pPr>
                      <a:r>
                        <a:rPr lang="en-US" sz="1300" b="1" dirty="0">
                          <a:solidFill>
                            <a:srgbClr val="101828"/>
                          </a:solidFill>
                          <a:latin typeface="Inter" pitchFamily="34" charset="0"/>
                          <a:ea typeface="Inter" pitchFamily="34" charset="-122"/>
                          <a:cs typeface="Inter" pitchFamily="34" charset="-120"/>
                        </a:rPr>
                        <a:t>한계</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01828"/>
                          </a:solidFill>
                          <a:latin typeface="Inter" pitchFamily="34" charset="0"/>
                          <a:ea typeface="Inter" pitchFamily="34" charset="-122"/>
                          <a:cs typeface="Inter" pitchFamily="34" charset="-120"/>
                        </a:rPr>
                        <a:t>현황 (수치)</a:t>
                      </a:r>
                      <a:endParaRPr lang="en-US" sz="1300" dirty="0">
                        <a:latin typeface="Inter" charset="0"/>
                        <a:ea typeface="Inter" charset="0"/>
                        <a:cs typeface="Inter"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75CD3"/>
                          </a:solidFill>
                          <a:latin typeface="Inter" pitchFamily="34" charset="0"/>
                          <a:ea typeface="Inter" pitchFamily="34" charset="-122"/>
                          <a:cs typeface="Inter" pitchFamily="34" charset="-120"/>
                        </a:rPr>
                        <a:t>선택과 이유</a:t>
                      </a:r>
                      <a:endParaRPr lang="en-US" sz="1300" dirty="0">
                        <a:latin typeface="Inter" charset="0"/>
                        <a:ea typeface="Inter" charset="0"/>
                        <a:cs typeface="Inter"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475467"/>
                          </a:solidFill>
                          <a:latin typeface="Inter" pitchFamily="34" charset="0"/>
                          <a:ea typeface="Inter" pitchFamily="34" charset="-122"/>
                          <a:cs typeface="Inter" pitchFamily="34" charset="-120"/>
                        </a:rPr>
                        <a:t>공식 데이터에 없는 질문</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75467"/>
                          </a:solidFill>
                          <a:latin typeface="Inter" pitchFamily="34" charset="0"/>
                          <a:ea typeface="Inter" pitchFamily="34" charset="-122"/>
                          <a:cs typeface="Inter" pitchFamily="34" charset="-120"/>
                        </a:rPr>
                        <a:t>차량 침수 탈출 요령 등이 행동요령 API 4종에 없음</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75467"/>
                          </a:solidFill>
                          <a:latin typeface="Inter" pitchFamily="34" charset="0"/>
                          <a:ea typeface="Inter" pitchFamily="34" charset="-122"/>
                          <a:cs typeface="Inter" pitchFamily="34" charset="-120"/>
                        </a:rPr>
                        <a:t>지어내지 않고 “정보 없음”으로 답함</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475467"/>
                          </a:solidFill>
                          <a:latin typeface="Inter" pitchFamily="34" charset="0"/>
                          <a:ea typeface="Inter" pitchFamily="34" charset="-122"/>
                          <a:cs typeface="Inter" pitchFamily="34" charset="-120"/>
                        </a:rPr>
                        <a:t>최종 답이 느리다</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01828"/>
                          </a:solidFill>
                          <a:latin typeface="Inter" pitchFamily="34" charset="0"/>
                          <a:ea typeface="Inter" pitchFamily="34" charset="-122"/>
                          <a:cs typeface="Inter" pitchFamily="34" charset="-120"/>
                        </a:rPr>
                        <a:t>평균 약 30초 (고치기 전 약 15초)</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75467"/>
                          </a:solidFill>
                          <a:latin typeface="Inter" pitchFamily="34" charset="0"/>
                          <a:ea typeface="Inter" pitchFamily="34" charset="-122"/>
                          <a:cs typeface="Inter" pitchFamily="34" charset="-120"/>
                        </a:rPr>
                        <a:t>PC에서 모델을 돌려 느리다. 대신 근거부터 먼저 보여 준다</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475467"/>
                          </a:solidFill>
                          <a:latin typeface="Inter" pitchFamily="34" charset="0"/>
                          <a:ea typeface="Inter" pitchFamily="34" charset="-122"/>
                          <a:cs typeface="Inter" pitchFamily="34" charset="-120"/>
                        </a:rPr>
                        <a:t>검증 후에야 최종 답</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75467"/>
                          </a:solidFill>
                          <a:latin typeface="Inter" pitchFamily="34" charset="0"/>
                          <a:ea typeface="Inter" pitchFamily="34" charset="-122"/>
                          <a:cs typeface="Inter" pitchFamily="34" charset="-120"/>
                        </a:rPr>
                        <a:t>첫 답 1.7초, 최종 답 12~47초</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75467"/>
                          </a:solidFill>
                          <a:latin typeface="Inter" pitchFamily="34" charset="0"/>
                          <a:ea typeface="Inter" pitchFamily="34" charset="-122"/>
                          <a:cs typeface="Inter" pitchFamily="34" charset="-120"/>
                        </a:rPr>
                        <a:t>틀린 안내보다 늦은 안내가 낫다</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475467"/>
                          </a:solidFill>
                          <a:latin typeface="Inter" pitchFamily="34" charset="0"/>
                          <a:ea typeface="Inter" pitchFamily="34" charset="-122"/>
                          <a:cs typeface="Inter" pitchFamily="34" charset="-120"/>
                        </a:rPr>
                        <a:t>API 호출 한도</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75467"/>
                          </a:solidFill>
                          <a:latin typeface="Inter" pitchFamily="34" charset="0"/>
                          <a:ea typeface="Inter" pitchFamily="34" charset="-122"/>
                          <a:cs typeface="Inter" pitchFamily="34" charset="-120"/>
                        </a:rPr>
                        <a:t>API별 하루 1,000건, 현재 수십 건</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75467"/>
                          </a:solidFill>
                          <a:latin typeface="Inter" pitchFamily="34" charset="0"/>
                          <a:ea typeface="Inter" pitchFamily="34" charset="-122"/>
                          <a:cs typeface="Inter" pitchFamily="34" charset="-120"/>
                        </a:rPr>
                        <a:t>지금은 충분. 확대하면 캐시 필요</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0352">
                <a:tc>
                  <a:txBody>
                    <a:bodyPr/>
                    <a:lstStyle/>
                    <a:p>
                      <a:pPr indent="0" marL="0">
                        <a:lnSpc>
                          <a:spcPts val="1820"/>
                        </a:lnSpc>
                        <a:buNone/>
                      </a:pPr>
                      <a:r>
                        <a:rPr lang="en-US" sz="1300" dirty="0">
                          <a:solidFill>
                            <a:srgbClr val="475467"/>
                          </a:solidFill>
                          <a:latin typeface="Inter" pitchFamily="34" charset="0"/>
                          <a:ea typeface="Inter" pitchFamily="34" charset="-122"/>
                          <a:cs typeface="Inter" pitchFamily="34" charset="-120"/>
                        </a:rPr>
                        <a:t>낯선 표현은 유형을 못 잡음</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75467"/>
                          </a:solidFill>
                          <a:latin typeface="Inter" pitchFamily="34" charset="0"/>
                          <a:ea typeface="Inter" pitchFamily="34" charset="-122"/>
                          <a:cs typeface="Inter" pitchFamily="34" charset="-120"/>
                        </a:rPr>
                        <a:t>“엄청 더운데”처럼 화이트리스트에 없는 질문은 놓칠 수 있음</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75467"/>
                          </a:solidFill>
                          <a:latin typeface="Inter" pitchFamily="34" charset="0"/>
                          <a:ea typeface="Inter" pitchFamily="34" charset="-122"/>
                          <a:cs typeface="Inter" pitchFamily="34" charset="-120"/>
                        </a:rPr>
                        <a:t>지어내지 않으려고 글자 근거가 있는 유형만 인정함</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178598"/>
            <a:ext cx="4303911" cy="340320"/>
          </a:xfrm>
          <a:prstGeom prst="roundRect">
            <a:avLst>
              <a:gd name="adj" fmla="val 50000"/>
            </a:avLst>
          </a:prstGeom>
          <a:solidFill>
            <a:srgbClr val="F2F4F7"/>
          </a:solidFill>
          <a:ln/>
        </p:spPr>
        <p:txBody>
          <a:bodyPr wrap="none" lIns="0" tIns="0" rIns="0" bIns="0" rtlCol="0" anchor="ctr">
            <a:normAutofit/>
          </a:bodyPr>
          <a:lstStyle/>
          <a:p>
            <a:pPr algn="ctr" indent="0" marL="0">
              <a:lnSpc>
                <a:spcPts val="1680"/>
              </a:lnSpc>
              <a:buNone/>
            </a:pPr>
            <a:r>
              <a:rPr lang="en-US" sz="1200" b="1" dirty="0">
                <a:solidFill>
                  <a:srgbClr val="475467"/>
                </a:solidFill>
                <a:latin typeface="Inter" pitchFamily="34" charset="0"/>
                <a:ea typeface="Inter" pitchFamily="34" charset="-122"/>
                <a:cs typeface="Inter" pitchFamily="34" charset="-120"/>
              </a:rPr>
              <a:t>측정 조건: LOCAL의 8B 모델(qwen3:8b), 같은 질문 7개 × 3회</a:t>
            </a:r>
            <a:endParaRPr lang="en-US" sz="1200" dirty="0"/>
          </a:p>
        </p:txBody>
      </p:sp>
      <p:sp>
        <p:nvSpPr>
          <p:cNvPr id="8" name="Shape 4"/>
          <p:cNvSpPr/>
          <p:nvPr/>
        </p:nvSpPr>
        <p:spPr>
          <a:xfrm>
            <a:off x="812800" y="6248400"/>
            <a:ext cx="10566400" cy="6350"/>
          </a:xfrm>
          <a:prstGeom prst="rect">
            <a:avLst/>
          </a:prstGeom>
          <a:solidFill>
            <a:srgbClr val="D0D5DD"/>
          </a:solidFill>
          <a:ln/>
        </p:spPr>
      </p:sp>
      <p:sp>
        <p:nvSpPr>
          <p:cNvPr id="9" name="Text 5"/>
          <p:cNvSpPr/>
          <p:nvPr/>
        </p:nvSpPr>
        <p:spPr>
          <a:xfrm>
            <a:off x="812800" y="63754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a:t>
            </a:r>
            <a:endParaRPr lang="en-US" sz="1200" dirty="0"/>
          </a:p>
        </p:txBody>
      </p:sp>
      <p:sp>
        <p:nvSpPr>
          <p:cNvPr id="10" name="Text 6"/>
          <p:cNvSpPr/>
          <p:nvPr/>
        </p:nvSpPr>
        <p:spPr>
          <a:xfrm>
            <a:off x="4914602"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문제</a:t>
            </a:r>
            <a:endParaRPr lang="en-US" sz="1200" dirty="0"/>
          </a:p>
        </p:txBody>
      </p:sp>
      <p:sp>
        <p:nvSpPr>
          <p:cNvPr id="11" name="Text 7"/>
          <p:cNvSpPr/>
          <p:nvPr/>
        </p:nvSpPr>
        <p:spPr>
          <a:xfrm>
            <a:off x="5406926"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설계</a:t>
            </a:r>
            <a:endParaRPr lang="en-US" sz="1200" dirty="0"/>
          </a:p>
        </p:txBody>
      </p:sp>
      <p:sp>
        <p:nvSpPr>
          <p:cNvPr id="12" name="Text 8"/>
          <p:cNvSpPr/>
          <p:nvPr/>
        </p:nvSpPr>
        <p:spPr>
          <a:xfrm>
            <a:off x="5899249" y="6375400"/>
            <a:ext cx="685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시연·결과</a:t>
            </a:r>
            <a:endParaRPr lang="en-US" sz="1200" dirty="0"/>
          </a:p>
        </p:txBody>
      </p:sp>
      <p:sp>
        <p:nvSpPr>
          <p:cNvPr id="13" name="Text 9"/>
          <p:cNvSpPr/>
          <p:nvPr/>
        </p:nvSpPr>
        <p:spPr>
          <a:xfrm>
            <a:off x="6699151" y="6375400"/>
            <a:ext cx="6938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한계·개선</a:t>
            </a:r>
            <a:endParaRPr lang="en-US" sz="1200" dirty="0"/>
          </a:p>
        </p:txBody>
      </p:sp>
      <p:sp>
        <p:nvSpPr>
          <p:cNvPr id="14" name="Text 10"/>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981075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한계·개선 · QA로 고친 것</a:t>
            </a:r>
            <a:endParaRPr lang="en-US" sz="1400" dirty="0"/>
          </a:p>
        </p:txBody>
      </p:sp>
      <p:sp>
        <p:nvSpPr>
          <p:cNvPr id="5" name="Text 2"/>
          <p:cNvSpPr/>
          <p:nvPr>
            <p:ph type="title"/>
          </p:nvPr>
        </p:nvSpPr>
        <p:spPr>
          <a:xfrm>
            <a:off x="812800" y="934641"/>
            <a:ext cx="981075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Plus Jakarta Sans" pitchFamily="34" charset="0"/>
                <a:ea typeface="Plus Jakarta Sans" pitchFamily="34" charset="-122"/>
                <a:cs typeface="Plus Jakarta Sans" pitchFamily="34" charset="-120"/>
              </a:rPr>
              <a:t>QA를 통해 4가지를 고쳤다</a:t>
            </a:r>
            <a:endParaRPr lang="en-US" sz="3000" dirty="0"/>
          </a:p>
        </p:txBody>
      </p:sp>
      <p:sp>
        <p:nvSpPr>
          <p:cNvPr id="6" name="Shape 3"/>
          <p:cNvSpPr/>
          <p:nvPr/>
        </p:nvSpPr>
        <p:spPr>
          <a:xfrm>
            <a:off x="819150" y="1582341"/>
            <a:ext cx="5168900" cy="1760141"/>
          </a:xfrm>
          <a:prstGeom prst="roundRect">
            <a:avLst>
              <a:gd name="adj" fmla="val 5411"/>
            </a:avLst>
          </a:prstGeom>
          <a:solidFill>
            <a:srgbClr val="FFFFFF"/>
          </a:solidFill>
          <a:ln w="12700">
            <a:solidFill>
              <a:srgbClr val="C0CCE0"/>
            </a:solidFill>
            <a:prstDash val="solid"/>
          </a:ln>
        </p:spPr>
      </p:sp>
      <p:sp>
        <p:nvSpPr>
          <p:cNvPr id="7" name="Text 4"/>
          <p:cNvSpPr/>
          <p:nvPr/>
        </p:nvSpPr>
        <p:spPr>
          <a:xfrm>
            <a:off x="1054100" y="1791891"/>
            <a:ext cx="483997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8"/>
                </a:solidFill>
                <a:latin typeface="Plus Jakarta Sans" pitchFamily="34" charset="0"/>
                <a:ea typeface="Plus Jakarta Sans" pitchFamily="34" charset="-122"/>
                <a:cs typeface="Plus Jakarta Sans" pitchFamily="34" charset="-120"/>
              </a:rPr>
              <a:t>답변 품질 QA</a:t>
            </a:r>
            <a:endParaRPr lang="en-US" sz="1900" dirty="0"/>
          </a:p>
        </p:txBody>
      </p:sp>
      <p:sp>
        <p:nvSpPr>
          <p:cNvPr id="8" name="Text 5"/>
          <p:cNvSpPr/>
          <p:nvPr/>
        </p:nvSpPr>
        <p:spPr>
          <a:xfrm>
            <a:off x="1054100" y="2157611"/>
            <a:ext cx="483997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75467"/>
                </a:solidFill>
                <a:latin typeface="Inter" pitchFamily="34" charset="0"/>
                <a:ea typeface="Inter" pitchFamily="34" charset="-122"/>
                <a:cs typeface="Inter" pitchFamily="34" charset="-120"/>
              </a:rPr>
              <a:t>중복 문장, 섞인 문장, 개발자 말투를 잡고 코드로 검증한다.</a:t>
            </a:r>
            <a:endParaRPr lang="en-US" sz="1400" dirty="0"/>
          </a:p>
        </p:txBody>
      </p:sp>
      <p:sp>
        <p:nvSpPr>
          <p:cNvPr id="9" name="Text 6"/>
          <p:cNvSpPr/>
          <p:nvPr/>
        </p:nvSpPr>
        <p:spPr>
          <a:xfrm>
            <a:off x="1054100" y="2843411"/>
            <a:ext cx="1472307" cy="289520"/>
          </a:xfrm>
          <a:custGeom>
            <a:avLst/>
            <a:gdLst/>
            <a:ahLst/>
            <a:cxnLst/>
            <a:rect l="l" t="t" r="r" b="b"/>
            <a:pathLst>
              <a:path w="1472307" h="289520">
                <a:moveTo>
                  <a:pt x="144760" y="0"/>
                </a:moveTo>
                <a:lnTo>
                  <a:pt x="1327547" y="0"/>
                </a:lnTo>
                <a:arcTo hR="144760" wR="144760" stAng="16200000" swAng="5400000"/>
                <a:lnTo>
                  <a:pt x="1472307" y="144760"/>
                </a:lnTo>
                <a:arcTo hR="144760" wR="144760" stAng="0" swAng="5400000"/>
                <a:lnTo>
                  <a:pt x="144760" y="289520"/>
                </a:lnTo>
                <a:arcTo hR="144760" wR="144760" stAng="5400000" swAng="5400000"/>
                <a:lnTo>
                  <a:pt x="0" y="144760"/>
                </a:lnTo>
                <a:arcTo hR="144760" wR="144760" stAng="10800000" swAng="5400000"/>
                <a:close/>
              </a:path>
            </a:pathLst>
          </a:custGeom>
          <a:solidFill>
            <a:srgbClr val="EFF8FF"/>
          </a:solidFill>
          <a:ln/>
        </p:spPr>
        <p:txBody>
          <a:bodyPr wrap="none" lIns="0" tIns="0" rIns="0" bIns="0" rtlCol="0" anchor="ctr">
            <a:normAutofit/>
          </a:bodyPr>
          <a:lstStyle/>
          <a:p>
            <a:pPr algn="ctr" indent="0" marL="0">
              <a:lnSpc>
                <a:spcPts val="1680"/>
              </a:lnSpc>
              <a:buNone/>
            </a:pPr>
            <a:r>
              <a:rPr lang="en-US" sz="1200" b="1" dirty="0">
                <a:solidFill>
                  <a:srgbClr val="175CD3"/>
                </a:solidFill>
                <a:latin typeface="Inter" pitchFamily="34" charset="0"/>
                <a:ea typeface="Inter" pitchFamily="34" charset="-122"/>
                <a:cs typeface="Inter" pitchFamily="34" charset="-120"/>
              </a:rPr>
              <a:t>측정: 중복 문장 비율</a:t>
            </a:r>
            <a:endParaRPr lang="en-US" sz="1200" dirty="0"/>
          </a:p>
        </p:txBody>
      </p:sp>
      <p:sp>
        <p:nvSpPr>
          <p:cNvPr id="10" name="Shape 7"/>
          <p:cNvSpPr/>
          <p:nvPr/>
        </p:nvSpPr>
        <p:spPr>
          <a:xfrm>
            <a:off x="6203950" y="1582341"/>
            <a:ext cx="5168900" cy="1760141"/>
          </a:xfrm>
          <a:prstGeom prst="roundRect">
            <a:avLst>
              <a:gd name="adj" fmla="val 5411"/>
            </a:avLst>
          </a:prstGeom>
          <a:solidFill>
            <a:srgbClr val="FFFFFF"/>
          </a:solidFill>
          <a:ln w="12700">
            <a:solidFill>
              <a:srgbClr val="C0CCE0"/>
            </a:solidFill>
            <a:prstDash val="solid"/>
          </a:ln>
        </p:spPr>
      </p:sp>
      <p:sp>
        <p:nvSpPr>
          <p:cNvPr id="11" name="Text 8"/>
          <p:cNvSpPr/>
          <p:nvPr/>
        </p:nvSpPr>
        <p:spPr>
          <a:xfrm>
            <a:off x="6438900" y="1791891"/>
            <a:ext cx="483997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8"/>
                </a:solidFill>
                <a:latin typeface="Plus Jakarta Sans" pitchFamily="34" charset="0"/>
                <a:ea typeface="Plus Jakarta Sans" pitchFamily="34" charset="-122"/>
                <a:cs typeface="Plus Jakarta Sans" pitchFamily="34" charset="-120"/>
              </a:rPr>
              <a:t>실패 원인 분류</a:t>
            </a:r>
            <a:endParaRPr lang="en-US" sz="1900" dirty="0"/>
          </a:p>
        </p:txBody>
      </p:sp>
      <p:sp>
        <p:nvSpPr>
          <p:cNvPr id="12" name="Text 9"/>
          <p:cNvSpPr/>
          <p:nvPr/>
        </p:nvSpPr>
        <p:spPr>
          <a:xfrm>
            <a:off x="6438900" y="2157611"/>
            <a:ext cx="483997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75467"/>
                </a:solidFill>
                <a:latin typeface="Inter" pitchFamily="34" charset="0"/>
                <a:ea typeface="Inter" pitchFamily="34" charset="-122"/>
                <a:cs typeface="Inter" pitchFamily="34" charset="-120"/>
              </a:rPr>
              <a:t>“정보 없음”과 “조회 실패”를 구분하고, 실패는 원인별로 나눠 알려 준다.</a:t>
            </a:r>
            <a:endParaRPr lang="en-US" sz="1400" dirty="0"/>
          </a:p>
        </p:txBody>
      </p:sp>
      <p:sp>
        <p:nvSpPr>
          <p:cNvPr id="13" name="Text 10"/>
          <p:cNvSpPr/>
          <p:nvPr/>
        </p:nvSpPr>
        <p:spPr>
          <a:xfrm>
            <a:off x="6438900" y="2843411"/>
            <a:ext cx="1472307" cy="289520"/>
          </a:xfrm>
          <a:custGeom>
            <a:avLst/>
            <a:gdLst/>
            <a:ahLst/>
            <a:cxnLst/>
            <a:rect l="l" t="t" r="r" b="b"/>
            <a:pathLst>
              <a:path w="1472307" h="289520">
                <a:moveTo>
                  <a:pt x="144760" y="0"/>
                </a:moveTo>
                <a:lnTo>
                  <a:pt x="1327547" y="0"/>
                </a:lnTo>
                <a:arcTo hR="144760" wR="144760" stAng="16200000" swAng="5400000"/>
                <a:lnTo>
                  <a:pt x="1472307" y="144760"/>
                </a:lnTo>
                <a:arcTo hR="144760" wR="144760" stAng="0" swAng="5400000"/>
                <a:lnTo>
                  <a:pt x="144760" y="289520"/>
                </a:lnTo>
                <a:arcTo hR="144760" wR="144760" stAng="5400000" swAng="5400000"/>
                <a:lnTo>
                  <a:pt x="0" y="144760"/>
                </a:lnTo>
                <a:arcTo hR="144760" wR="144760" stAng="10800000" swAng="5400000"/>
                <a:close/>
              </a:path>
            </a:pathLst>
          </a:custGeom>
          <a:solidFill>
            <a:srgbClr val="EFF8FF"/>
          </a:solidFill>
          <a:ln/>
        </p:spPr>
        <p:txBody>
          <a:bodyPr wrap="none" lIns="0" tIns="0" rIns="0" bIns="0" rtlCol="0" anchor="ctr">
            <a:normAutofit/>
          </a:bodyPr>
          <a:lstStyle/>
          <a:p>
            <a:pPr algn="ctr" indent="0" marL="0">
              <a:lnSpc>
                <a:spcPts val="1680"/>
              </a:lnSpc>
              <a:buNone/>
            </a:pPr>
            <a:r>
              <a:rPr lang="en-US" sz="1200" b="1" dirty="0">
                <a:solidFill>
                  <a:srgbClr val="175CD3"/>
                </a:solidFill>
                <a:latin typeface="Inter" pitchFamily="34" charset="0"/>
                <a:ea typeface="Inter" pitchFamily="34" charset="-122"/>
                <a:cs typeface="Inter" pitchFamily="34" charset="-120"/>
              </a:rPr>
              <a:t>측정: 실패 원인 구분</a:t>
            </a:r>
            <a:endParaRPr lang="en-US" sz="1200" dirty="0"/>
          </a:p>
        </p:txBody>
      </p:sp>
      <p:sp>
        <p:nvSpPr>
          <p:cNvPr id="14" name="Shape 11"/>
          <p:cNvSpPr/>
          <p:nvPr/>
        </p:nvSpPr>
        <p:spPr>
          <a:xfrm>
            <a:off x="819150" y="3558381"/>
            <a:ext cx="5168900" cy="1760141"/>
          </a:xfrm>
          <a:prstGeom prst="roundRect">
            <a:avLst>
              <a:gd name="adj" fmla="val 5411"/>
            </a:avLst>
          </a:prstGeom>
          <a:solidFill>
            <a:srgbClr val="FFFFFF"/>
          </a:solidFill>
          <a:ln w="12700">
            <a:solidFill>
              <a:srgbClr val="C0CCE0"/>
            </a:solidFill>
            <a:prstDash val="solid"/>
          </a:ln>
        </p:spPr>
      </p:sp>
      <p:sp>
        <p:nvSpPr>
          <p:cNvPr id="15" name="Text 12"/>
          <p:cNvSpPr/>
          <p:nvPr/>
        </p:nvSpPr>
        <p:spPr>
          <a:xfrm>
            <a:off x="1054100" y="3767931"/>
            <a:ext cx="483997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8"/>
                </a:solidFill>
                <a:latin typeface="Plus Jakarta Sans" pitchFamily="34" charset="0"/>
                <a:ea typeface="Plus Jakarta Sans" pitchFamily="34" charset="-122"/>
                <a:cs typeface="Plus Jakarta Sans" pitchFamily="34" charset="-120"/>
              </a:rPr>
              <a:t>단계별 표시</a:t>
            </a:r>
            <a:endParaRPr lang="en-US" sz="1900" dirty="0"/>
          </a:p>
        </p:txBody>
      </p:sp>
      <p:sp>
        <p:nvSpPr>
          <p:cNvPr id="16" name="Text 13"/>
          <p:cNvSpPr/>
          <p:nvPr/>
        </p:nvSpPr>
        <p:spPr>
          <a:xfrm>
            <a:off x="1054100" y="4133652"/>
            <a:ext cx="483997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75467"/>
                </a:solidFill>
                <a:latin typeface="Inter" pitchFamily="34" charset="0"/>
                <a:ea typeface="Inter" pitchFamily="34" charset="-122"/>
                <a:cs typeface="Inter" pitchFamily="34" charset="-120"/>
              </a:rPr>
              <a:t>판단 → 근거 → 요약 정보 → 최종 답 순서로, 확인된 것부터 먼저 보여 준다.</a:t>
            </a:r>
            <a:endParaRPr lang="en-US" sz="1400" dirty="0"/>
          </a:p>
        </p:txBody>
      </p:sp>
      <p:sp>
        <p:nvSpPr>
          <p:cNvPr id="17" name="Text 14"/>
          <p:cNvSpPr/>
          <p:nvPr/>
        </p:nvSpPr>
        <p:spPr>
          <a:xfrm>
            <a:off x="1054100" y="4819452"/>
            <a:ext cx="2558752" cy="289520"/>
          </a:xfrm>
          <a:custGeom>
            <a:avLst/>
            <a:gdLst/>
            <a:ahLst/>
            <a:cxnLst/>
            <a:rect l="l" t="t" r="r" b="b"/>
            <a:pathLst>
              <a:path w="2558752" h="289520">
                <a:moveTo>
                  <a:pt x="144760" y="0"/>
                </a:moveTo>
                <a:lnTo>
                  <a:pt x="2413992" y="0"/>
                </a:lnTo>
                <a:arcTo hR="144760" wR="144760" stAng="16200000" swAng="5400000"/>
                <a:lnTo>
                  <a:pt x="2558752" y="144760"/>
                </a:lnTo>
                <a:arcTo hR="144760" wR="144760" stAng="0" swAng="5400000"/>
                <a:lnTo>
                  <a:pt x="144760" y="289520"/>
                </a:lnTo>
                <a:arcTo hR="144760" wR="144760" stAng="5400000" swAng="5400000"/>
                <a:lnTo>
                  <a:pt x="0" y="144760"/>
                </a:lnTo>
                <a:arcTo hR="144760" wR="144760" stAng="10800000" swAng="5400000"/>
                <a:close/>
              </a:path>
            </a:pathLst>
          </a:custGeom>
          <a:solidFill>
            <a:srgbClr val="EFF8FF"/>
          </a:solidFill>
          <a:ln/>
        </p:spPr>
        <p:txBody>
          <a:bodyPr wrap="none" lIns="0" tIns="0" rIns="0" bIns="0" rtlCol="0" anchor="ctr">
            <a:normAutofit/>
          </a:bodyPr>
          <a:lstStyle/>
          <a:p>
            <a:pPr algn="ctr" indent="0" marL="0">
              <a:lnSpc>
                <a:spcPts val="1680"/>
              </a:lnSpc>
              <a:buNone/>
            </a:pPr>
            <a:r>
              <a:rPr lang="en-US" sz="1200" b="1" dirty="0">
                <a:solidFill>
                  <a:srgbClr val="175CD3"/>
                </a:solidFill>
                <a:latin typeface="Inter" pitchFamily="34" charset="0"/>
                <a:ea typeface="Inter" pitchFamily="34" charset="-122"/>
                <a:cs typeface="Inter" pitchFamily="34" charset="-120"/>
              </a:rPr>
              <a:t>측정: 첫 답이 보이기까지 · 최종 답까지</a:t>
            </a:r>
            <a:endParaRPr lang="en-US" sz="1200" dirty="0"/>
          </a:p>
        </p:txBody>
      </p:sp>
      <p:sp>
        <p:nvSpPr>
          <p:cNvPr id="18" name="Shape 15"/>
          <p:cNvSpPr/>
          <p:nvPr/>
        </p:nvSpPr>
        <p:spPr>
          <a:xfrm>
            <a:off x="6203950" y="3558381"/>
            <a:ext cx="5168900" cy="1760141"/>
          </a:xfrm>
          <a:prstGeom prst="roundRect">
            <a:avLst>
              <a:gd name="adj" fmla="val 5411"/>
            </a:avLst>
          </a:prstGeom>
          <a:solidFill>
            <a:srgbClr val="FFFFFF"/>
          </a:solidFill>
          <a:ln w="12700">
            <a:solidFill>
              <a:srgbClr val="C0CCE0"/>
            </a:solidFill>
            <a:prstDash val="solid"/>
          </a:ln>
        </p:spPr>
      </p:sp>
      <p:sp>
        <p:nvSpPr>
          <p:cNvPr id="19" name="Text 16"/>
          <p:cNvSpPr/>
          <p:nvPr/>
        </p:nvSpPr>
        <p:spPr>
          <a:xfrm>
            <a:off x="6438900" y="3767931"/>
            <a:ext cx="483997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8"/>
                </a:solidFill>
                <a:latin typeface="Plus Jakarta Sans" pitchFamily="34" charset="0"/>
                <a:ea typeface="Plus Jakarta Sans" pitchFamily="34" charset="-122"/>
                <a:cs typeface="Plus Jakarta Sans" pitchFamily="34" charset="-120"/>
              </a:rPr>
              <a:t>평가·검증 체계</a:t>
            </a:r>
            <a:endParaRPr lang="en-US" sz="1900" dirty="0"/>
          </a:p>
        </p:txBody>
      </p:sp>
      <p:sp>
        <p:nvSpPr>
          <p:cNvPr id="20" name="Text 17"/>
          <p:cNvSpPr/>
          <p:nvPr/>
        </p:nvSpPr>
        <p:spPr>
          <a:xfrm>
            <a:off x="6438900" y="4133652"/>
            <a:ext cx="483997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75467"/>
                </a:solidFill>
                <a:latin typeface="Inter" pitchFamily="34" charset="0"/>
                <a:ea typeface="Inter" pitchFamily="34" charset="-122"/>
                <a:cs typeface="Inter" pitchFamily="34" charset="-120"/>
              </a:rPr>
              <a:t>단위 테스트와 평가 질문 세트로, 고칠 때마다 예전에 되던 것이 깨지지 않았는지 확인한다.</a:t>
            </a:r>
            <a:endParaRPr lang="en-US" sz="1400" dirty="0"/>
          </a:p>
        </p:txBody>
      </p:sp>
      <p:sp>
        <p:nvSpPr>
          <p:cNvPr id="21" name="Text 18"/>
          <p:cNvSpPr/>
          <p:nvPr/>
        </p:nvSpPr>
        <p:spPr>
          <a:xfrm>
            <a:off x="6438900" y="4819452"/>
            <a:ext cx="1993106" cy="289520"/>
          </a:xfrm>
          <a:custGeom>
            <a:avLst/>
            <a:gdLst/>
            <a:ahLst/>
            <a:cxnLst/>
            <a:rect l="l" t="t" r="r" b="b"/>
            <a:pathLst>
              <a:path w="1993106" h="289520">
                <a:moveTo>
                  <a:pt x="144760" y="0"/>
                </a:moveTo>
                <a:lnTo>
                  <a:pt x="1848346" y="0"/>
                </a:lnTo>
                <a:arcTo hR="144760" wR="144760" stAng="16200000" swAng="5400000"/>
                <a:lnTo>
                  <a:pt x="1993106" y="144760"/>
                </a:lnTo>
                <a:arcTo hR="144760" wR="144760" stAng="0" swAng="5400000"/>
                <a:lnTo>
                  <a:pt x="144760" y="289520"/>
                </a:lnTo>
                <a:arcTo hR="144760" wR="144760" stAng="5400000" swAng="5400000"/>
                <a:lnTo>
                  <a:pt x="0" y="144760"/>
                </a:lnTo>
                <a:arcTo hR="144760" wR="144760" stAng="10800000" swAng="5400000"/>
                <a:close/>
              </a:path>
            </a:pathLst>
          </a:custGeom>
          <a:solidFill>
            <a:srgbClr val="EFF8FF"/>
          </a:solidFill>
          <a:ln/>
        </p:spPr>
        <p:txBody>
          <a:bodyPr wrap="none" lIns="0" tIns="0" rIns="0" bIns="0" rtlCol="0" anchor="ctr">
            <a:normAutofit/>
          </a:bodyPr>
          <a:lstStyle/>
          <a:p>
            <a:pPr algn="ctr" indent="0" marL="0">
              <a:lnSpc>
                <a:spcPts val="1680"/>
              </a:lnSpc>
              <a:buNone/>
            </a:pPr>
            <a:r>
              <a:rPr lang="en-US" sz="1200" b="1" dirty="0">
                <a:solidFill>
                  <a:srgbClr val="175CD3"/>
                </a:solidFill>
                <a:latin typeface="Inter" pitchFamily="34" charset="0"/>
                <a:ea typeface="Inter" pitchFamily="34" charset="-122"/>
                <a:cs typeface="Inter" pitchFamily="34" charset="-120"/>
              </a:rPr>
              <a:t>측정: 평가 통과 · 자동 테스트</a:t>
            </a:r>
            <a:endParaRPr lang="en-US" sz="1200" dirty="0"/>
          </a:p>
        </p:txBody>
      </p:sp>
      <p:sp>
        <p:nvSpPr>
          <p:cNvPr id="22" name="Shape 19"/>
          <p:cNvSpPr/>
          <p:nvPr/>
        </p:nvSpPr>
        <p:spPr>
          <a:xfrm>
            <a:off x="812800" y="6248400"/>
            <a:ext cx="10566400" cy="6350"/>
          </a:xfrm>
          <a:prstGeom prst="rect">
            <a:avLst/>
          </a:prstGeom>
          <a:solidFill>
            <a:srgbClr val="D0D5DD"/>
          </a:solidFill>
          <a:ln/>
        </p:spPr>
      </p:sp>
      <p:sp>
        <p:nvSpPr>
          <p:cNvPr id="23" name="Text 20"/>
          <p:cNvSpPr/>
          <p:nvPr/>
        </p:nvSpPr>
        <p:spPr>
          <a:xfrm>
            <a:off x="812800" y="63754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a:t>
            </a:r>
            <a:endParaRPr lang="en-US" sz="1200" dirty="0"/>
          </a:p>
        </p:txBody>
      </p:sp>
      <p:sp>
        <p:nvSpPr>
          <p:cNvPr id="24" name="Text 21"/>
          <p:cNvSpPr/>
          <p:nvPr/>
        </p:nvSpPr>
        <p:spPr>
          <a:xfrm>
            <a:off x="4914602"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문제</a:t>
            </a:r>
            <a:endParaRPr lang="en-US" sz="1200" dirty="0"/>
          </a:p>
        </p:txBody>
      </p:sp>
      <p:sp>
        <p:nvSpPr>
          <p:cNvPr id="25" name="Text 22"/>
          <p:cNvSpPr/>
          <p:nvPr/>
        </p:nvSpPr>
        <p:spPr>
          <a:xfrm>
            <a:off x="5406926"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설계</a:t>
            </a:r>
            <a:endParaRPr lang="en-US" sz="1200" dirty="0"/>
          </a:p>
        </p:txBody>
      </p:sp>
      <p:sp>
        <p:nvSpPr>
          <p:cNvPr id="26" name="Text 23"/>
          <p:cNvSpPr/>
          <p:nvPr/>
        </p:nvSpPr>
        <p:spPr>
          <a:xfrm>
            <a:off x="5899249" y="6375400"/>
            <a:ext cx="685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시연·결과</a:t>
            </a:r>
            <a:endParaRPr lang="en-US" sz="1200" dirty="0"/>
          </a:p>
        </p:txBody>
      </p:sp>
      <p:sp>
        <p:nvSpPr>
          <p:cNvPr id="27" name="Text 24"/>
          <p:cNvSpPr/>
          <p:nvPr/>
        </p:nvSpPr>
        <p:spPr>
          <a:xfrm>
            <a:off x="6699151" y="6375400"/>
            <a:ext cx="6938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한계·개선</a:t>
            </a:r>
            <a:endParaRPr lang="en-US" sz="1200" dirty="0"/>
          </a:p>
        </p:txBody>
      </p:sp>
      <p:sp>
        <p:nvSpPr>
          <p:cNvPr id="28" name="Text 25"/>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981075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한계·개선 · 다음 계획</a:t>
            </a:r>
            <a:endParaRPr lang="en-US" sz="1400" dirty="0"/>
          </a:p>
        </p:txBody>
      </p:sp>
      <p:sp>
        <p:nvSpPr>
          <p:cNvPr id="5" name="Text 2"/>
          <p:cNvSpPr/>
          <p:nvPr/>
        </p:nvSpPr>
        <p:spPr>
          <a:xfrm>
            <a:off x="812800" y="934641"/>
            <a:ext cx="9810750" cy="463550"/>
          </a:xfrm>
          <a:prstGeom prst="rect">
            <a:avLst/>
          </a:prstGeom>
          <a:noFill/>
          <a:ln/>
        </p:spPr>
        <p:txBody>
          <a:bodyPr wrap="square" lIns="0" tIns="0" rIns="0" bIns="0" rtlCol="0" anchor="t">
            <a:normAutofit/>
          </a:bodyPr>
          <a:lstStyle/>
          <a:p>
            <a:pPr algn="l" indent="0" marL="0">
              <a:lnSpc>
                <a:spcPts val="3450"/>
              </a:lnSpc>
              <a:buNone/>
            </a:pPr>
            <a:r>
              <a:rPr lang="en-US" sz="3000" b="1" dirty="0">
                <a:solidFill>
                  <a:srgbClr val="101828"/>
                </a:solidFill>
                <a:latin typeface="Plus Jakarta Sans" pitchFamily="34" charset="0"/>
                <a:ea typeface="Plus Jakarta Sans" pitchFamily="34" charset="-122"/>
                <a:cs typeface="Plus Jakarta Sans" pitchFamily="34" charset="-120"/>
              </a:rPr>
              <a:t>다음에 할 일 4가지</a:t>
            </a:r>
            <a:endParaRPr lang="en-US" sz="3000" dirty="0"/>
          </a:p>
        </p:txBody>
      </p:sp>
      <p:sp>
        <p:nvSpPr>
          <p:cNvPr id="6" name="Shape 3"/>
          <p:cNvSpPr/>
          <p:nvPr/>
        </p:nvSpPr>
        <p:spPr>
          <a:xfrm>
            <a:off x="819150" y="1556941"/>
            <a:ext cx="5168900" cy="1199952"/>
          </a:xfrm>
          <a:prstGeom prst="roundRect">
            <a:avLst>
              <a:gd name="adj" fmla="val 7938"/>
            </a:avLst>
          </a:prstGeom>
          <a:solidFill>
            <a:srgbClr val="FFFFFF"/>
          </a:solidFill>
          <a:ln w="12700">
            <a:solidFill>
              <a:srgbClr val="C0CCE0"/>
            </a:solidFill>
            <a:prstDash val="solid"/>
          </a:ln>
        </p:spPr>
      </p:sp>
      <p:sp>
        <p:nvSpPr>
          <p:cNvPr id="7" name="Text 4"/>
          <p:cNvSpPr/>
          <p:nvPr/>
        </p:nvSpPr>
        <p:spPr>
          <a:xfrm>
            <a:off x="1054100" y="1741091"/>
            <a:ext cx="483997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8"/>
                </a:solidFill>
                <a:latin typeface="Plus Jakarta Sans" pitchFamily="34" charset="0"/>
                <a:ea typeface="Plus Jakarta Sans" pitchFamily="34" charset="-122"/>
                <a:cs typeface="Plus Jakarta Sans" pitchFamily="34" charset="-120"/>
              </a:rPr>
              <a:t>전국 특보 지도</a:t>
            </a:r>
            <a:endParaRPr lang="en-US" sz="1900" dirty="0"/>
          </a:p>
        </p:txBody>
      </p:sp>
      <p:sp>
        <p:nvSpPr>
          <p:cNvPr id="8" name="Text 5"/>
          <p:cNvSpPr/>
          <p:nvPr/>
        </p:nvSpPr>
        <p:spPr>
          <a:xfrm>
            <a:off x="1054100" y="2094111"/>
            <a:ext cx="4839970"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75467"/>
                </a:solidFill>
                <a:latin typeface="Inter" pitchFamily="34" charset="0"/>
                <a:ea typeface="Inter" pitchFamily="34" charset="-122"/>
                <a:cs typeface="Inter" pitchFamily="34" charset="-120"/>
              </a:rPr>
              <a:t>지금은 지역을 입력해야 한다. 특보가 난 지역을 지도에 색으로 보여 준다.</a:t>
            </a:r>
            <a:endParaRPr lang="en-US" sz="1300" dirty="0"/>
          </a:p>
        </p:txBody>
      </p:sp>
      <p:sp>
        <p:nvSpPr>
          <p:cNvPr id="9" name="Shape 6"/>
          <p:cNvSpPr/>
          <p:nvPr/>
        </p:nvSpPr>
        <p:spPr>
          <a:xfrm>
            <a:off x="6203950" y="1556941"/>
            <a:ext cx="5168900" cy="1199952"/>
          </a:xfrm>
          <a:prstGeom prst="roundRect">
            <a:avLst>
              <a:gd name="adj" fmla="val 7938"/>
            </a:avLst>
          </a:prstGeom>
          <a:solidFill>
            <a:srgbClr val="FFFFFF"/>
          </a:solidFill>
          <a:ln w="12700">
            <a:solidFill>
              <a:srgbClr val="C0CCE0"/>
            </a:solidFill>
            <a:prstDash val="solid"/>
          </a:ln>
        </p:spPr>
      </p:sp>
      <p:sp>
        <p:nvSpPr>
          <p:cNvPr id="10" name="Text 7"/>
          <p:cNvSpPr/>
          <p:nvPr/>
        </p:nvSpPr>
        <p:spPr>
          <a:xfrm>
            <a:off x="6438900" y="1741091"/>
            <a:ext cx="483997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8"/>
                </a:solidFill>
                <a:latin typeface="Plus Jakarta Sans" pitchFamily="34" charset="0"/>
                <a:ea typeface="Plus Jakarta Sans" pitchFamily="34" charset="-122"/>
                <a:cs typeface="Plus Jakarta Sans" pitchFamily="34" charset="-120"/>
              </a:rPr>
              <a:t>대피소 길찾기</a:t>
            </a:r>
            <a:endParaRPr lang="en-US" sz="1900" dirty="0"/>
          </a:p>
        </p:txBody>
      </p:sp>
      <p:sp>
        <p:nvSpPr>
          <p:cNvPr id="11" name="Text 8"/>
          <p:cNvSpPr/>
          <p:nvPr/>
        </p:nvSpPr>
        <p:spPr>
          <a:xfrm>
            <a:off x="6438900" y="2094111"/>
            <a:ext cx="4839970"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75467"/>
                </a:solidFill>
                <a:latin typeface="Inter" pitchFamily="34" charset="0"/>
                <a:ea typeface="Inter" pitchFamily="34" charset="-122"/>
                <a:cs typeface="Inter" pitchFamily="34" charset="-120"/>
              </a:rPr>
              <a:t>쉼터·대피소 안내에 카카오맵 길찾기 링크를 붙여, 바로 이동할 수 있게 한다.</a:t>
            </a:r>
            <a:endParaRPr lang="en-US" sz="1300" dirty="0"/>
          </a:p>
        </p:txBody>
      </p:sp>
      <p:sp>
        <p:nvSpPr>
          <p:cNvPr id="12" name="Shape 9"/>
          <p:cNvSpPr/>
          <p:nvPr/>
        </p:nvSpPr>
        <p:spPr>
          <a:xfrm>
            <a:off x="819150" y="2947392"/>
            <a:ext cx="5168900" cy="1199952"/>
          </a:xfrm>
          <a:prstGeom prst="roundRect">
            <a:avLst>
              <a:gd name="adj" fmla="val 7938"/>
            </a:avLst>
          </a:prstGeom>
          <a:solidFill>
            <a:srgbClr val="FFFFFF"/>
          </a:solidFill>
          <a:ln w="12700">
            <a:solidFill>
              <a:srgbClr val="C0CCE0"/>
            </a:solidFill>
            <a:prstDash val="solid"/>
          </a:ln>
        </p:spPr>
      </p:sp>
      <p:sp>
        <p:nvSpPr>
          <p:cNvPr id="13" name="Text 10"/>
          <p:cNvSpPr/>
          <p:nvPr/>
        </p:nvSpPr>
        <p:spPr>
          <a:xfrm>
            <a:off x="1054100" y="3131542"/>
            <a:ext cx="483997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8"/>
                </a:solidFill>
                <a:latin typeface="Plus Jakarta Sans" pitchFamily="34" charset="0"/>
                <a:ea typeface="Plus Jakarta Sans" pitchFamily="34" charset="-122"/>
                <a:cs typeface="Plus Jakarta Sans" pitchFamily="34" charset="-120"/>
              </a:rPr>
              <a:t>문장 단위 검증</a:t>
            </a:r>
            <a:endParaRPr lang="en-US" sz="1900" dirty="0"/>
          </a:p>
        </p:txBody>
      </p:sp>
      <p:sp>
        <p:nvSpPr>
          <p:cNvPr id="14" name="Text 11"/>
          <p:cNvSpPr/>
          <p:nvPr/>
        </p:nvSpPr>
        <p:spPr>
          <a:xfrm>
            <a:off x="1054100" y="3484563"/>
            <a:ext cx="4839970"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75467"/>
                </a:solidFill>
                <a:latin typeface="Inter" pitchFamily="34" charset="0"/>
                <a:ea typeface="Inter" pitchFamily="34" charset="-122"/>
                <a:cs typeface="Inter" pitchFamily="34" charset="-120"/>
              </a:rPr>
              <a:t>지금은 답 전체를 검증한 뒤 보여 준다. 문장마다 검증하며 바로 보여 대기 시간을 줄인다.</a:t>
            </a:r>
            <a:endParaRPr lang="en-US" sz="1300" dirty="0"/>
          </a:p>
        </p:txBody>
      </p:sp>
      <p:sp>
        <p:nvSpPr>
          <p:cNvPr id="15" name="Shape 12"/>
          <p:cNvSpPr/>
          <p:nvPr/>
        </p:nvSpPr>
        <p:spPr>
          <a:xfrm>
            <a:off x="6203950" y="2947392"/>
            <a:ext cx="5168900" cy="1199952"/>
          </a:xfrm>
          <a:prstGeom prst="roundRect">
            <a:avLst>
              <a:gd name="adj" fmla="val 7938"/>
            </a:avLst>
          </a:prstGeom>
          <a:solidFill>
            <a:srgbClr val="FFFFFF"/>
          </a:solidFill>
          <a:ln w="12700">
            <a:solidFill>
              <a:srgbClr val="C0CCE0"/>
            </a:solidFill>
            <a:prstDash val="solid"/>
          </a:ln>
        </p:spPr>
      </p:sp>
      <p:sp>
        <p:nvSpPr>
          <p:cNvPr id="16" name="Text 13"/>
          <p:cNvSpPr/>
          <p:nvPr/>
        </p:nvSpPr>
        <p:spPr>
          <a:xfrm>
            <a:off x="6438900" y="3131542"/>
            <a:ext cx="483997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8"/>
                </a:solidFill>
                <a:latin typeface="Plus Jakarta Sans" pitchFamily="34" charset="0"/>
                <a:ea typeface="Plus Jakarta Sans" pitchFamily="34" charset="-122"/>
                <a:cs typeface="Plus Jakarta Sans" pitchFamily="34" charset="-120"/>
              </a:rPr>
              <a:t>이름 · 표현 이해 확대</a:t>
            </a:r>
            <a:endParaRPr lang="en-US" sz="1900" dirty="0"/>
          </a:p>
        </p:txBody>
      </p:sp>
      <p:sp>
        <p:nvSpPr>
          <p:cNvPr id="17" name="Text 14"/>
          <p:cNvSpPr/>
          <p:nvPr/>
        </p:nvSpPr>
        <p:spPr>
          <a:xfrm>
            <a:off x="6438900" y="3484563"/>
            <a:ext cx="4839970"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75467"/>
                </a:solidFill>
                <a:latin typeface="Inter" pitchFamily="34" charset="0"/>
                <a:ea typeface="Inter" pitchFamily="34" charset="-122"/>
                <a:cs typeface="Inter" pitchFamily="34" charset="-120"/>
              </a:rPr>
              <a:t>이름이 겹치는 지역(광주, 고성군)과 “엄청 더운데” 같은 말을 놓치지 않게, </a:t>
            </a:r>
            <a:r>
              <a:rPr lang="en-US" sz="1300" dirty="0">
                <a:solidFill>
                  <a:srgbClr val="175CD3"/>
                </a:solidFill>
                <a:latin typeface="Inter" pitchFamily="34" charset="0"/>
                <a:ea typeface="Inter" pitchFamily="34" charset="-122"/>
                <a:cs typeface="Inter" pitchFamily="34" charset="-120"/>
              </a:rPr>
              <a:t>AI</a:t>
            </a:r>
            <a:r>
              <a:rPr lang="en-US" sz="1300" dirty="0">
                <a:solidFill>
                  <a:srgbClr val="475467"/>
                </a:solidFill>
                <a:latin typeface="Inter" pitchFamily="34" charset="0"/>
                <a:ea typeface="Inter" pitchFamily="34" charset="-122"/>
                <a:cs typeface="Inter" pitchFamily="34" charset="-120"/>
              </a:rPr>
              <a:t>가 근거 문구를 인용하면 코드가 확인한다.</a:t>
            </a:r>
            <a:endParaRPr lang="en-US" sz="1300" dirty="0"/>
          </a:p>
        </p:txBody>
      </p:sp>
      <p:sp>
        <p:nvSpPr>
          <p:cNvPr id="18" name="Shape 15"/>
          <p:cNvSpPr/>
          <p:nvPr/>
        </p:nvSpPr>
        <p:spPr>
          <a:xfrm>
            <a:off x="815975" y="4334669"/>
            <a:ext cx="10560050" cy="880070"/>
          </a:xfrm>
          <a:prstGeom prst="roundRect">
            <a:avLst>
              <a:gd name="adj" fmla="val 11184"/>
            </a:avLst>
          </a:prstGeom>
          <a:solidFill>
            <a:srgbClr val="EFF8FF"/>
          </a:solidFill>
          <a:ln w="6350">
            <a:solidFill>
              <a:srgbClr val="B2DDFF"/>
            </a:solidFill>
            <a:prstDash val="solid"/>
          </a:ln>
        </p:spPr>
      </p:sp>
      <p:sp>
        <p:nvSpPr>
          <p:cNvPr id="19" name="Text 16"/>
          <p:cNvSpPr/>
          <p:nvPr/>
        </p:nvSpPr>
        <p:spPr>
          <a:xfrm>
            <a:off x="1047750" y="4490244"/>
            <a:ext cx="1039939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467"/>
                </a:solidFill>
                <a:latin typeface="Inter" pitchFamily="34" charset="0"/>
                <a:ea typeface="Inter" pitchFamily="34" charset="-122"/>
                <a:cs typeface="Inter" pitchFamily="34" charset="-120"/>
              </a:rPr>
              <a:t>한 줄 요약</a:t>
            </a:r>
            <a:endParaRPr lang="en-US" sz="1200" dirty="0"/>
          </a:p>
        </p:txBody>
      </p:sp>
      <p:sp>
        <p:nvSpPr>
          <p:cNvPr id="20" name="Text 17"/>
          <p:cNvSpPr/>
          <p:nvPr/>
        </p:nvSpPr>
        <p:spPr>
          <a:xfrm>
            <a:off x="1047750" y="4741664"/>
            <a:ext cx="10399395"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101828"/>
                </a:solidFill>
                <a:latin typeface="Plus Jakarta Sans" pitchFamily="34" charset="0"/>
                <a:ea typeface="Plus Jakarta Sans" pitchFamily="34" charset="-122"/>
                <a:cs typeface="Plus Jakarta Sans" pitchFamily="34" charset="-120"/>
              </a:rPr>
              <a:t>지금 할 일을 공식 근거로 알려 주고, </a:t>
            </a:r>
            <a:r>
              <a:rPr lang="en-US" sz="2000" b="1" dirty="0">
                <a:solidFill>
                  <a:srgbClr val="175CD3"/>
                </a:solidFill>
                <a:latin typeface="Plus Jakarta Sans" pitchFamily="34" charset="0"/>
                <a:ea typeface="Plus Jakarta Sans" pitchFamily="34" charset="-122"/>
                <a:cs typeface="Plus Jakarta Sans" pitchFamily="34" charset="-120"/>
              </a:rPr>
              <a:t>모르면 모른다고 말한다.</a:t>
            </a:r>
            <a:endParaRPr lang="en-US" sz="2000" dirty="0"/>
          </a:p>
        </p:txBody>
      </p:sp>
      <p:sp>
        <p:nvSpPr>
          <p:cNvPr id="21" name="Shape 18"/>
          <p:cNvSpPr/>
          <p:nvPr/>
        </p:nvSpPr>
        <p:spPr>
          <a:xfrm>
            <a:off x="812800" y="6248400"/>
            <a:ext cx="10566400" cy="6350"/>
          </a:xfrm>
          <a:prstGeom prst="rect">
            <a:avLst/>
          </a:prstGeom>
          <a:solidFill>
            <a:srgbClr val="D0D5DD"/>
          </a:solidFill>
          <a:ln/>
        </p:spPr>
      </p:sp>
      <p:sp>
        <p:nvSpPr>
          <p:cNvPr id="22" name="Text 19"/>
          <p:cNvSpPr/>
          <p:nvPr/>
        </p:nvSpPr>
        <p:spPr>
          <a:xfrm>
            <a:off x="812800" y="63754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a:t>
            </a:r>
            <a:endParaRPr lang="en-US" sz="1200" dirty="0"/>
          </a:p>
        </p:txBody>
      </p:sp>
      <p:sp>
        <p:nvSpPr>
          <p:cNvPr id="23" name="Text 20"/>
          <p:cNvSpPr/>
          <p:nvPr/>
        </p:nvSpPr>
        <p:spPr>
          <a:xfrm>
            <a:off x="4914602"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문제</a:t>
            </a:r>
            <a:endParaRPr lang="en-US" sz="1200" dirty="0"/>
          </a:p>
        </p:txBody>
      </p:sp>
      <p:sp>
        <p:nvSpPr>
          <p:cNvPr id="24" name="Text 21"/>
          <p:cNvSpPr/>
          <p:nvPr/>
        </p:nvSpPr>
        <p:spPr>
          <a:xfrm>
            <a:off x="5406926" y="6375400"/>
            <a:ext cx="316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설계</a:t>
            </a:r>
            <a:endParaRPr lang="en-US" sz="1200" dirty="0"/>
          </a:p>
        </p:txBody>
      </p:sp>
      <p:sp>
        <p:nvSpPr>
          <p:cNvPr id="25" name="Text 22"/>
          <p:cNvSpPr/>
          <p:nvPr/>
        </p:nvSpPr>
        <p:spPr>
          <a:xfrm>
            <a:off x="5899249" y="6375400"/>
            <a:ext cx="685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시연·결과</a:t>
            </a:r>
            <a:endParaRPr lang="en-US" sz="1200" dirty="0"/>
          </a:p>
        </p:txBody>
      </p:sp>
      <p:sp>
        <p:nvSpPr>
          <p:cNvPr id="26" name="Text 23"/>
          <p:cNvSpPr/>
          <p:nvPr/>
        </p:nvSpPr>
        <p:spPr>
          <a:xfrm>
            <a:off x="6699151" y="6375400"/>
            <a:ext cx="6938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한계·개선</a:t>
            </a:r>
            <a:endParaRPr lang="en-US" sz="1200" dirty="0"/>
          </a:p>
        </p:txBody>
      </p:sp>
      <p:sp>
        <p:nvSpPr>
          <p:cNvPr id="27" name="Text 24"/>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25781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재난문자 모아보기 · 질문 받겠습니다</a:t>
            </a:r>
            <a:endParaRPr lang="en-US" sz="1400" dirty="0"/>
          </a:p>
        </p:txBody>
      </p:sp>
      <p:sp>
        <p:nvSpPr>
          <p:cNvPr id="5" name="Text 2"/>
          <p:cNvSpPr/>
          <p:nvPr>
            <p:ph type="title"/>
          </p:nvPr>
        </p:nvSpPr>
        <p:spPr>
          <a:xfrm>
            <a:off x="812800" y="2979341"/>
            <a:ext cx="10883392" cy="919460"/>
          </a:xfrm>
          <a:prstGeom prst="rect">
            <a:avLst/>
          </a:prstGeom>
          <a:noFill/>
          <a:ln/>
        </p:spPr>
        <p:txBody>
          <a:bodyPr wrap="square" lIns="0" tIns="0" rIns="0" bIns="0" rtlCol="0" anchor="t">
            <a:normAutofit/>
          </a:bodyPr>
          <a:lstStyle/>
          <a:p>
            <a:pPr algn="l" indent="0" marL="0">
              <a:lnSpc>
                <a:spcPts val="7040"/>
              </a:lnSpc>
              <a:buNone/>
            </a:pPr>
            <a:r>
              <a:rPr lang="en-US" sz="6400" b="1" i="0" dirty="0">
                <a:solidFill>
                  <a:srgbClr val="101828"/>
                </a:solidFill>
                <a:latin typeface="Plus Jakarta Sans" pitchFamily="34" charset="0"/>
                <a:ea typeface="Plus Jakarta Sans" pitchFamily="34" charset="-122"/>
                <a:cs typeface="Plus Jakarta Sans" pitchFamily="34" charset="-120"/>
              </a:rPr>
              <a:t>감사합니다</a:t>
            </a:r>
            <a:endParaRPr lang="en-US" sz="6400" dirty="0"/>
          </a:p>
        </p:txBody>
      </p:sp>
      <p:sp>
        <p:nvSpPr>
          <p:cNvPr id="6" name="Shape 3"/>
          <p:cNvSpPr/>
          <p:nvPr/>
        </p:nvSpPr>
        <p:spPr>
          <a:xfrm>
            <a:off x="812800" y="6248400"/>
            <a:ext cx="10566400" cy="6350"/>
          </a:xfrm>
          <a:prstGeom prst="rect">
            <a:avLst/>
          </a:prstGeom>
          <a:solidFill>
            <a:srgbClr val="D0D5DD"/>
          </a:solidFill>
          <a:ln/>
        </p:spPr>
      </p:sp>
      <p:sp>
        <p:nvSpPr>
          <p:cNvPr id="7" name="Text 4"/>
          <p:cNvSpPr/>
          <p:nvPr/>
        </p:nvSpPr>
        <p:spPr>
          <a:xfrm>
            <a:off x="812800" y="637540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a:t>
            </a:r>
            <a:endParaRPr lang="en-US" sz="1200" dirty="0"/>
          </a:p>
        </p:txBody>
      </p:sp>
      <p:sp>
        <p:nvSpPr>
          <p:cNvPr id="8" name="Text 5"/>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140473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제출 가이드 항목별 상세 자료</a:t>
            </a:r>
            <a:endParaRPr lang="en-US" sz="1400" dirty="0"/>
          </a:p>
        </p:txBody>
      </p:sp>
      <p:sp>
        <p:nvSpPr>
          <p:cNvPr id="5" name="Text 2"/>
          <p:cNvSpPr/>
          <p:nvPr>
            <p:ph type="title"/>
          </p:nvPr>
        </p:nvSpPr>
        <p:spPr>
          <a:xfrm>
            <a:off x="812800" y="1729780"/>
            <a:ext cx="10883392" cy="919460"/>
          </a:xfrm>
          <a:prstGeom prst="rect">
            <a:avLst/>
          </a:prstGeom>
          <a:noFill/>
          <a:ln/>
        </p:spPr>
        <p:txBody>
          <a:bodyPr wrap="square" lIns="0" tIns="0" rIns="0" bIns="0" rtlCol="0" anchor="t">
            <a:normAutofit/>
          </a:bodyPr>
          <a:lstStyle/>
          <a:p>
            <a:pPr algn="l" indent="0" marL="0">
              <a:lnSpc>
                <a:spcPts val="7040"/>
              </a:lnSpc>
              <a:buNone/>
            </a:pPr>
            <a:r>
              <a:rPr lang="en-US" sz="6400" b="1" i="0" dirty="0">
                <a:solidFill>
                  <a:srgbClr val="101828"/>
                </a:solidFill>
                <a:latin typeface="Plus Jakarta Sans" pitchFamily="34" charset="0"/>
                <a:ea typeface="Plus Jakarta Sans" pitchFamily="34" charset="-122"/>
                <a:cs typeface="Plus Jakarta Sans" pitchFamily="34" charset="-120"/>
              </a:rPr>
              <a:t>부록</a:t>
            </a:r>
            <a:endParaRPr lang="en-US" sz="6400" dirty="0"/>
          </a:p>
        </p:txBody>
      </p:sp>
      <p:sp>
        <p:nvSpPr>
          <p:cNvPr id="6" name="Shape 3"/>
          <p:cNvSpPr/>
          <p:nvPr/>
        </p:nvSpPr>
        <p:spPr>
          <a:xfrm>
            <a:off x="819150" y="2884190"/>
            <a:ext cx="5168900" cy="472380"/>
          </a:xfrm>
          <a:prstGeom prst="roundRect">
            <a:avLst>
              <a:gd name="adj" fmla="val 20164"/>
            </a:avLst>
          </a:prstGeom>
          <a:solidFill>
            <a:srgbClr val="FFFFFF"/>
          </a:solidFill>
          <a:ln w="12700">
            <a:solidFill>
              <a:srgbClr val="C0CCE0"/>
            </a:solidFill>
            <a:prstDash val="solid"/>
          </a:ln>
        </p:spPr>
      </p:sp>
      <p:sp>
        <p:nvSpPr>
          <p:cNvPr id="7" name="Text 4"/>
          <p:cNvSpPr/>
          <p:nvPr/>
        </p:nvSpPr>
        <p:spPr>
          <a:xfrm>
            <a:off x="1003300" y="2979440"/>
            <a:ext cx="381000" cy="281880"/>
          </a:xfrm>
          <a:custGeom>
            <a:avLst/>
            <a:gdLst/>
            <a:ahLst/>
            <a:cxnLst/>
            <a:rect l="l" t="t" r="r" b="b"/>
            <a:pathLst>
              <a:path w="381000" h="281880">
                <a:moveTo>
                  <a:pt x="140940" y="0"/>
                </a:moveTo>
                <a:lnTo>
                  <a:pt x="240060" y="0"/>
                </a:lnTo>
                <a:arcTo hR="140940" wR="140940" stAng="16200000" swAng="5400000"/>
                <a:lnTo>
                  <a:pt x="381000" y="140940"/>
                </a:lnTo>
                <a:arcTo hR="140940" wR="140940" stAng="0" swAng="5400000"/>
                <a:lnTo>
                  <a:pt x="140940" y="281880"/>
                </a:lnTo>
                <a:arcTo hR="140940" wR="140940" stAng="5400000" swAng="5400000"/>
                <a:lnTo>
                  <a:pt x="0" y="140940"/>
                </a:lnTo>
                <a:arcTo hR="140940" wR="140940" stAng="10800000" swAng="5400000"/>
                <a:close/>
              </a:path>
            </a:pathLst>
          </a:custGeom>
          <a:solidFill>
            <a:srgbClr val="EFF8FF"/>
          </a:solidFill>
          <a:ln/>
        </p:spPr>
        <p:txBody>
          <a:bodyPr wrap="none" lIns="0" tIns="0" rIns="0" bIns="0" rtlCol="0" anchor="ctr">
            <a:normAutofit/>
          </a:bodyPr>
          <a:lstStyle/>
          <a:p>
            <a:pPr algn="ctr" indent="0" marL="0">
              <a:lnSpc>
                <a:spcPts val="1820"/>
              </a:lnSpc>
              <a:buNone/>
            </a:pPr>
            <a:r>
              <a:rPr lang="en-US" sz="1300" b="1" dirty="0">
                <a:solidFill>
                  <a:srgbClr val="175CD3"/>
                </a:solidFill>
                <a:latin typeface="Inter" pitchFamily="34" charset="0"/>
                <a:ea typeface="Inter" pitchFamily="34" charset="-122"/>
                <a:cs typeface="Inter" pitchFamily="34" charset="-120"/>
              </a:rPr>
              <a:t>13</a:t>
            </a:r>
            <a:endParaRPr lang="en-US" sz="1300" dirty="0"/>
          </a:p>
        </p:txBody>
      </p:sp>
      <p:sp>
        <p:nvSpPr>
          <p:cNvPr id="8" name="Text 5"/>
          <p:cNvSpPr/>
          <p:nvPr/>
        </p:nvSpPr>
        <p:spPr>
          <a:xfrm>
            <a:off x="1536700" y="2995910"/>
            <a:ext cx="230874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1828"/>
                </a:solidFill>
                <a:latin typeface="Inter" pitchFamily="34" charset="0"/>
                <a:ea typeface="Inter" pitchFamily="34" charset="-122"/>
                <a:cs typeface="Inter" pitchFamily="34" charset="-120"/>
              </a:rPr>
              <a:t>프로젝트 소개와 주요 Task</a:t>
            </a:r>
            <a:endParaRPr lang="en-US" sz="1400" dirty="0"/>
          </a:p>
        </p:txBody>
      </p:sp>
      <p:sp>
        <p:nvSpPr>
          <p:cNvPr id="9" name="Shape 6"/>
          <p:cNvSpPr/>
          <p:nvPr/>
        </p:nvSpPr>
        <p:spPr>
          <a:xfrm>
            <a:off x="819150" y="3445470"/>
            <a:ext cx="5168900" cy="472380"/>
          </a:xfrm>
          <a:prstGeom prst="roundRect">
            <a:avLst>
              <a:gd name="adj" fmla="val 20164"/>
            </a:avLst>
          </a:prstGeom>
          <a:solidFill>
            <a:srgbClr val="FFFFFF"/>
          </a:solidFill>
          <a:ln w="12700">
            <a:solidFill>
              <a:srgbClr val="C0CCE0"/>
            </a:solidFill>
            <a:prstDash val="solid"/>
          </a:ln>
        </p:spPr>
      </p:sp>
      <p:sp>
        <p:nvSpPr>
          <p:cNvPr id="10" name="Text 7"/>
          <p:cNvSpPr/>
          <p:nvPr/>
        </p:nvSpPr>
        <p:spPr>
          <a:xfrm>
            <a:off x="1003300" y="3540720"/>
            <a:ext cx="386159" cy="281880"/>
          </a:xfrm>
          <a:custGeom>
            <a:avLst/>
            <a:gdLst/>
            <a:ahLst/>
            <a:cxnLst/>
            <a:rect l="l" t="t" r="r" b="b"/>
            <a:pathLst>
              <a:path w="386159" h="281880">
                <a:moveTo>
                  <a:pt x="140940" y="0"/>
                </a:moveTo>
                <a:lnTo>
                  <a:pt x="245219" y="0"/>
                </a:lnTo>
                <a:arcTo hR="140940" wR="140940" stAng="16200000" swAng="5400000"/>
                <a:lnTo>
                  <a:pt x="386159" y="140940"/>
                </a:lnTo>
                <a:arcTo hR="140940" wR="140940" stAng="0" swAng="5400000"/>
                <a:lnTo>
                  <a:pt x="140940" y="281880"/>
                </a:lnTo>
                <a:arcTo hR="140940" wR="140940" stAng="5400000" swAng="5400000"/>
                <a:lnTo>
                  <a:pt x="0" y="140940"/>
                </a:lnTo>
                <a:arcTo hR="140940" wR="140940" stAng="10800000" swAng="5400000"/>
                <a:close/>
              </a:path>
            </a:pathLst>
          </a:custGeom>
          <a:solidFill>
            <a:srgbClr val="EFF8FF"/>
          </a:solidFill>
          <a:ln/>
        </p:spPr>
        <p:txBody>
          <a:bodyPr wrap="none" lIns="0" tIns="0" rIns="0" bIns="0" rtlCol="0" anchor="ctr">
            <a:normAutofit/>
          </a:bodyPr>
          <a:lstStyle/>
          <a:p>
            <a:pPr algn="ctr" indent="0" marL="0">
              <a:lnSpc>
                <a:spcPts val="1820"/>
              </a:lnSpc>
              <a:buNone/>
            </a:pPr>
            <a:r>
              <a:rPr lang="en-US" sz="1300" b="1" dirty="0">
                <a:solidFill>
                  <a:srgbClr val="175CD3"/>
                </a:solidFill>
                <a:latin typeface="Inter" pitchFamily="34" charset="0"/>
                <a:ea typeface="Inter" pitchFamily="34" charset="-122"/>
                <a:cs typeface="Inter" pitchFamily="34" charset="-120"/>
              </a:rPr>
              <a:t>14</a:t>
            </a:r>
            <a:endParaRPr lang="en-US" sz="1300" dirty="0"/>
          </a:p>
        </p:txBody>
      </p:sp>
      <p:sp>
        <p:nvSpPr>
          <p:cNvPr id="11" name="Text 8"/>
          <p:cNvSpPr/>
          <p:nvPr/>
        </p:nvSpPr>
        <p:spPr>
          <a:xfrm>
            <a:off x="1541859" y="3557191"/>
            <a:ext cx="164996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1828"/>
                </a:solidFill>
                <a:latin typeface="Inter" pitchFamily="34" charset="0"/>
                <a:ea typeface="Inter" pitchFamily="34" charset="-122"/>
                <a:cs typeface="Inter" pitchFamily="34" charset="-120"/>
              </a:rPr>
              <a:t>Multi-Agent 구성</a:t>
            </a:r>
            <a:endParaRPr lang="en-US" sz="1400" dirty="0"/>
          </a:p>
        </p:txBody>
      </p:sp>
      <p:sp>
        <p:nvSpPr>
          <p:cNvPr id="12" name="Shape 9"/>
          <p:cNvSpPr/>
          <p:nvPr/>
        </p:nvSpPr>
        <p:spPr>
          <a:xfrm>
            <a:off x="819150" y="4006751"/>
            <a:ext cx="5168900" cy="472380"/>
          </a:xfrm>
          <a:prstGeom prst="roundRect">
            <a:avLst>
              <a:gd name="adj" fmla="val 20164"/>
            </a:avLst>
          </a:prstGeom>
          <a:solidFill>
            <a:srgbClr val="FFFFFF"/>
          </a:solidFill>
          <a:ln w="12700">
            <a:solidFill>
              <a:srgbClr val="C0CCE0"/>
            </a:solidFill>
            <a:prstDash val="solid"/>
          </a:ln>
        </p:spPr>
      </p:sp>
      <p:sp>
        <p:nvSpPr>
          <p:cNvPr id="13" name="Text 10"/>
          <p:cNvSpPr/>
          <p:nvPr/>
        </p:nvSpPr>
        <p:spPr>
          <a:xfrm>
            <a:off x="1003300" y="4102001"/>
            <a:ext cx="377130" cy="281880"/>
          </a:xfrm>
          <a:custGeom>
            <a:avLst/>
            <a:gdLst/>
            <a:ahLst/>
            <a:cxnLst/>
            <a:rect l="l" t="t" r="r" b="b"/>
            <a:pathLst>
              <a:path w="377130" h="281880">
                <a:moveTo>
                  <a:pt x="140940" y="0"/>
                </a:moveTo>
                <a:lnTo>
                  <a:pt x="236190" y="0"/>
                </a:lnTo>
                <a:arcTo hR="140940" wR="140940" stAng="16200000" swAng="5400000"/>
                <a:lnTo>
                  <a:pt x="377130" y="140940"/>
                </a:lnTo>
                <a:arcTo hR="140940" wR="140940" stAng="0" swAng="5400000"/>
                <a:lnTo>
                  <a:pt x="140940" y="281880"/>
                </a:lnTo>
                <a:arcTo hR="140940" wR="140940" stAng="5400000" swAng="5400000"/>
                <a:lnTo>
                  <a:pt x="0" y="140940"/>
                </a:lnTo>
                <a:arcTo hR="140940" wR="140940" stAng="10800000" swAng="5400000"/>
                <a:close/>
              </a:path>
            </a:pathLst>
          </a:custGeom>
          <a:solidFill>
            <a:srgbClr val="EFF8FF"/>
          </a:solidFill>
          <a:ln/>
        </p:spPr>
        <p:txBody>
          <a:bodyPr wrap="none" lIns="0" tIns="0" rIns="0" bIns="0" rtlCol="0" anchor="ctr">
            <a:normAutofit/>
          </a:bodyPr>
          <a:lstStyle/>
          <a:p>
            <a:pPr algn="ctr" indent="0" marL="0">
              <a:lnSpc>
                <a:spcPts val="1820"/>
              </a:lnSpc>
              <a:buNone/>
            </a:pPr>
            <a:r>
              <a:rPr lang="en-US" sz="1300" b="1" dirty="0">
                <a:solidFill>
                  <a:srgbClr val="175CD3"/>
                </a:solidFill>
                <a:latin typeface="Inter" pitchFamily="34" charset="0"/>
                <a:ea typeface="Inter" pitchFamily="34" charset="-122"/>
                <a:cs typeface="Inter" pitchFamily="34" charset="-120"/>
              </a:rPr>
              <a:t>15</a:t>
            </a:r>
            <a:endParaRPr lang="en-US" sz="1300" dirty="0"/>
          </a:p>
        </p:txBody>
      </p:sp>
      <p:sp>
        <p:nvSpPr>
          <p:cNvPr id="14" name="Text 11"/>
          <p:cNvSpPr/>
          <p:nvPr/>
        </p:nvSpPr>
        <p:spPr>
          <a:xfrm>
            <a:off x="1532830" y="4118471"/>
            <a:ext cx="182213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1828"/>
                </a:solidFill>
                <a:latin typeface="Inter" pitchFamily="34" charset="0"/>
                <a:ea typeface="Inter" pitchFamily="34" charset="-122"/>
                <a:cs typeface="Inter" pitchFamily="34" charset="-120"/>
              </a:rPr>
              <a:t>나머지 기술 요소 상세</a:t>
            </a:r>
            <a:endParaRPr lang="en-US" sz="1400" dirty="0"/>
          </a:p>
        </p:txBody>
      </p:sp>
      <p:sp>
        <p:nvSpPr>
          <p:cNvPr id="15" name="Shape 12"/>
          <p:cNvSpPr/>
          <p:nvPr/>
        </p:nvSpPr>
        <p:spPr>
          <a:xfrm>
            <a:off x="819150" y="4568031"/>
            <a:ext cx="5168900" cy="472380"/>
          </a:xfrm>
          <a:prstGeom prst="roundRect">
            <a:avLst>
              <a:gd name="adj" fmla="val 20164"/>
            </a:avLst>
          </a:prstGeom>
          <a:solidFill>
            <a:srgbClr val="FFFFFF"/>
          </a:solidFill>
          <a:ln w="12700">
            <a:solidFill>
              <a:srgbClr val="C0CCE0"/>
            </a:solidFill>
            <a:prstDash val="solid"/>
          </a:ln>
        </p:spPr>
      </p:sp>
      <p:sp>
        <p:nvSpPr>
          <p:cNvPr id="16" name="Text 13"/>
          <p:cNvSpPr/>
          <p:nvPr/>
        </p:nvSpPr>
        <p:spPr>
          <a:xfrm>
            <a:off x="1003300" y="4663281"/>
            <a:ext cx="381695" cy="281880"/>
          </a:xfrm>
          <a:custGeom>
            <a:avLst/>
            <a:gdLst/>
            <a:ahLst/>
            <a:cxnLst/>
            <a:rect l="l" t="t" r="r" b="b"/>
            <a:pathLst>
              <a:path w="381695" h="281880">
                <a:moveTo>
                  <a:pt x="140940" y="0"/>
                </a:moveTo>
                <a:lnTo>
                  <a:pt x="240754" y="0"/>
                </a:lnTo>
                <a:arcTo hR="140940" wR="140940" stAng="16200000" swAng="5400000"/>
                <a:lnTo>
                  <a:pt x="381695" y="140940"/>
                </a:lnTo>
                <a:arcTo hR="140940" wR="140940" stAng="0" swAng="5400000"/>
                <a:lnTo>
                  <a:pt x="140940" y="281880"/>
                </a:lnTo>
                <a:arcTo hR="140940" wR="140940" stAng="5400000" swAng="5400000"/>
                <a:lnTo>
                  <a:pt x="0" y="140940"/>
                </a:lnTo>
                <a:arcTo hR="140940" wR="140940" stAng="10800000" swAng="5400000"/>
                <a:close/>
              </a:path>
            </a:pathLst>
          </a:custGeom>
          <a:solidFill>
            <a:srgbClr val="EFF8FF"/>
          </a:solidFill>
          <a:ln/>
        </p:spPr>
        <p:txBody>
          <a:bodyPr wrap="none" lIns="0" tIns="0" rIns="0" bIns="0" rtlCol="0" anchor="ctr">
            <a:normAutofit/>
          </a:bodyPr>
          <a:lstStyle/>
          <a:p>
            <a:pPr algn="ctr" indent="0" marL="0">
              <a:lnSpc>
                <a:spcPts val="1820"/>
              </a:lnSpc>
              <a:buNone/>
            </a:pPr>
            <a:r>
              <a:rPr lang="en-US" sz="1300" b="1" dirty="0">
                <a:solidFill>
                  <a:srgbClr val="175CD3"/>
                </a:solidFill>
                <a:latin typeface="Inter" pitchFamily="34" charset="0"/>
                <a:ea typeface="Inter" pitchFamily="34" charset="-122"/>
                <a:cs typeface="Inter" pitchFamily="34" charset="-120"/>
              </a:rPr>
              <a:t>16</a:t>
            </a:r>
            <a:endParaRPr lang="en-US" sz="1300" dirty="0"/>
          </a:p>
        </p:txBody>
      </p:sp>
      <p:sp>
        <p:nvSpPr>
          <p:cNvPr id="17" name="Text 14"/>
          <p:cNvSpPr/>
          <p:nvPr/>
        </p:nvSpPr>
        <p:spPr>
          <a:xfrm>
            <a:off x="1537395" y="4679752"/>
            <a:ext cx="194583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1828"/>
                </a:solidFill>
                <a:latin typeface="Inter" pitchFamily="34" charset="0"/>
                <a:ea typeface="Inter" pitchFamily="34" charset="-122"/>
                <a:cs typeface="Inter" pitchFamily="34" charset="-120"/>
              </a:rPr>
              <a:t>LangSmith 추적 화면</a:t>
            </a:r>
            <a:endParaRPr lang="en-US" sz="1400" dirty="0"/>
          </a:p>
        </p:txBody>
      </p:sp>
      <p:sp>
        <p:nvSpPr>
          <p:cNvPr id="18" name="Shape 15"/>
          <p:cNvSpPr/>
          <p:nvPr/>
        </p:nvSpPr>
        <p:spPr>
          <a:xfrm>
            <a:off x="6203950" y="2884190"/>
            <a:ext cx="5168900" cy="472380"/>
          </a:xfrm>
          <a:prstGeom prst="roundRect">
            <a:avLst>
              <a:gd name="adj" fmla="val 20164"/>
            </a:avLst>
          </a:prstGeom>
          <a:solidFill>
            <a:srgbClr val="FFFFFF"/>
          </a:solidFill>
          <a:ln w="12700">
            <a:solidFill>
              <a:srgbClr val="C0CCE0"/>
            </a:solidFill>
            <a:prstDash val="solid"/>
          </a:ln>
        </p:spPr>
      </p:sp>
      <p:sp>
        <p:nvSpPr>
          <p:cNvPr id="19" name="Text 16"/>
          <p:cNvSpPr/>
          <p:nvPr/>
        </p:nvSpPr>
        <p:spPr>
          <a:xfrm>
            <a:off x="6388100" y="2979440"/>
            <a:ext cx="370483" cy="281880"/>
          </a:xfrm>
          <a:custGeom>
            <a:avLst/>
            <a:gdLst/>
            <a:ahLst/>
            <a:cxnLst/>
            <a:rect l="l" t="t" r="r" b="b"/>
            <a:pathLst>
              <a:path w="370483" h="281880">
                <a:moveTo>
                  <a:pt x="140940" y="0"/>
                </a:moveTo>
                <a:lnTo>
                  <a:pt x="229543" y="0"/>
                </a:lnTo>
                <a:arcTo hR="140940" wR="140940" stAng="16200000" swAng="5400000"/>
                <a:lnTo>
                  <a:pt x="370483" y="140940"/>
                </a:lnTo>
                <a:arcTo hR="140940" wR="140940" stAng="0" swAng="5400000"/>
                <a:lnTo>
                  <a:pt x="140940" y="281880"/>
                </a:lnTo>
                <a:arcTo hR="140940" wR="140940" stAng="5400000" swAng="5400000"/>
                <a:lnTo>
                  <a:pt x="0" y="140940"/>
                </a:lnTo>
                <a:arcTo hR="140940" wR="140940" stAng="10800000" swAng="5400000"/>
                <a:close/>
              </a:path>
            </a:pathLst>
          </a:custGeom>
          <a:solidFill>
            <a:srgbClr val="EFF8FF"/>
          </a:solidFill>
          <a:ln/>
        </p:spPr>
        <p:txBody>
          <a:bodyPr wrap="none" lIns="0" tIns="0" rIns="0" bIns="0" rtlCol="0" anchor="ctr">
            <a:normAutofit/>
          </a:bodyPr>
          <a:lstStyle/>
          <a:p>
            <a:pPr algn="ctr" indent="0" marL="0">
              <a:lnSpc>
                <a:spcPts val="1820"/>
              </a:lnSpc>
              <a:buNone/>
            </a:pPr>
            <a:r>
              <a:rPr lang="en-US" sz="1300" b="1" dirty="0">
                <a:solidFill>
                  <a:srgbClr val="175CD3"/>
                </a:solidFill>
                <a:latin typeface="Inter" pitchFamily="34" charset="0"/>
                <a:ea typeface="Inter" pitchFamily="34" charset="-122"/>
                <a:cs typeface="Inter" pitchFamily="34" charset="-120"/>
              </a:rPr>
              <a:t>17</a:t>
            </a:r>
            <a:endParaRPr lang="en-US" sz="1300" dirty="0"/>
          </a:p>
        </p:txBody>
      </p:sp>
      <p:sp>
        <p:nvSpPr>
          <p:cNvPr id="20" name="Text 17"/>
          <p:cNvSpPr/>
          <p:nvPr/>
        </p:nvSpPr>
        <p:spPr>
          <a:xfrm>
            <a:off x="6910983" y="2995910"/>
            <a:ext cx="224504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1828"/>
                </a:solidFill>
                <a:latin typeface="Inter" pitchFamily="34" charset="0"/>
                <a:ea typeface="Inter" pitchFamily="34" charset="-122"/>
                <a:cs typeface="Inter" pitchFamily="34" charset="-120"/>
              </a:rPr>
              <a:t>구현 화면과 최종 실행 화면</a:t>
            </a:r>
            <a:endParaRPr lang="en-US" sz="1400" dirty="0"/>
          </a:p>
        </p:txBody>
      </p:sp>
      <p:sp>
        <p:nvSpPr>
          <p:cNvPr id="21" name="Shape 18"/>
          <p:cNvSpPr/>
          <p:nvPr/>
        </p:nvSpPr>
        <p:spPr>
          <a:xfrm>
            <a:off x="6203950" y="3445470"/>
            <a:ext cx="5168900" cy="472380"/>
          </a:xfrm>
          <a:prstGeom prst="roundRect">
            <a:avLst>
              <a:gd name="adj" fmla="val 20164"/>
            </a:avLst>
          </a:prstGeom>
          <a:solidFill>
            <a:srgbClr val="FFFFFF"/>
          </a:solidFill>
          <a:ln w="12700">
            <a:solidFill>
              <a:srgbClr val="C0CCE0"/>
            </a:solidFill>
            <a:prstDash val="solid"/>
          </a:ln>
        </p:spPr>
      </p:sp>
      <p:sp>
        <p:nvSpPr>
          <p:cNvPr id="22" name="Text 19"/>
          <p:cNvSpPr/>
          <p:nvPr/>
        </p:nvSpPr>
        <p:spPr>
          <a:xfrm>
            <a:off x="6388100" y="3540720"/>
            <a:ext cx="381992" cy="281880"/>
          </a:xfrm>
          <a:custGeom>
            <a:avLst/>
            <a:gdLst/>
            <a:ahLst/>
            <a:cxnLst/>
            <a:rect l="l" t="t" r="r" b="b"/>
            <a:pathLst>
              <a:path w="381992" h="281880">
                <a:moveTo>
                  <a:pt x="140940" y="0"/>
                </a:moveTo>
                <a:lnTo>
                  <a:pt x="241052" y="0"/>
                </a:lnTo>
                <a:arcTo hR="140940" wR="140940" stAng="16200000" swAng="5400000"/>
                <a:lnTo>
                  <a:pt x="381992" y="140940"/>
                </a:lnTo>
                <a:arcTo hR="140940" wR="140940" stAng="0" swAng="5400000"/>
                <a:lnTo>
                  <a:pt x="140940" y="281880"/>
                </a:lnTo>
                <a:arcTo hR="140940" wR="140940" stAng="5400000" swAng="5400000"/>
                <a:lnTo>
                  <a:pt x="0" y="140940"/>
                </a:lnTo>
                <a:arcTo hR="140940" wR="140940" stAng="10800000" swAng="5400000"/>
                <a:close/>
              </a:path>
            </a:pathLst>
          </a:custGeom>
          <a:solidFill>
            <a:srgbClr val="EFF8FF"/>
          </a:solidFill>
          <a:ln/>
        </p:spPr>
        <p:txBody>
          <a:bodyPr wrap="none" lIns="0" tIns="0" rIns="0" bIns="0" rtlCol="0" anchor="ctr">
            <a:normAutofit/>
          </a:bodyPr>
          <a:lstStyle/>
          <a:p>
            <a:pPr algn="ctr" indent="0" marL="0">
              <a:lnSpc>
                <a:spcPts val="1820"/>
              </a:lnSpc>
              <a:buNone/>
            </a:pPr>
            <a:r>
              <a:rPr lang="en-US" sz="1300" b="1" dirty="0">
                <a:solidFill>
                  <a:srgbClr val="175CD3"/>
                </a:solidFill>
                <a:latin typeface="Inter" pitchFamily="34" charset="0"/>
                <a:ea typeface="Inter" pitchFamily="34" charset="-122"/>
                <a:cs typeface="Inter" pitchFamily="34" charset="-120"/>
              </a:rPr>
              <a:t>18</a:t>
            </a:r>
            <a:endParaRPr lang="en-US" sz="1300" dirty="0"/>
          </a:p>
        </p:txBody>
      </p:sp>
      <p:sp>
        <p:nvSpPr>
          <p:cNvPr id="23" name="Text 20"/>
          <p:cNvSpPr/>
          <p:nvPr/>
        </p:nvSpPr>
        <p:spPr>
          <a:xfrm>
            <a:off x="6922492" y="3557191"/>
            <a:ext cx="17185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1828"/>
                </a:solidFill>
                <a:latin typeface="Inter" pitchFamily="34" charset="0"/>
                <a:ea typeface="Inter" pitchFamily="34" charset="-122"/>
                <a:cs typeface="Inter" pitchFamily="34" charset="-120"/>
              </a:rPr>
              <a:t>개선 전/후 측정 방법</a:t>
            </a:r>
            <a:endParaRPr lang="en-US" sz="1400" dirty="0"/>
          </a:p>
        </p:txBody>
      </p:sp>
      <p:sp>
        <p:nvSpPr>
          <p:cNvPr id="24" name="Shape 21"/>
          <p:cNvSpPr/>
          <p:nvPr/>
        </p:nvSpPr>
        <p:spPr>
          <a:xfrm>
            <a:off x="6203950" y="4006751"/>
            <a:ext cx="5168900" cy="472380"/>
          </a:xfrm>
          <a:prstGeom prst="roundRect">
            <a:avLst>
              <a:gd name="adj" fmla="val 20164"/>
            </a:avLst>
          </a:prstGeom>
          <a:solidFill>
            <a:srgbClr val="FFFFFF"/>
          </a:solidFill>
          <a:ln w="12700">
            <a:solidFill>
              <a:srgbClr val="C0CCE0"/>
            </a:solidFill>
            <a:prstDash val="solid"/>
          </a:ln>
        </p:spPr>
      </p:sp>
      <p:sp>
        <p:nvSpPr>
          <p:cNvPr id="25" name="Text 22"/>
          <p:cNvSpPr/>
          <p:nvPr/>
        </p:nvSpPr>
        <p:spPr>
          <a:xfrm>
            <a:off x="6388100" y="4102001"/>
            <a:ext cx="381695" cy="281880"/>
          </a:xfrm>
          <a:custGeom>
            <a:avLst/>
            <a:gdLst/>
            <a:ahLst/>
            <a:cxnLst/>
            <a:rect l="l" t="t" r="r" b="b"/>
            <a:pathLst>
              <a:path w="381695" h="281880">
                <a:moveTo>
                  <a:pt x="140940" y="0"/>
                </a:moveTo>
                <a:lnTo>
                  <a:pt x="240754" y="0"/>
                </a:lnTo>
                <a:arcTo hR="140940" wR="140940" stAng="16200000" swAng="5400000"/>
                <a:lnTo>
                  <a:pt x="381695" y="140940"/>
                </a:lnTo>
                <a:arcTo hR="140940" wR="140940" stAng="0" swAng="5400000"/>
                <a:lnTo>
                  <a:pt x="140940" y="281880"/>
                </a:lnTo>
                <a:arcTo hR="140940" wR="140940" stAng="5400000" swAng="5400000"/>
                <a:lnTo>
                  <a:pt x="0" y="140940"/>
                </a:lnTo>
                <a:arcTo hR="140940" wR="140940" stAng="10800000" swAng="5400000"/>
                <a:close/>
              </a:path>
            </a:pathLst>
          </a:custGeom>
          <a:solidFill>
            <a:srgbClr val="EFF8FF"/>
          </a:solidFill>
          <a:ln/>
        </p:spPr>
        <p:txBody>
          <a:bodyPr wrap="none" lIns="0" tIns="0" rIns="0" bIns="0" rtlCol="0" anchor="ctr">
            <a:normAutofit/>
          </a:bodyPr>
          <a:lstStyle/>
          <a:p>
            <a:pPr algn="ctr" indent="0" marL="0">
              <a:lnSpc>
                <a:spcPts val="1820"/>
              </a:lnSpc>
              <a:buNone/>
            </a:pPr>
            <a:r>
              <a:rPr lang="en-US" sz="1300" b="1" dirty="0">
                <a:solidFill>
                  <a:srgbClr val="175CD3"/>
                </a:solidFill>
                <a:latin typeface="Inter" pitchFamily="34" charset="0"/>
                <a:ea typeface="Inter" pitchFamily="34" charset="-122"/>
                <a:cs typeface="Inter" pitchFamily="34" charset="-120"/>
              </a:rPr>
              <a:t>19</a:t>
            </a:r>
            <a:endParaRPr lang="en-US" sz="1300" dirty="0"/>
          </a:p>
        </p:txBody>
      </p:sp>
      <p:sp>
        <p:nvSpPr>
          <p:cNvPr id="26" name="Text 23"/>
          <p:cNvSpPr/>
          <p:nvPr/>
        </p:nvSpPr>
        <p:spPr>
          <a:xfrm>
            <a:off x="6922195" y="4118471"/>
            <a:ext cx="214133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1828"/>
                </a:solidFill>
                <a:latin typeface="Inter" pitchFamily="34" charset="0"/>
                <a:ea typeface="Inter" pitchFamily="34" charset="-122"/>
                <a:cs typeface="Inter" pitchFamily="34" charset="-120"/>
              </a:rPr>
              <a:t>개선 전/후 비교 결과 화면</a:t>
            </a:r>
            <a:endParaRPr lang="en-US" sz="1400" dirty="0"/>
          </a:p>
        </p:txBody>
      </p:sp>
      <p:sp>
        <p:nvSpPr>
          <p:cNvPr id="27" name="Shape 24"/>
          <p:cNvSpPr/>
          <p:nvPr/>
        </p:nvSpPr>
        <p:spPr>
          <a:xfrm>
            <a:off x="6203950" y="4568031"/>
            <a:ext cx="5168900" cy="472380"/>
          </a:xfrm>
          <a:prstGeom prst="roundRect">
            <a:avLst>
              <a:gd name="adj" fmla="val 20164"/>
            </a:avLst>
          </a:prstGeom>
          <a:solidFill>
            <a:srgbClr val="FFFFFF"/>
          </a:solidFill>
          <a:ln w="12700">
            <a:solidFill>
              <a:srgbClr val="C0CCE0"/>
            </a:solidFill>
            <a:prstDash val="solid"/>
          </a:ln>
        </p:spPr>
      </p:sp>
      <p:sp>
        <p:nvSpPr>
          <p:cNvPr id="28" name="Text 25"/>
          <p:cNvSpPr/>
          <p:nvPr/>
        </p:nvSpPr>
        <p:spPr>
          <a:xfrm>
            <a:off x="6388100" y="4663281"/>
            <a:ext cx="418505" cy="281880"/>
          </a:xfrm>
          <a:custGeom>
            <a:avLst/>
            <a:gdLst/>
            <a:ahLst/>
            <a:cxnLst/>
            <a:rect l="l" t="t" r="r" b="b"/>
            <a:pathLst>
              <a:path w="418505" h="281880">
                <a:moveTo>
                  <a:pt x="140940" y="0"/>
                </a:moveTo>
                <a:lnTo>
                  <a:pt x="277564" y="0"/>
                </a:lnTo>
                <a:arcTo hR="140940" wR="140940" stAng="16200000" swAng="5400000"/>
                <a:lnTo>
                  <a:pt x="418505" y="140940"/>
                </a:lnTo>
                <a:arcTo hR="140940" wR="140940" stAng="0" swAng="5400000"/>
                <a:lnTo>
                  <a:pt x="140940" y="281880"/>
                </a:lnTo>
                <a:arcTo hR="140940" wR="140940" stAng="5400000" swAng="5400000"/>
                <a:lnTo>
                  <a:pt x="0" y="140940"/>
                </a:lnTo>
                <a:arcTo hR="140940" wR="140940" stAng="10800000" swAng="5400000"/>
                <a:close/>
              </a:path>
            </a:pathLst>
          </a:custGeom>
          <a:solidFill>
            <a:srgbClr val="EFF8FF"/>
          </a:solidFill>
          <a:ln/>
        </p:spPr>
        <p:txBody>
          <a:bodyPr wrap="none" lIns="0" tIns="0" rIns="0" bIns="0" rtlCol="0" anchor="ctr">
            <a:normAutofit/>
          </a:bodyPr>
          <a:lstStyle/>
          <a:p>
            <a:pPr algn="ctr" indent="0" marL="0">
              <a:lnSpc>
                <a:spcPts val="1820"/>
              </a:lnSpc>
              <a:buNone/>
            </a:pPr>
            <a:r>
              <a:rPr lang="en-US" sz="1300" b="1" dirty="0">
                <a:solidFill>
                  <a:srgbClr val="175CD3"/>
                </a:solidFill>
                <a:latin typeface="Inter" pitchFamily="34" charset="0"/>
                <a:ea typeface="Inter" pitchFamily="34" charset="-122"/>
                <a:cs typeface="Inter" pitchFamily="34" charset="-120"/>
              </a:rPr>
              <a:t>20</a:t>
            </a:r>
            <a:endParaRPr lang="en-US" sz="1300" dirty="0"/>
          </a:p>
        </p:txBody>
      </p:sp>
      <p:sp>
        <p:nvSpPr>
          <p:cNvPr id="29" name="Text 26"/>
          <p:cNvSpPr/>
          <p:nvPr/>
        </p:nvSpPr>
        <p:spPr>
          <a:xfrm>
            <a:off x="6959005" y="4679752"/>
            <a:ext cx="169128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1828"/>
                </a:solidFill>
                <a:latin typeface="Inter" pitchFamily="34" charset="0"/>
                <a:ea typeface="Inter" pitchFamily="34" charset="-122"/>
                <a:cs typeface="Inter" pitchFamily="34" charset="-120"/>
              </a:rPr>
              <a:t>느낀 점 및 향후 개선</a:t>
            </a:r>
            <a:endParaRPr lang="en-US" sz="1400" dirty="0"/>
          </a:p>
        </p:txBody>
      </p:sp>
      <p:sp>
        <p:nvSpPr>
          <p:cNvPr id="30" name="Shape 27"/>
          <p:cNvSpPr/>
          <p:nvPr/>
        </p:nvSpPr>
        <p:spPr>
          <a:xfrm>
            <a:off x="812800" y="6248400"/>
            <a:ext cx="10566400" cy="6350"/>
          </a:xfrm>
          <a:prstGeom prst="rect">
            <a:avLst/>
          </a:prstGeom>
          <a:solidFill>
            <a:srgbClr val="D0D5DD"/>
          </a:solidFill>
          <a:ln/>
        </p:spPr>
      </p:sp>
      <p:sp>
        <p:nvSpPr>
          <p:cNvPr id="31" name="Text 28"/>
          <p:cNvSpPr/>
          <p:nvPr/>
        </p:nvSpPr>
        <p:spPr>
          <a:xfrm>
            <a:off x="812800" y="637540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 · 부록</a:t>
            </a:r>
            <a:endParaRPr lang="en-US" sz="1200" dirty="0"/>
          </a:p>
        </p:txBody>
      </p:sp>
      <p:sp>
        <p:nvSpPr>
          <p:cNvPr id="32" name="Text 29"/>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1020318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부록 · 진행 사항</a:t>
            </a:r>
            <a:endParaRPr lang="en-US" sz="1400" dirty="0"/>
          </a:p>
        </p:txBody>
      </p:sp>
      <p:sp>
        <p:nvSpPr>
          <p:cNvPr id="5" name="Text 2"/>
          <p:cNvSpPr/>
          <p:nvPr>
            <p:ph type="title"/>
          </p:nvPr>
        </p:nvSpPr>
        <p:spPr>
          <a:xfrm>
            <a:off x="812800" y="921941"/>
            <a:ext cx="1020318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Plus Jakarta Sans" pitchFamily="34" charset="0"/>
                <a:ea typeface="Plus Jakarta Sans" pitchFamily="34" charset="-122"/>
                <a:cs typeface="Plus Jakarta Sans" pitchFamily="34" charset="-120"/>
              </a:rPr>
              <a:t>프로젝트 TASK 소개</a:t>
            </a:r>
            <a:endParaRPr lang="en-US" sz="3000" dirty="0"/>
          </a:p>
        </p:txBody>
      </p:sp>
      <p:sp>
        <p:nvSpPr>
          <p:cNvPr id="6" name="Text 3"/>
          <p:cNvSpPr/>
          <p:nvPr/>
        </p:nvSpPr>
        <p:spPr>
          <a:xfrm>
            <a:off x="812800" y="1423591"/>
            <a:ext cx="1020318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75467"/>
                </a:solidFill>
                <a:latin typeface="Inter" pitchFamily="34" charset="0"/>
                <a:ea typeface="Inter" pitchFamily="34" charset="-122"/>
                <a:cs typeface="Inter" pitchFamily="34" charset="-120"/>
              </a:rPr>
              <a:t>재난 특보·문자·행동요령을 공식 근거로 묶어, 지금 할 일을 알려 주는 </a:t>
            </a:r>
            <a:r>
              <a:rPr lang="en-US" sz="1300" dirty="0">
                <a:solidFill>
                  <a:srgbClr val="175CD3"/>
                </a:solidFill>
                <a:latin typeface="Inter" pitchFamily="34" charset="0"/>
                <a:ea typeface="Inter" pitchFamily="34" charset="-122"/>
                <a:cs typeface="Inter" pitchFamily="34" charset="-120"/>
              </a:rPr>
              <a:t>AI</a:t>
            </a:r>
            <a:r>
              <a:rPr lang="en-US" sz="1300" dirty="0">
                <a:solidFill>
                  <a:srgbClr val="475467"/>
                </a:solidFill>
                <a:latin typeface="Inter" pitchFamily="34" charset="0"/>
                <a:ea typeface="Inter" pitchFamily="34" charset="-122"/>
                <a:cs typeface="Inter" pitchFamily="34" charset="-120"/>
              </a:rPr>
              <a:t> 에이전트</a:t>
            </a:r>
            <a:endParaRPr lang="en-US" sz="1300" dirty="0"/>
          </a:p>
        </p:txBody>
      </p:sp>
      <p:sp>
        <p:nvSpPr>
          <p:cNvPr id="7" name="Text 4"/>
          <p:cNvSpPr/>
          <p:nvPr/>
        </p:nvSpPr>
        <p:spPr>
          <a:xfrm>
            <a:off x="990600" y="1798836"/>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085"/>
                </a:solidFill>
                <a:latin typeface="Inter" pitchFamily="34" charset="0"/>
                <a:ea typeface="Inter" pitchFamily="34" charset="-122"/>
                <a:cs typeface="Inter" pitchFamily="34" charset="-120"/>
              </a:rPr>
              <a:t>주요 Task</a:t>
            </a:r>
            <a:endParaRPr lang="en-US" sz="1200" dirty="0"/>
          </a:p>
        </p:txBody>
      </p:sp>
      <p:sp>
        <p:nvSpPr>
          <p:cNvPr id="8" name="Text 5"/>
          <p:cNvSpPr/>
          <p:nvPr/>
        </p:nvSpPr>
        <p:spPr>
          <a:xfrm>
            <a:off x="3048000" y="1798836"/>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085"/>
                </a:solidFill>
                <a:latin typeface="Inter" pitchFamily="34" charset="0"/>
                <a:ea typeface="Inter" pitchFamily="34" charset="-122"/>
                <a:cs typeface="Inter" pitchFamily="34" charset="-120"/>
              </a:rPr>
              <a:t>한 일</a:t>
            </a:r>
            <a:endParaRPr lang="en-US" sz="1200" dirty="0"/>
          </a:p>
        </p:txBody>
      </p:sp>
      <p:sp>
        <p:nvSpPr>
          <p:cNvPr id="9" name="Text 6"/>
          <p:cNvSpPr/>
          <p:nvPr/>
        </p:nvSpPr>
        <p:spPr>
          <a:xfrm>
            <a:off x="8280400" y="1798836"/>
            <a:ext cx="27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결과</a:t>
            </a:r>
            <a:endParaRPr lang="en-US" sz="1200" dirty="0"/>
          </a:p>
        </p:txBody>
      </p:sp>
      <p:sp>
        <p:nvSpPr>
          <p:cNvPr id="10" name="Shape 7"/>
          <p:cNvSpPr/>
          <p:nvPr/>
        </p:nvSpPr>
        <p:spPr>
          <a:xfrm>
            <a:off x="819150" y="2069306"/>
            <a:ext cx="10553700" cy="525661"/>
          </a:xfrm>
          <a:prstGeom prst="roundRect">
            <a:avLst>
              <a:gd name="adj" fmla="val 18120"/>
            </a:avLst>
          </a:prstGeom>
          <a:solidFill>
            <a:srgbClr val="FFFFFF"/>
          </a:solidFill>
          <a:ln w="12700">
            <a:solidFill>
              <a:srgbClr val="C0CCE0"/>
            </a:solidFill>
            <a:prstDash val="solid"/>
          </a:ln>
        </p:spPr>
      </p:sp>
      <p:sp>
        <p:nvSpPr>
          <p:cNvPr id="11" name="Text 8"/>
          <p:cNvSpPr/>
          <p:nvPr/>
        </p:nvSpPr>
        <p:spPr>
          <a:xfrm>
            <a:off x="1003300" y="2216547"/>
            <a:ext cx="19621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공공데이터 연동 (MCP)</a:t>
            </a:r>
            <a:endParaRPr lang="en-US" sz="1300" dirty="0"/>
          </a:p>
        </p:txBody>
      </p:sp>
      <p:sp>
        <p:nvSpPr>
          <p:cNvPr id="12" name="Text 9"/>
          <p:cNvSpPr/>
          <p:nvPr/>
        </p:nvSpPr>
        <p:spPr>
          <a:xfrm>
            <a:off x="3060700" y="2126456"/>
            <a:ext cx="52324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특보·문자·행동요령 4종·대피소(공공 API 7종)와 지도 API를 MCP 서버 하나로 묶었다.</a:t>
            </a:r>
            <a:endParaRPr lang="en-US" sz="1200" dirty="0"/>
          </a:p>
        </p:txBody>
      </p:sp>
      <p:sp>
        <p:nvSpPr>
          <p:cNvPr id="13" name="Text 10"/>
          <p:cNvSpPr/>
          <p:nvPr/>
        </p:nvSpPr>
        <p:spPr>
          <a:xfrm>
            <a:off x="8293100" y="2229247"/>
            <a:ext cx="274701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키 8개·발급처 3곳을 같은 방식으로 조회</a:t>
            </a:r>
            <a:endParaRPr lang="en-US" sz="1200" dirty="0"/>
          </a:p>
        </p:txBody>
      </p:sp>
      <p:sp>
        <p:nvSpPr>
          <p:cNvPr id="14" name="Shape 11"/>
          <p:cNvSpPr/>
          <p:nvPr/>
        </p:nvSpPr>
        <p:spPr>
          <a:xfrm>
            <a:off x="819150" y="2658467"/>
            <a:ext cx="10553700" cy="525661"/>
          </a:xfrm>
          <a:prstGeom prst="roundRect">
            <a:avLst>
              <a:gd name="adj" fmla="val 18120"/>
            </a:avLst>
          </a:prstGeom>
          <a:solidFill>
            <a:srgbClr val="FFFFFF"/>
          </a:solidFill>
          <a:ln w="12700">
            <a:solidFill>
              <a:srgbClr val="C0CCE0"/>
            </a:solidFill>
            <a:prstDash val="solid"/>
          </a:ln>
        </p:spPr>
      </p:sp>
      <p:sp>
        <p:nvSpPr>
          <p:cNvPr id="15" name="Text 12"/>
          <p:cNvSpPr/>
          <p:nvPr/>
        </p:nvSpPr>
        <p:spPr>
          <a:xfrm>
            <a:off x="1003300" y="2805708"/>
            <a:ext cx="19621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답변 파이프라인</a:t>
            </a:r>
            <a:endParaRPr lang="en-US" sz="1300" dirty="0"/>
          </a:p>
        </p:txBody>
      </p:sp>
      <p:sp>
        <p:nvSpPr>
          <p:cNvPr id="16" name="Text 13"/>
          <p:cNvSpPr/>
          <p:nvPr/>
        </p:nvSpPr>
        <p:spPr>
          <a:xfrm>
            <a:off x="3060700" y="2715617"/>
            <a:ext cx="52324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의도 파악 → 지역 확정 → 계획 → 조회 → 판정 → 작성 → 검증을 LangGraph로 연결했다.</a:t>
            </a:r>
            <a:endParaRPr lang="en-US" sz="1200" dirty="0"/>
          </a:p>
        </p:txBody>
      </p:sp>
      <p:sp>
        <p:nvSpPr>
          <p:cNvPr id="17" name="Text 14"/>
          <p:cNvSpPr/>
          <p:nvPr/>
        </p:nvSpPr>
        <p:spPr>
          <a:xfrm>
            <a:off x="8293100" y="2818408"/>
            <a:ext cx="274701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판단·검증은 코드, </a:t>
            </a:r>
            <a:r>
              <a:rPr lang="en-US" sz="1200" dirty="0">
                <a:solidFill>
                  <a:srgbClr val="175CD3"/>
                </a:solidFill>
                <a:latin typeface="Inter" pitchFamily="34" charset="0"/>
                <a:ea typeface="Inter" pitchFamily="34" charset="-122"/>
                <a:cs typeface="Inter" pitchFamily="34" charset="-120"/>
              </a:rPr>
              <a:t>AI</a:t>
            </a:r>
            <a:r>
              <a:rPr lang="en-US" sz="1200" dirty="0">
                <a:solidFill>
                  <a:srgbClr val="101828"/>
                </a:solidFill>
                <a:latin typeface="Inter" pitchFamily="34" charset="0"/>
                <a:ea typeface="Inter" pitchFamily="34" charset="-122"/>
                <a:cs typeface="Inter" pitchFamily="34" charset="-120"/>
              </a:rPr>
              <a:t>는 의도 파악·작성</a:t>
            </a:r>
            <a:endParaRPr lang="en-US" sz="1200" dirty="0"/>
          </a:p>
        </p:txBody>
      </p:sp>
      <p:sp>
        <p:nvSpPr>
          <p:cNvPr id="18" name="Shape 15"/>
          <p:cNvSpPr/>
          <p:nvPr/>
        </p:nvSpPr>
        <p:spPr>
          <a:xfrm>
            <a:off x="819150" y="3247628"/>
            <a:ext cx="10553700" cy="525661"/>
          </a:xfrm>
          <a:prstGeom prst="roundRect">
            <a:avLst>
              <a:gd name="adj" fmla="val 18120"/>
            </a:avLst>
          </a:prstGeom>
          <a:solidFill>
            <a:srgbClr val="FFFFFF"/>
          </a:solidFill>
          <a:ln w="12700">
            <a:solidFill>
              <a:srgbClr val="C0CCE0"/>
            </a:solidFill>
            <a:prstDash val="solid"/>
          </a:ln>
        </p:spPr>
      </p:sp>
      <p:sp>
        <p:nvSpPr>
          <p:cNvPr id="19" name="Text 16"/>
          <p:cNvSpPr/>
          <p:nvPr/>
        </p:nvSpPr>
        <p:spPr>
          <a:xfrm>
            <a:off x="1003300" y="3394869"/>
            <a:ext cx="19621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안전장치</a:t>
            </a:r>
            <a:endParaRPr lang="en-US" sz="1300" dirty="0"/>
          </a:p>
        </p:txBody>
      </p:sp>
      <p:sp>
        <p:nvSpPr>
          <p:cNvPr id="20" name="Text 17"/>
          <p:cNvSpPr/>
          <p:nvPr/>
        </p:nvSpPr>
        <p:spPr>
          <a:xfrm>
            <a:off x="3060700" y="3304778"/>
            <a:ext cx="52324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검증 위반 시 1회 다시 쓰고, 그래도 위반이면 고정 양식으로 답한다. 근거가 없으면 “정보 없음”.</a:t>
            </a:r>
            <a:endParaRPr lang="en-US" sz="1200" dirty="0"/>
          </a:p>
        </p:txBody>
      </p:sp>
      <p:sp>
        <p:nvSpPr>
          <p:cNvPr id="21" name="Text 18"/>
          <p:cNvSpPr/>
          <p:nvPr/>
        </p:nvSpPr>
        <p:spPr>
          <a:xfrm>
            <a:off x="8293100" y="3407569"/>
            <a:ext cx="30734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검증되지 않은 문장은 사용자에게 가지 않음</a:t>
            </a:r>
            <a:endParaRPr lang="en-US" sz="1200" dirty="0"/>
          </a:p>
        </p:txBody>
      </p:sp>
      <p:sp>
        <p:nvSpPr>
          <p:cNvPr id="22" name="Shape 19"/>
          <p:cNvSpPr/>
          <p:nvPr/>
        </p:nvSpPr>
        <p:spPr>
          <a:xfrm>
            <a:off x="819150" y="3836789"/>
            <a:ext cx="10553700" cy="525661"/>
          </a:xfrm>
          <a:prstGeom prst="roundRect">
            <a:avLst>
              <a:gd name="adj" fmla="val 18120"/>
            </a:avLst>
          </a:prstGeom>
          <a:solidFill>
            <a:srgbClr val="FFFFFF"/>
          </a:solidFill>
          <a:ln w="12700">
            <a:solidFill>
              <a:srgbClr val="C0CCE0"/>
            </a:solidFill>
            <a:prstDash val="solid"/>
          </a:ln>
        </p:spPr>
      </p:sp>
      <p:sp>
        <p:nvSpPr>
          <p:cNvPr id="23" name="Text 20"/>
          <p:cNvSpPr/>
          <p:nvPr/>
        </p:nvSpPr>
        <p:spPr>
          <a:xfrm>
            <a:off x="1003300" y="3984030"/>
            <a:ext cx="19621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단계별 화면</a:t>
            </a:r>
            <a:endParaRPr lang="en-US" sz="1300" dirty="0"/>
          </a:p>
        </p:txBody>
      </p:sp>
      <p:sp>
        <p:nvSpPr>
          <p:cNvPr id="24" name="Text 21"/>
          <p:cNvSpPr/>
          <p:nvPr/>
        </p:nvSpPr>
        <p:spPr>
          <a:xfrm>
            <a:off x="3060700" y="3893939"/>
            <a:ext cx="52324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판단 → 근거 → 요약 정보 → 최종 답 순서로 진행을 보여 주고, 판정 띠와 근거 번호를 붙인다.</a:t>
            </a:r>
            <a:endParaRPr lang="en-US" sz="1200" dirty="0"/>
          </a:p>
        </p:txBody>
      </p:sp>
      <p:sp>
        <p:nvSpPr>
          <p:cNvPr id="25" name="Text 22"/>
          <p:cNvSpPr/>
          <p:nvPr/>
        </p:nvSpPr>
        <p:spPr>
          <a:xfrm>
            <a:off x="8293100" y="3996730"/>
            <a:ext cx="274701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확인된 것부터 먼저 보여 줌</a:t>
            </a:r>
            <a:endParaRPr lang="en-US" sz="1200" dirty="0"/>
          </a:p>
        </p:txBody>
      </p:sp>
      <p:sp>
        <p:nvSpPr>
          <p:cNvPr id="26" name="Shape 23"/>
          <p:cNvSpPr/>
          <p:nvPr/>
        </p:nvSpPr>
        <p:spPr>
          <a:xfrm>
            <a:off x="819150" y="4425950"/>
            <a:ext cx="10553700" cy="345380"/>
          </a:xfrm>
          <a:prstGeom prst="roundRect">
            <a:avLst>
              <a:gd name="adj" fmla="val 27578"/>
            </a:avLst>
          </a:prstGeom>
          <a:solidFill>
            <a:srgbClr val="FFFFFF"/>
          </a:solidFill>
          <a:ln w="12700">
            <a:solidFill>
              <a:srgbClr val="C0CCE0"/>
            </a:solidFill>
            <a:prstDash val="solid"/>
          </a:ln>
        </p:spPr>
      </p:sp>
      <p:sp>
        <p:nvSpPr>
          <p:cNvPr id="27" name="Text 24"/>
          <p:cNvSpPr/>
          <p:nvPr/>
        </p:nvSpPr>
        <p:spPr>
          <a:xfrm>
            <a:off x="1003300" y="4483100"/>
            <a:ext cx="19621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평가·테스트</a:t>
            </a:r>
            <a:endParaRPr lang="en-US" sz="1300" dirty="0"/>
          </a:p>
        </p:txBody>
      </p:sp>
      <p:sp>
        <p:nvSpPr>
          <p:cNvPr id="28" name="Text 25"/>
          <p:cNvSpPr/>
          <p:nvPr/>
        </p:nvSpPr>
        <p:spPr>
          <a:xfrm>
            <a:off x="3060700" y="4495800"/>
            <a:ext cx="52324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단위 테스트, 평가 질문 세트, 가짜 모델·실제 모델 비교 실행.</a:t>
            </a:r>
            <a:endParaRPr lang="en-US" sz="1200" dirty="0"/>
          </a:p>
        </p:txBody>
      </p:sp>
      <p:sp>
        <p:nvSpPr>
          <p:cNvPr id="29" name="Text 26"/>
          <p:cNvSpPr/>
          <p:nvPr/>
        </p:nvSpPr>
        <p:spPr>
          <a:xfrm>
            <a:off x="8293100" y="4495800"/>
            <a:ext cx="274701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테스트 193개, 평가 58/58 통과</a:t>
            </a:r>
            <a:endParaRPr lang="en-US" sz="1200" dirty="0"/>
          </a:p>
        </p:txBody>
      </p:sp>
      <p:sp>
        <p:nvSpPr>
          <p:cNvPr id="30" name="Shape 27"/>
          <p:cNvSpPr/>
          <p:nvPr/>
        </p:nvSpPr>
        <p:spPr>
          <a:xfrm>
            <a:off x="819150" y="4834830"/>
            <a:ext cx="10553700" cy="345380"/>
          </a:xfrm>
          <a:prstGeom prst="roundRect">
            <a:avLst>
              <a:gd name="adj" fmla="val 27578"/>
            </a:avLst>
          </a:prstGeom>
          <a:solidFill>
            <a:srgbClr val="FFFFFF"/>
          </a:solidFill>
          <a:ln w="12700">
            <a:solidFill>
              <a:srgbClr val="C0CCE0"/>
            </a:solidFill>
            <a:prstDash val="solid"/>
          </a:ln>
        </p:spPr>
      </p:sp>
      <p:sp>
        <p:nvSpPr>
          <p:cNvPr id="31" name="Text 28"/>
          <p:cNvSpPr/>
          <p:nvPr/>
        </p:nvSpPr>
        <p:spPr>
          <a:xfrm>
            <a:off x="1003300" y="4891980"/>
            <a:ext cx="19621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실행 환경</a:t>
            </a:r>
            <a:endParaRPr lang="en-US" sz="1300" dirty="0"/>
          </a:p>
        </p:txBody>
      </p:sp>
      <p:sp>
        <p:nvSpPr>
          <p:cNvPr id="32" name="Text 29"/>
          <p:cNvSpPr/>
          <p:nvPr/>
        </p:nvSpPr>
        <p:spPr>
          <a:xfrm>
            <a:off x="3060700" y="4904680"/>
            <a:ext cx="52324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도커 컨테이너 3개(데이터 서버·백엔드·화면), Local PC의 qwen3:8b 모델.</a:t>
            </a:r>
            <a:endParaRPr lang="en-US" sz="1200" dirty="0"/>
          </a:p>
        </p:txBody>
      </p:sp>
      <p:sp>
        <p:nvSpPr>
          <p:cNvPr id="33" name="Text 30"/>
          <p:cNvSpPr/>
          <p:nvPr/>
        </p:nvSpPr>
        <p:spPr>
          <a:xfrm>
            <a:off x="8293100" y="4904680"/>
            <a:ext cx="274701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학습용(비상업), 로컬 실행</a:t>
            </a:r>
            <a:endParaRPr lang="en-US" sz="1200" dirty="0"/>
          </a:p>
        </p:txBody>
      </p:sp>
      <p:sp>
        <p:nvSpPr>
          <p:cNvPr id="34" name="Shape 31"/>
          <p:cNvSpPr/>
          <p:nvPr/>
        </p:nvSpPr>
        <p:spPr>
          <a:xfrm>
            <a:off x="812800" y="6248400"/>
            <a:ext cx="10566400" cy="6350"/>
          </a:xfrm>
          <a:prstGeom prst="rect">
            <a:avLst/>
          </a:prstGeom>
          <a:solidFill>
            <a:srgbClr val="D0D5DD"/>
          </a:solidFill>
          <a:ln/>
        </p:spPr>
      </p:sp>
      <p:sp>
        <p:nvSpPr>
          <p:cNvPr id="35" name="Text 32"/>
          <p:cNvSpPr/>
          <p:nvPr/>
        </p:nvSpPr>
        <p:spPr>
          <a:xfrm>
            <a:off x="812800" y="637540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 · 부록</a:t>
            </a:r>
            <a:endParaRPr lang="en-US" sz="1200" dirty="0"/>
          </a:p>
        </p:txBody>
      </p:sp>
      <p:sp>
        <p:nvSpPr>
          <p:cNvPr id="36" name="Text 33"/>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1020318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부록 · 기술 요소</a:t>
            </a:r>
            <a:endParaRPr lang="en-US" sz="1400" dirty="0"/>
          </a:p>
        </p:txBody>
      </p:sp>
      <p:sp>
        <p:nvSpPr>
          <p:cNvPr id="5" name="Text 2"/>
          <p:cNvSpPr/>
          <p:nvPr>
            <p:ph type="title"/>
          </p:nvPr>
        </p:nvSpPr>
        <p:spPr>
          <a:xfrm>
            <a:off x="812800" y="934641"/>
            <a:ext cx="1020318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Plus Jakarta Sans" pitchFamily="34" charset="0"/>
                <a:ea typeface="Plus Jakarta Sans" pitchFamily="34" charset="-122"/>
                <a:cs typeface="Plus Jakarta Sans" pitchFamily="34" charset="-120"/>
              </a:rPr>
              <a:t>Multi-Agent 구성: 단계마다 </a:t>
            </a:r>
            <a:r>
              <a:rPr lang="en-US" sz="3000" b="1" i="0" dirty="0">
                <a:solidFill>
                  <a:srgbClr val="175CD3"/>
                </a:solidFill>
                <a:latin typeface="Plus Jakarta Sans" pitchFamily="34" charset="0"/>
                <a:ea typeface="Plus Jakarta Sans" pitchFamily="34" charset="-122"/>
                <a:cs typeface="Plus Jakarta Sans" pitchFamily="34" charset="-120"/>
              </a:rPr>
              <a:t>AI</a:t>
            </a:r>
            <a:r>
              <a:rPr lang="en-US" sz="3000" b="1" i="0" dirty="0">
                <a:solidFill>
                  <a:srgbClr val="101828"/>
                </a:solidFill>
                <a:latin typeface="Plus Jakarta Sans" pitchFamily="34" charset="0"/>
                <a:ea typeface="Plus Jakarta Sans" pitchFamily="34" charset="-122"/>
                <a:cs typeface="Plus Jakarta Sans" pitchFamily="34" charset="-120"/>
              </a:rPr>
              <a:t>인지 코드인지</a:t>
            </a:r>
            <a:endParaRPr lang="en-US" sz="3000" dirty="0"/>
          </a:p>
        </p:txBody>
      </p:sp>
      <p:sp>
        <p:nvSpPr>
          <p:cNvPr id="6" name="Text 3"/>
          <p:cNvSpPr/>
          <p:nvPr/>
        </p:nvSpPr>
        <p:spPr>
          <a:xfrm>
            <a:off x="990600" y="1525191"/>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085"/>
                </a:solidFill>
                <a:latin typeface="Inter" pitchFamily="34" charset="0"/>
                <a:ea typeface="Inter" pitchFamily="34" charset="-122"/>
                <a:cs typeface="Inter" pitchFamily="34" charset="-120"/>
              </a:rPr>
              <a:t>단계</a:t>
            </a:r>
            <a:endParaRPr lang="en-US" sz="1200" dirty="0"/>
          </a:p>
        </p:txBody>
      </p:sp>
      <p:sp>
        <p:nvSpPr>
          <p:cNvPr id="7" name="Text 4"/>
          <p:cNvSpPr/>
          <p:nvPr/>
        </p:nvSpPr>
        <p:spPr>
          <a:xfrm>
            <a:off x="3048000" y="1525191"/>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085"/>
                </a:solidFill>
                <a:latin typeface="Inter" pitchFamily="34" charset="0"/>
                <a:ea typeface="Inter" pitchFamily="34" charset="-122"/>
                <a:cs typeface="Inter" pitchFamily="34" charset="-120"/>
              </a:rPr>
              <a:t>하는 일</a:t>
            </a:r>
            <a:endParaRPr lang="en-US" sz="1200" dirty="0"/>
          </a:p>
        </p:txBody>
      </p:sp>
      <p:sp>
        <p:nvSpPr>
          <p:cNvPr id="8" name="Text 5"/>
          <p:cNvSpPr/>
          <p:nvPr/>
        </p:nvSpPr>
        <p:spPr>
          <a:xfrm>
            <a:off x="7645400" y="1525191"/>
            <a:ext cx="35318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AI</a:t>
            </a:r>
            <a:r>
              <a:rPr lang="en-US" sz="1200" b="1" dirty="0">
                <a:solidFill>
                  <a:srgbClr val="667085"/>
                </a:solidFill>
                <a:latin typeface="Inter" pitchFamily="34" charset="0"/>
                <a:ea typeface="Inter" pitchFamily="34" charset="-122"/>
                <a:cs typeface="Inter" pitchFamily="34" charset="-120"/>
              </a:rPr>
              <a:t>인지 코드인지</a:t>
            </a:r>
            <a:endParaRPr lang="en-US" sz="1200" dirty="0"/>
          </a:p>
        </p:txBody>
      </p:sp>
      <p:sp>
        <p:nvSpPr>
          <p:cNvPr id="9" name="Shape 6"/>
          <p:cNvSpPr/>
          <p:nvPr/>
        </p:nvSpPr>
        <p:spPr>
          <a:xfrm>
            <a:off x="819150" y="1782961"/>
            <a:ext cx="10553700" cy="302220"/>
          </a:xfrm>
          <a:prstGeom prst="roundRect">
            <a:avLst>
              <a:gd name="adj" fmla="val 31517"/>
            </a:avLst>
          </a:prstGeom>
          <a:solidFill>
            <a:srgbClr val="FFFFFF"/>
          </a:solidFill>
          <a:ln w="12700">
            <a:solidFill>
              <a:srgbClr val="C0CCE0"/>
            </a:solidFill>
            <a:prstDash val="solid"/>
          </a:ln>
        </p:spPr>
      </p:sp>
      <p:sp>
        <p:nvSpPr>
          <p:cNvPr id="10" name="Text 7"/>
          <p:cNvSpPr/>
          <p:nvPr/>
        </p:nvSpPr>
        <p:spPr>
          <a:xfrm>
            <a:off x="1003300" y="1827411"/>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1828"/>
                </a:solidFill>
                <a:latin typeface="Inter" pitchFamily="34" charset="0"/>
                <a:ea typeface="Inter" pitchFamily="34" charset="-122"/>
                <a:cs typeface="Inter" pitchFamily="34" charset="-120"/>
              </a:rPr>
              <a:t>분기</a:t>
            </a:r>
            <a:endParaRPr lang="en-US" sz="1200" dirty="0"/>
          </a:p>
        </p:txBody>
      </p:sp>
      <p:sp>
        <p:nvSpPr>
          <p:cNvPr id="11" name="Text 8"/>
          <p:cNvSpPr/>
          <p:nvPr/>
        </p:nvSpPr>
        <p:spPr>
          <a:xfrm>
            <a:off x="3060700" y="1835051"/>
            <a:ext cx="45783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467"/>
                </a:solidFill>
                <a:latin typeface="Inter" pitchFamily="34" charset="0"/>
                <a:ea typeface="Inter" pitchFamily="34" charset="-122"/>
                <a:cs typeface="Inter" pitchFamily="34" charset="-120"/>
              </a:rPr>
              <a:t>위급 표현·범위 밖 질문을 고정 응답으로 끝냄</a:t>
            </a:r>
            <a:endParaRPr lang="en-US" sz="1200" dirty="0"/>
          </a:p>
        </p:txBody>
      </p:sp>
      <p:sp>
        <p:nvSpPr>
          <p:cNvPr id="12" name="Text 9"/>
          <p:cNvSpPr/>
          <p:nvPr/>
        </p:nvSpPr>
        <p:spPr>
          <a:xfrm>
            <a:off x="7658100" y="1835051"/>
            <a:ext cx="353187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01828"/>
                </a:solidFill>
                <a:latin typeface="Inter" pitchFamily="34" charset="0"/>
                <a:ea typeface="Inter" pitchFamily="34" charset="-122"/>
                <a:cs typeface="Inter" pitchFamily="34" charset="-120"/>
              </a:rPr>
              <a:t>코드 (</a:t>
            </a:r>
            <a:r>
              <a:rPr lang="en-US" sz="1200" dirty="0">
                <a:solidFill>
                  <a:srgbClr val="175CD3"/>
                </a:solidFill>
                <a:latin typeface="Inter" pitchFamily="34" charset="0"/>
                <a:ea typeface="Inter" pitchFamily="34" charset="-122"/>
                <a:cs typeface="Inter" pitchFamily="34" charset="-120"/>
              </a:rPr>
              <a:t>AI</a:t>
            </a:r>
            <a:r>
              <a:rPr lang="en-US" sz="1200" dirty="0">
                <a:solidFill>
                  <a:srgbClr val="101828"/>
                </a:solidFill>
                <a:latin typeface="Inter" pitchFamily="34" charset="0"/>
                <a:ea typeface="Inter" pitchFamily="34" charset="-122"/>
                <a:cs typeface="Inter" pitchFamily="34" charset="-120"/>
              </a:rPr>
              <a:t> 없이 처리)</a:t>
            </a:r>
            <a:endParaRPr lang="en-US" sz="1200" dirty="0"/>
          </a:p>
        </p:txBody>
      </p:sp>
      <p:sp>
        <p:nvSpPr>
          <p:cNvPr id="13" name="Shape 10"/>
          <p:cNvSpPr/>
          <p:nvPr/>
        </p:nvSpPr>
        <p:spPr>
          <a:xfrm>
            <a:off x="819150" y="2135981"/>
            <a:ext cx="10553700" cy="484981"/>
          </a:xfrm>
          <a:prstGeom prst="roundRect">
            <a:avLst>
              <a:gd name="adj" fmla="val 19640"/>
            </a:avLst>
          </a:prstGeom>
          <a:solidFill>
            <a:srgbClr val="EFF8FF"/>
          </a:solidFill>
          <a:ln w="12700">
            <a:solidFill>
              <a:srgbClr val="1570EF"/>
            </a:solidFill>
            <a:prstDash val="solid"/>
          </a:ln>
        </p:spPr>
      </p:sp>
      <p:sp>
        <p:nvSpPr>
          <p:cNvPr id="14" name="Text 11"/>
          <p:cNvSpPr/>
          <p:nvPr/>
        </p:nvSpPr>
        <p:spPr>
          <a:xfrm>
            <a:off x="1003300" y="2271812"/>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의도 파악</a:t>
            </a:r>
            <a:endParaRPr lang="en-US" sz="1200" dirty="0"/>
          </a:p>
        </p:txBody>
      </p:sp>
      <p:sp>
        <p:nvSpPr>
          <p:cNvPr id="15" name="Text 12"/>
          <p:cNvSpPr/>
          <p:nvPr/>
        </p:nvSpPr>
        <p:spPr>
          <a:xfrm>
            <a:off x="3060700" y="2279452"/>
            <a:ext cx="45783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467"/>
                </a:solidFill>
                <a:latin typeface="Inter" pitchFamily="34" charset="0"/>
                <a:ea typeface="Inter" pitchFamily="34" charset="-122"/>
                <a:cs typeface="Inter" pitchFamily="34" charset="-120"/>
              </a:rPr>
              <a:t>질문의 의도와 재난 유형을 이해</a:t>
            </a:r>
            <a:endParaRPr lang="en-US" sz="1200" dirty="0"/>
          </a:p>
        </p:txBody>
      </p:sp>
      <p:sp>
        <p:nvSpPr>
          <p:cNvPr id="16" name="Text 13"/>
          <p:cNvSpPr/>
          <p:nvPr/>
        </p:nvSpPr>
        <p:spPr>
          <a:xfrm>
            <a:off x="7658100" y="2180431"/>
            <a:ext cx="35318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75CD3"/>
                </a:solidFill>
                <a:latin typeface="Inter" pitchFamily="34" charset="0"/>
                <a:ea typeface="Inter" pitchFamily="34" charset="-122"/>
                <a:cs typeface="Inter" pitchFamily="34" charset="-120"/>
              </a:rPr>
              <a:t>AI</a:t>
            </a:r>
            <a:r>
              <a:rPr lang="en-US" sz="1200" dirty="0">
                <a:solidFill>
                  <a:srgbClr val="101828"/>
                </a:solidFill>
                <a:latin typeface="Inter" pitchFamily="34" charset="0"/>
                <a:ea typeface="Inter" pitchFamily="34" charset="-122"/>
                <a:cs typeface="Inter" pitchFamily="34" charset="-120"/>
              </a:rPr>
              <a:t> + 규칙. </a:t>
            </a:r>
            <a:r>
              <a:rPr lang="en-US" sz="1200" dirty="0">
                <a:solidFill>
                  <a:srgbClr val="175CD3"/>
                </a:solidFill>
                <a:latin typeface="Inter" pitchFamily="34" charset="0"/>
                <a:ea typeface="Inter" pitchFamily="34" charset="-122"/>
                <a:cs typeface="Inter" pitchFamily="34" charset="-120"/>
              </a:rPr>
              <a:t>AI</a:t>
            </a:r>
            <a:r>
              <a:rPr lang="en-US" sz="1200" dirty="0">
                <a:solidFill>
                  <a:srgbClr val="101828"/>
                </a:solidFill>
                <a:latin typeface="Inter" pitchFamily="34" charset="0"/>
                <a:ea typeface="Inter" pitchFamily="34" charset="-122"/>
                <a:cs typeface="Inter" pitchFamily="34" charset="-120"/>
              </a:rPr>
              <a:t>가 낸 유형은 질문 글자에 근거가 있을 때만 채택</a:t>
            </a:r>
            <a:endParaRPr lang="en-US" sz="1200" dirty="0"/>
          </a:p>
        </p:txBody>
      </p:sp>
      <p:sp>
        <p:nvSpPr>
          <p:cNvPr id="17" name="Shape 14"/>
          <p:cNvSpPr/>
          <p:nvPr/>
        </p:nvSpPr>
        <p:spPr>
          <a:xfrm>
            <a:off x="819150" y="2671763"/>
            <a:ext cx="10553700" cy="302220"/>
          </a:xfrm>
          <a:prstGeom prst="roundRect">
            <a:avLst>
              <a:gd name="adj" fmla="val 31517"/>
            </a:avLst>
          </a:prstGeom>
          <a:solidFill>
            <a:srgbClr val="FFFFFF"/>
          </a:solidFill>
          <a:ln w="12700">
            <a:solidFill>
              <a:srgbClr val="C0CCE0"/>
            </a:solidFill>
            <a:prstDash val="solid"/>
          </a:ln>
        </p:spPr>
      </p:sp>
      <p:sp>
        <p:nvSpPr>
          <p:cNvPr id="18" name="Text 15"/>
          <p:cNvSpPr/>
          <p:nvPr/>
        </p:nvSpPr>
        <p:spPr>
          <a:xfrm>
            <a:off x="1003300" y="2716213"/>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1828"/>
                </a:solidFill>
                <a:latin typeface="Inter" pitchFamily="34" charset="0"/>
                <a:ea typeface="Inter" pitchFamily="34" charset="-122"/>
                <a:cs typeface="Inter" pitchFamily="34" charset="-120"/>
              </a:rPr>
              <a:t>지역 확정</a:t>
            </a:r>
            <a:endParaRPr lang="en-US" sz="1200" dirty="0"/>
          </a:p>
        </p:txBody>
      </p:sp>
      <p:sp>
        <p:nvSpPr>
          <p:cNvPr id="19" name="Text 16"/>
          <p:cNvSpPr/>
          <p:nvPr/>
        </p:nvSpPr>
        <p:spPr>
          <a:xfrm>
            <a:off x="3060700" y="2723852"/>
            <a:ext cx="45783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467"/>
                </a:solidFill>
                <a:latin typeface="Inter" pitchFamily="34" charset="0"/>
                <a:ea typeface="Inter" pitchFamily="34" charset="-122"/>
                <a:cs typeface="Inter" pitchFamily="34" charset="-120"/>
              </a:rPr>
              <a:t>지역 이름을 점수로 정하고, 겹치면 되묻기</a:t>
            </a:r>
            <a:endParaRPr lang="en-US" sz="1200" dirty="0"/>
          </a:p>
        </p:txBody>
      </p:sp>
      <p:sp>
        <p:nvSpPr>
          <p:cNvPr id="20" name="Text 17"/>
          <p:cNvSpPr/>
          <p:nvPr/>
        </p:nvSpPr>
        <p:spPr>
          <a:xfrm>
            <a:off x="7658100" y="2723852"/>
            <a:ext cx="353187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01828"/>
                </a:solidFill>
                <a:latin typeface="Inter" pitchFamily="34" charset="0"/>
                <a:ea typeface="Inter" pitchFamily="34" charset="-122"/>
                <a:cs typeface="Inter" pitchFamily="34" charset="-120"/>
              </a:rPr>
              <a:t>코드</a:t>
            </a:r>
            <a:endParaRPr lang="en-US" sz="1200" dirty="0"/>
          </a:p>
        </p:txBody>
      </p:sp>
      <p:sp>
        <p:nvSpPr>
          <p:cNvPr id="21" name="Shape 18"/>
          <p:cNvSpPr/>
          <p:nvPr/>
        </p:nvSpPr>
        <p:spPr>
          <a:xfrm>
            <a:off x="819150" y="3024783"/>
            <a:ext cx="10553700" cy="302220"/>
          </a:xfrm>
          <a:prstGeom prst="roundRect">
            <a:avLst>
              <a:gd name="adj" fmla="val 31517"/>
            </a:avLst>
          </a:prstGeom>
          <a:solidFill>
            <a:srgbClr val="FFFFFF"/>
          </a:solidFill>
          <a:ln w="12700">
            <a:solidFill>
              <a:srgbClr val="C0CCE0"/>
            </a:solidFill>
            <a:prstDash val="solid"/>
          </a:ln>
        </p:spPr>
      </p:sp>
      <p:sp>
        <p:nvSpPr>
          <p:cNvPr id="22" name="Text 19"/>
          <p:cNvSpPr/>
          <p:nvPr/>
        </p:nvSpPr>
        <p:spPr>
          <a:xfrm>
            <a:off x="1003300" y="3069233"/>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1828"/>
                </a:solidFill>
                <a:latin typeface="Inter" pitchFamily="34" charset="0"/>
                <a:ea typeface="Inter" pitchFamily="34" charset="-122"/>
                <a:cs typeface="Inter" pitchFamily="34" charset="-120"/>
              </a:rPr>
              <a:t>계획</a:t>
            </a:r>
            <a:endParaRPr lang="en-US" sz="1200" dirty="0"/>
          </a:p>
        </p:txBody>
      </p:sp>
      <p:sp>
        <p:nvSpPr>
          <p:cNvPr id="23" name="Text 20"/>
          <p:cNvSpPr/>
          <p:nvPr/>
        </p:nvSpPr>
        <p:spPr>
          <a:xfrm>
            <a:off x="3060700" y="3076873"/>
            <a:ext cx="45783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467"/>
                </a:solidFill>
                <a:latin typeface="Inter" pitchFamily="34" charset="0"/>
                <a:ea typeface="Inter" pitchFamily="34" charset="-122"/>
                <a:cs typeface="Inter" pitchFamily="34" charset="-120"/>
              </a:rPr>
              <a:t>어떤 자료를 조회할지 규칙 표로 결정</a:t>
            </a:r>
            <a:endParaRPr lang="en-US" sz="1200" dirty="0"/>
          </a:p>
        </p:txBody>
      </p:sp>
      <p:sp>
        <p:nvSpPr>
          <p:cNvPr id="24" name="Text 21"/>
          <p:cNvSpPr/>
          <p:nvPr/>
        </p:nvSpPr>
        <p:spPr>
          <a:xfrm>
            <a:off x="7658100" y="3076873"/>
            <a:ext cx="353187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01828"/>
                </a:solidFill>
                <a:latin typeface="Inter" pitchFamily="34" charset="0"/>
                <a:ea typeface="Inter" pitchFamily="34" charset="-122"/>
                <a:cs typeface="Inter" pitchFamily="34" charset="-120"/>
              </a:rPr>
              <a:t>코드</a:t>
            </a:r>
            <a:endParaRPr lang="en-US" sz="1200" dirty="0"/>
          </a:p>
        </p:txBody>
      </p:sp>
      <p:sp>
        <p:nvSpPr>
          <p:cNvPr id="25" name="Shape 22"/>
          <p:cNvSpPr/>
          <p:nvPr/>
        </p:nvSpPr>
        <p:spPr>
          <a:xfrm>
            <a:off x="819150" y="3377803"/>
            <a:ext cx="10553700" cy="302220"/>
          </a:xfrm>
          <a:prstGeom prst="roundRect">
            <a:avLst>
              <a:gd name="adj" fmla="val 31517"/>
            </a:avLst>
          </a:prstGeom>
          <a:solidFill>
            <a:srgbClr val="FFFFFF"/>
          </a:solidFill>
          <a:ln w="12700">
            <a:solidFill>
              <a:srgbClr val="C0CCE0"/>
            </a:solidFill>
            <a:prstDash val="solid"/>
          </a:ln>
        </p:spPr>
      </p:sp>
      <p:sp>
        <p:nvSpPr>
          <p:cNvPr id="26" name="Text 23"/>
          <p:cNvSpPr/>
          <p:nvPr/>
        </p:nvSpPr>
        <p:spPr>
          <a:xfrm>
            <a:off x="1003300" y="3422253"/>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1828"/>
                </a:solidFill>
                <a:latin typeface="Inter" pitchFamily="34" charset="0"/>
                <a:ea typeface="Inter" pitchFamily="34" charset="-122"/>
                <a:cs typeface="Inter" pitchFamily="34" charset="-120"/>
              </a:rPr>
              <a:t>조회</a:t>
            </a:r>
            <a:endParaRPr lang="en-US" sz="1200" dirty="0"/>
          </a:p>
        </p:txBody>
      </p:sp>
      <p:sp>
        <p:nvSpPr>
          <p:cNvPr id="27" name="Text 24"/>
          <p:cNvSpPr/>
          <p:nvPr/>
        </p:nvSpPr>
        <p:spPr>
          <a:xfrm>
            <a:off x="3060700" y="3429893"/>
            <a:ext cx="45783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467"/>
                </a:solidFill>
                <a:latin typeface="Inter" pitchFamily="34" charset="0"/>
                <a:ea typeface="Inter" pitchFamily="34" charset="-122"/>
                <a:cs typeface="Inter" pitchFamily="34" charset="-120"/>
              </a:rPr>
              <a:t>공공 API 동시 조회 (MCP)</a:t>
            </a:r>
            <a:endParaRPr lang="en-US" sz="1200" dirty="0"/>
          </a:p>
        </p:txBody>
      </p:sp>
      <p:sp>
        <p:nvSpPr>
          <p:cNvPr id="28" name="Text 25"/>
          <p:cNvSpPr/>
          <p:nvPr/>
        </p:nvSpPr>
        <p:spPr>
          <a:xfrm>
            <a:off x="7658100" y="3429893"/>
            <a:ext cx="353187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01828"/>
                </a:solidFill>
                <a:latin typeface="Inter" pitchFamily="34" charset="0"/>
                <a:ea typeface="Inter" pitchFamily="34" charset="-122"/>
                <a:cs typeface="Inter" pitchFamily="34" charset="-120"/>
              </a:rPr>
              <a:t>코드</a:t>
            </a:r>
            <a:endParaRPr lang="en-US" sz="1200" dirty="0"/>
          </a:p>
        </p:txBody>
      </p:sp>
      <p:sp>
        <p:nvSpPr>
          <p:cNvPr id="29" name="Shape 26"/>
          <p:cNvSpPr/>
          <p:nvPr/>
        </p:nvSpPr>
        <p:spPr>
          <a:xfrm>
            <a:off x="819150" y="3730823"/>
            <a:ext cx="10553700" cy="302220"/>
          </a:xfrm>
          <a:prstGeom prst="roundRect">
            <a:avLst>
              <a:gd name="adj" fmla="val 31517"/>
            </a:avLst>
          </a:prstGeom>
          <a:solidFill>
            <a:srgbClr val="FFFFFF"/>
          </a:solidFill>
          <a:ln w="12700">
            <a:solidFill>
              <a:srgbClr val="C0CCE0"/>
            </a:solidFill>
            <a:prstDash val="solid"/>
          </a:ln>
        </p:spPr>
      </p:sp>
      <p:sp>
        <p:nvSpPr>
          <p:cNvPr id="30" name="Text 27"/>
          <p:cNvSpPr/>
          <p:nvPr/>
        </p:nvSpPr>
        <p:spPr>
          <a:xfrm>
            <a:off x="1003300" y="3775273"/>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1828"/>
                </a:solidFill>
                <a:latin typeface="Inter" pitchFamily="34" charset="0"/>
                <a:ea typeface="Inter" pitchFamily="34" charset="-122"/>
                <a:cs typeface="Inter" pitchFamily="34" charset="-120"/>
              </a:rPr>
              <a:t>판정</a:t>
            </a:r>
            <a:endParaRPr lang="en-US" sz="1200" dirty="0"/>
          </a:p>
        </p:txBody>
      </p:sp>
      <p:sp>
        <p:nvSpPr>
          <p:cNvPr id="31" name="Text 28"/>
          <p:cNvSpPr/>
          <p:nvPr/>
        </p:nvSpPr>
        <p:spPr>
          <a:xfrm>
            <a:off x="3060700" y="3782913"/>
            <a:ext cx="45783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467"/>
                </a:solidFill>
                <a:latin typeface="Inter" pitchFamily="34" charset="0"/>
                <a:ea typeface="Inter" pitchFamily="34" charset="-122"/>
                <a:cs typeface="Inter" pitchFamily="34" charset="-120"/>
              </a:rPr>
              <a:t>특보 등급 계산</a:t>
            </a:r>
            <a:endParaRPr lang="en-US" sz="1200" dirty="0"/>
          </a:p>
        </p:txBody>
      </p:sp>
      <p:sp>
        <p:nvSpPr>
          <p:cNvPr id="32" name="Text 29"/>
          <p:cNvSpPr/>
          <p:nvPr/>
        </p:nvSpPr>
        <p:spPr>
          <a:xfrm>
            <a:off x="7658100" y="3782913"/>
            <a:ext cx="353187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01828"/>
                </a:solidFill>
                <a:latin typeface="Inter" pitchFamily="34" charset="0"/>
                <a:ea typeface="Inter" pitchFamily="34" charset="-122"/>
                <a:cs typeface="Inter" pitchFamily="34" charset="-120"/>
              </a:rPr>
              <a:t>코드</a:t>
            </a:r>
            <a:endParaRPr lang="en-US" sz="1200" dirty="0"/>
          </a:p>
        </p:txBody>
      </p:sp>
      <p:sp>
        <p:nvSpPr>
          <p:cNvPr id="33" name="Shape 30"/>
          <p:cNvSpPr/>
          <p:nvPr/>
        </p:nvSpPr>
        <p:spPr>
          <a:xfrm>
            <a:off x="819150" y="4083844"/>
            <a:ext cx="10553700" cy="302220"/>
          </a:xfrm>
          <a:prstGeom prst="roundRect">
            <a:avLst>
              <a:gd name="adj" fmla="val 31517"/>
            </a:avLst>
          </a:prstGeom>
          <a:solidFill>
            <a:srgbClr val="EFF8FF"/>
          </a:solidFill>
          <a:ln w="12700">
            <a:solidFill>
              <a:srgbClr val="1570EF"/>
            </a:solidFill>
            <a:prstDash val="solid"/>
          </a:ln>
        </p:spPr>
      </p:sp>
      <p:sp>
        <p:nvSpPr>
          <p:cNvPr id="34" name="Text 31"/>
          <p:cNvSpPr/>
          <p:nvPr/>
        </p:nvSpPr>
        <p:spPr>
          <a:xfrm>
            <a:off x="1003300" y="4128294"/>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작성</a:t>
            </a:r>
            <a:endParaRPr lang="en-US" sz="1200" dirty="0"/>
          </a:p>
        </p:txBody>
      </p:sp>
      <p:sp>
        <p:nvSpPr>
          <p:cNvPr id="35" name="Text 32"/>
          <p:cNvSpPr/>
          <p:nvPr/>
        </p:nvSpPr>
        <p:spPr>
          <a:xfrm>
            <a:off x="3060700" y="4135934"/>
            <a:ext cx="45783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467"/>
                </a:solidFill>
                <a:latin typeface="Inter" pitchFamily="34" charset="0"/>
                <a:ea typeface="Inter" pitchFamily="34" charset="-122"/>
                <a:cs typeface="Inter" pitchFamily="34" charset="-120"/>
              </a:rPr>
              <a:t>근거 번호를 붙여 답변 문장 작성</a:t>
            </a:r>
            <a:endParaRPr lang="en-US" sz="1200" dirty="0"/>
          </a:p>
        </p:txBody>
      </p:sp>
      <p:sp>
        <p:nvSpPr>
          <p:cNvPr id="36" name="Text 33"/>
          <p:cNvSpPr/>
          <p:nvPr/>
        </p:nvSpPr>
        <p:spPr>
          <a:xfrm>
            <a:off x="7658100" y="4135934"/>
            <a:ext cx="353187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75CD3"/>
                </a:solidFill>
                <a:latin typeface="Inter" pitchFamily="34" charset="0"/>
                <a:ea typeface="Inter" pitchFamily="34" charset="-122"/>
                <a:cs typeface="Inter" pitchFamily="34" charset="-120"/>
              </a:rPr>
              <a:t>AI</a:t>
            </a:r>
            <a:endParaRPr lang="en-US" sz="1200" dirty="0"/>
          </a:p>
        </p:txBody>
      </p:sp>
      <p:sp>
        <p:nvSpPr>
          <p:cNvPr id="37" name="Shape 34"/>
          <p:cNvSpPr/>
          <p:nvPr/>
        </p:nvSpPr>
        <p:spPr>
          <a:xfrm>
            <a:off x="819150" y="4436864"/>
            <a:ext cx="10553700" cy="302220"/>
          </a:xfrm>
          <a:prstGeom prst="roundRect">
            <a:avLst>
              <a:gd name="adj" fmla="val 31517"/>
            </a:avLst>
          </a:prstGeom>
          <a:solidFill>
            <a:srgbClr val="FFFFFF"/>
          </a:solidFill>
          <a:ln w="12700">
            <a:solidFill>
              <a:srgbClr val="C0CCE0"/>
            </a:solidFill>
            <a:prstDash val="solid"/>
          </a:ln>
        </p:spPr>
      </p:sp>
      <p:sp>
        <p:nvSpPr>
          <p:cNvPr id="38" name="Text 35"/>
          <p:cNvSpPr/>
          <p:nvPr/>
        </p:nvSpPr>
        <p:spPr>
          <a:xfrm>
            <a:off x="1003300" y="4481314"/>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1828"/>
                </a:solidFill>
                <a:latin typeface="Inter" pitchFamily="34" charset="0"/>
                <a:ea typeface="Inter" pitchFamily="34" charset="-122"/>
                <a:cs typeface="Inter" pitchFamily="34" charset="-120"/>
              </a:rPr>
              <a:t>검증</a:t>
            </a:r>
            <a:endParaRPr lang="en-US" sz="1200" dirty="0"/>
          </a:p>
        </p:txBody>
      </p:sp>
      <p:sp>
        <p:nvSpPr>
          <p:cNvPr id="39" name="Text 36"/>
          <p:cNvSpPr/>
          <p:nvPr/>
        </p:nvSpPr>
        <p:spPr>
          <a:xfrm>
            <a:off x="3060700" y="4488954"/>
            <a:ext cx="45783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467"/>
                </a:solidFill>
                <a:latin typeface="Inter" pitchFamily="34" charset="0"/>
                <a:ea typeface="Inter" pitchFamily="34" charset="-122"/>
                <a:cs typeface="Inter" pitchFamily="34" charset="-120"/>
              </a:rPr>
              <a:t>인용·특보 누락·날것 태그 등을 규칙으로 검사</a:t>
            </a:r>
            <a:endParaRPr lang="en-US" sz="1200" dirty="0"/>
          </a:p>
        </p:txBody>
      </p:sp>
      <p:sp>
        <p:nvSpPr>
          <p:cNvPr id="40" name="Text 37"/>
          <p:cNvSpPr/>
          <p:nvPr/>
        </p:nvSpPr>
        <p:spPr>
          <a:xfrm>
            <a:off x="7658100" y="4488954"/>
            <a:ext cx="353187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01828"/>
                </a:solidFill>
                <a:latin typeface="Inter" pitchFamily="34" charset="0"/>
                <a:ea typeface="Inter" pitchFamily="34" charset="-122"/>
                <a:cs typeface="Inter" pitchFamily="34" charset="-120"/>
              </a:rPr>
              <a:t>코드</a:t>
            </a:r>
            <a:endParaRPr lang="en-US" sz="1200" dirty="0"/>
          </a:p>
        </p:txBody>
      </p:sp>
      <p:sp>
        <p:nvSpPr>
          <p:cNvPr id="41" name="Shape 38"/>
          <p:cNvSpPr/>
          <p:nvPr/>
        </p:nvSpPr>
        <p:spPr>
          <a:xfrm>
            <a:off x="819150" y="4789884"/>
            <a:ext cx="10553700" cy="302220"/>
          </a:xfrm>
          <a:prstGeom prst="roundRect">
            <a:avLst>
              <a:gd name="adj" fmla="val 31517"/>
            </a:avLst>
          </a:prstGeom>
          <a:solidFill>
            <a:srgbClr val="FFFFFF"/>
          </a:solidFill>
          <a:ln w="12700">
            <a:solidFill>
              <a:srgbClr val="C0CCE0"/>
            </a:solidFill>
            <a:prstDash val="solid"/>
          </a:ln>
        </p:spPr>
      </p:sp>
      <p:sp>
        <p:nvSpPr>
          <p:cNvPr id="42" name="Text 39"/>
          <p:cNvSpPr/>
          <p:nvPr/>
        </p:nvSpPr>
        <p:spPr>
          <a:xfrm>
            <a:off x="1003300" y="4834334"/>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1828"/>
                </a:solidFill>
                <a:latin typeface="Inter" pitchFamily="34" charset="0"/>
                <a:ea typeface="Inter" pitchFamily="34" charset="-122"/>
                <a:cs typeface="Inter" pitchFamily="34" charset="-120"/>
              </a:rPr>
              <a:t>최종 · 재작성 · 고정 양식</a:t>
            </a:r>
            <a:endParaRPr lang="en-US" sz="1200" dirty="0"/>
          </a:p>
        </p:txBody>
      </p:sp>
      <p:sp>
        <p:nvSpPr>
          <p:cNvPr id="43" name="Text 40"/>
          <p:cNvSpPr/>
          <p:nvPr/>
        </p:nvSpPr>
        <p:spPr>
          <a:xfrm>
            <a:off x="3060700" y="4841974"/>
            <a:ext cx="45783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467"/>
                </a:solidFill>
                <a:latin typeface="Inter" pitchFamily="34" charset="0"/>
                <a:ea typeface="Inter" pitchFamily="34" charset="-122"/>
                <a:cs typeface="Inter" pitchFamily="34" charset="-120"/>
              </a:rPr>
              <a:t>통과하면 전달, 위반하면 1회 재작성, 그래도 위반이면 고정 양식</a:t>
            </a:r>
            <a:endParaRPr lang="en-US" sz="1200" dirty="0"/>
          </a:p>
        </p:txBody>
      </p:sp>
      <p:sp>
        <p:nvSpPr>
          <p:cNvPr id="44" name="Text 41"/>
          <p:cNvSpPr/>
          <p:nvPr/>
        </p:nvSpPr>
        <p:spPr>
          <a:xfrm>
            <a:off x="7658100" y="4841974"/>
            <a:ext cx="353187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01828"/>
                </a:solidFill>
                <a:latin typeface="Inter" pitchFamily="34" charset="0"/>
                <a:ea typeface="Inter" pitchFamily="34" charset="-122"/>
                <a:cs typeface="Inter" pitchFamily="34" charset="-120"/>
              </a:rPr>
              <a:t>코드</a:t>
            </a:r>
            <a:endParaRPr lang="en-US" sz="1200" dirty="0"/>
          </a:p>
        </p:txBody>
      </p:sp>
      <p:sp>
        <p:nvSpPr>
          <p:cNvPr id="45" name="Text 42"/>
          <p:cNvSpPr/>
          <p:nvPr/>
        </p:nvSpPr>
        <p:spPr>
          <a:xfrm>
            <a:off x="812800" y="525085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AI</a:t>
            </a:r>
            <a:r>
              <a:rPr lang="en-US" sz="1200" b="1" dirty="0">
                <a:solidFill>
                  <a:srgbClr val="101828"/>
                </a:solidFill>
                <a:latin typeface="Inter" pitchFamily="34" charset="0"/>
                <a:ea typeface="Inter" pitchFamily="34" charset="-122"/>
                <a:cs typeface="Inter" pitchFamily="34" charset="-120"/>
              </a:rPr>
              <a:t>(LLM)를 호출하는 곳은 의도 파악과 작성 두 곳뿐이고, 나머지 단계는 코드가 맡는다.</a:t>
            </a:r>
            <a:endParaRPr lang="en-US" sz="1200" dirty="0"/>
          </a:p>
        </p:txBody>
      </p:sp>
      <p:sp>
        <p:nvSpPr>
          <p:cNvPr id="46" name="Shape 43"/>
          <p:cNvSpPr/>
          <p:nvPr/>
        </p:nvSpPr>
        <p:spPr>
          <a:xfrm>
            <a:off x="812800" y="6248400"/>
            <a:ext cx="10566400" cy="6350"/>
          </a:xfrm>
          <a:prstGeom prst="rect">
            <a:avLst/>
          </a:prstGeom>
          <a:solidFill>
            <a:srgbClr val="D0D5DD"/>
          </a:solidFill>
          <a:ln/>
        </p:spPr>
      </p:sp>
      <p:sp>
        <p:nvSpPr>
          <p:cNvPr id="47" name="Text 44"/>
          <p:cNvSpPr/>
          <p:nvPr/>
        </p:nvSpPr>
        <p:spPr>
          <a:xfrm>
            <a:off x="812800" y="637540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 · 부록</a:t>
            </a:r>
            <a:endParaRPr lang="en-US" sz="1200" dirty="0"/>
          </a:p>
        </p:txBody>
      </p:sp>
      <p:sp>
        <p:nvSpPr>
          <p:cNvPr id="48" name="Text 45"/>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981075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부록 · 기술 요소</a:t>
            </a:r>
            <a:endParaRPr lang="en-US" sz="1400" dirty="0"/>
          </a:p>
        </p:txBody>
      </p:sp>
      <p:sp>
        <p:nvSpPr>
          <p:cNvPr id="5" name="Text 2"/>
          <p:cNvSpPr/>
          <p:nvPr>
            <p:ph type="title"/>
          </p:nvPr>
        </p:nvSpPr>
        <p:spPr>
          <a:xfrm>
            <a:off x="812800" y="934641"/>
            <a:ext cx="981075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Plus Jakarta Sans" pitchFamily="34" charset="0"/>
                <a:ea typeface="Plus Jakarta Sans" pitchFamily="34" charset="-122"/>
                <a:cs typeface="Plus Jakarta Sans" pitchFamily="34" charset="-120"/>
              </a:rPr>
              <a:t>나머지 기술 요소 상세</a:t>
            </a:r>
            <a:endParaRPr lang="en-US" sz="3000" dirty="0"/>
          </a:p>
        </p:txBody>
      </p:sp>
      <p:sp>
        <p:nvSpPr>
          <p:cNvPr id="6" name="Text 3"/>
          <p:cNvSpPr/>
          <p:nvPr/>
        </p:nvSpPr>
        <p:spPr>
          <a:xfrm>
            <a:off x="990600" y="1550591"/>
            <a:ext cx="1574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085"/>
                </a:solidFill>
                <a:latin typeface="Inter" pitchFamily="34" charset="0"/>
                <a:ea typeface="Inter" pitchFamily="34" charset="-122"/>
                <a:cs typeface="Inter" pitchFamily="34" charset="-120"/>
              </a:rPr>
              <a:t>기술</a:t>
            </a:r>
            <a:endParaRPr lang="en-US" sz="1200" dirty="0"/>
          </a:p>
        </p:txBody>
      </p:sp>
      <p:sp>
        <p:nvSpPr>
          <p:cNvPr id="7" name="Text 4"/>
          <p:cNvSpPr/>
          <p:nvPr/>
        </p:nvSpPr>
        <p:spPr>
          <a:xfrm>
            <a:off x="2667000" y="1550591"/>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085"/>
                </a:solidFill>
                <a:latin typeface="Inter" pitchFamily="34" charset="0"/>
                <a:ea typeface="Inter" pitchFamily="34" charset="-122"/>
                <a:cs typeface="Inter" pitchFamily="34" charset="-120"/>
              </a:rPr>
              <a:t>적용</a:t>
            </a:r>
            <a:endParaRPr lang="en-US" sz="1200" dirty="0"/>
          </a:p>
        </p:txBody>
      </p:sp>
      <p:sp>
        <p:nvSpPr>
          <p:cNvPr id="8" name="Text 5"/>
          <p:cNvSpPr/>
          <p:nvPr/>
        </p:nvSpPr>
        <p:spPr>
          <a:xfrm>
            <a:off x="7645400" y="1550591"/>
            <a:ext cx="32702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5CD3"/>
                </a:solidFill>
                <a:latin typeface="Inter" pitchFamily="34" charset="0"/>
                <a:ea typeface="Inter" pitchFamily="34" charset="-122"/>
                <a:cs typeface="Inter" pitchFamily="34" charset="-120"/>
              </a:rPr>
              <a:t>근거</a:t>
            </a:r>
            <a:endParaRPr lang="en-US" sz="1200" dirty="0"/>
          </a:p>
        </p:txBody>
      </p:sp>
      <p:sp>
        <p:nvSpPr>
          <p:cNvPr id="9" name="Shape 6"/>
          <p:cNvSpPr/>
          <p:nvPr/>
        </p:nvSpPr>
        <p:spPr>
          <a:xfrm>
            <a:off x="819150" y="1821061"/>
            <a:ext cx="10553700" cy="551061"/>
          </a:xfrm>
          <a:prstGeom prst="roundRect">
            <a:avLst>
              <a:gd name="adj" fmla="val 17285"/>
            </a:avLst>
          </a:prstGeom>
          <a:solidFill>
            <a:srgbClr val="FFFFFF"/>
          </a:solidFill>
          <a:ln w="12700">
            <a:solidFill>
              <a:srgbClr val="C0CCE0"/>
            </a:solidFill>
            <a:prstDash val="solid"/>
          </a:ln>
        </p:spPr>
      </p:sp>
      <p:sp>
        <p:nvSpPr>
          <p:cNvPr id="10" name="Text 7"/>
          <p:cNvSpPr/>
          <p:nvPr/>
        </p:nvSpPr>
        <p:spPr>
          <a:xfrm>
            <a:off x="1003300" y="1981002"/>
            <a:ext cx="1574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MCP</a:t>
            </a:r>
            <a:endParaRPr lang="en-US" sz="1300" dirty="0"/>
          </a:p>
        </p:txBody>
      </p:sp>
      <p:sp>
        <p:nvSpPr>
          <p:cNvPr id="11" name="Text 8"/>
          <p:cNvSpPr/>
          <p:nvPr/>
        </p:nvSpPr>
        <p:spPr>
          <a:xfrm>
            <a:off x="2679700" y="1890911"/>
            <a:ext cx="497078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공공 API 7종+지도 API를 MCP 서버(도구)로 제공하고, 백엔드는 같은 방식으로 호출한다.</a:t>
            </a:r>
            <a:endParaRPr lang="en-US" sz="1200" dirty="0"/>
          </a:p>
        </p:txBody>
      </p:sp>
      <p:sp>
        <p:nvSpPr>
          <p:cNvPr id="12" name="Text 9"/>
          <p:cNvSpPr/>
          <p:nvPr/>
        </p:nvSpPr>
        <p:spPr>
          <a:xfrm>
            <a:off x="7658100" y="1993702"/>
            <a:ext cx="327025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키 8개·발급처 3곳을 서버 안에 숨김</a:t>
            </a:r>
            <a:endParaRPr lang="en-US" sz="1200" dirty="0"/>
          </a:p>
        </p:txBody>
      </p:sp>
      <p:sp>
        <p:nvSpPr>
          <p:cNvPr id="13" name="Shape 10"/>
          <p:cNvSpPr/>
          <p:nvPr/>
        </p:nvSpPr>
        <p:spPr>
          <a:xfrm>
            <a:off x="819150" y="2435622"/>
            <a:ext cx="10553700" cy="551061"/>
          </a:xfrm>
          <a:prstGeom prst="roundRect">
            <a:avLst>
              <a:gd name="adj" fmla="val 17285"/>
            </a:avLst>
          </a:prstGeom>
          <a:solidFill>
            <a:srgbClr val="FFFFFF"/>
          </a:solidFill>
          <a:ln w="12700">
            <a:solidFill>
              <a:srgbClr val="C0CCE0"/>
            </a:solidFill>
            <a:prstDash val="solid"/>
          </a:ln>
        </p:spPr>
      </p:sp>
      <p:sp>
        <p:nvSpPr>
          <p:cNvPr id="14" name="Text 11"/>
          <p:cNvSpPr/>
          <p:nvPr/>
        </p:nvSpPr>
        <p:spPr>
          <a:xfrm>
            <a:off x="1003300" y="2595563"/>
            <a:ext cx="1574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의존성 주입</a:t>
            </a:r>
            <a:endParaRPr lang="en-US" sz="1300" dirty="0"/>
          </a:p>
        </p:txBody>
      </p:sp>
      <p:sp>
        <p:nvSpPr>
          <p:cNvPr id="15" name="Text 12"/>
          <p:cNvSpPr/>
          <p:nvPr/>
        </p:nvSpPr>
        <p:spPr>
          <a:xfrm>
            <a:off x="2679700" y="2505472"/>
            <a:ext cx="497078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모델(LLM_BACKEND: 테스트/실제)과 데이터(DATA_MODE: 저장본/실시간)를 설정으로 교체한다.</a:t>
            </a:r>
            <a:endParaRPr lang="en-US" sz="1200" dirty="0"/>
          </a:p>
        </p:txBody>
      </p:sp>
      <p:sp>
        <p:nvSpPr>
          <p:cNvPr id="16" name="Text 13"/>
          <p:cNvSpPr/>
          <p:nvPr/>
        </p:nvSpPr>
        <p:spPr>
          <a:xfrm>
            <a:off x="7658100" y="2505472"/>
            <a:ext cx="327025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같은 평가 세트를 테스트 모델과 qwen3:8b로 각각 통과</a:t>
            </a:r>
            <a:endParaRPr lang="en-US" sz="1200" dirty="0"/>
          </a:p>
        </p:txBody>
      </p:sp>
      <p:sp>
        <p:nvSpPr>
          <p:cNvPr id="17" name="Shape 14"/>
          <p:cNvSpPr/>
          <p:nvPr/>
        </p:nvSpPr>
        <p:spPr>
          <a:xfrm>
            <a:off x="819150" y="3050183"/>
            <a:ext cx="10553700" cy="370780"/>
          </a:xfrm>
          <a:prstGeom prst="roundRect">
            <a:avLst>
              <a:gd name="adj" fmla="val 25689"/>
            </a:avLst>
          </a:prstGeom>
          <a:solidFill>
            <a:srgbClr val="FFFFFF"/>
          </a:solidFill>
          <a:ln w="12700">
            <a:solidFill>
              <a:srgbClr val="C0CCE0"/>
            </a:solidFill>
            <a:prstDash val="solid"/>
          </a:ln>
        </p:spPr>
      </p:sp>
      <p:sp>
        <p:nvSpPr>
          <p:cNvPr id="18" name="Text 15"/>
          <p:cNvSpPr/>
          <p:nvPr/>
        </p:nvSpPr>
        <p:spPr>
          <a:xfrm>
            <a:off x="1003300" y="3120033"/>
            <a:ext cx="1574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LangSmith</a:t>
            </a:r>
            <a:endParaRPr lang="en-US" sz="1300" dirty="0"/>
          </a:p>
        </p:txBody>
      </p:sp>
      <p:sp>
        <p:nvSpPr>
          <p:cNvPr id="19" name="Text 16"/>
          <p:cNvSpPr/>
          <p:nvPr/>
        </p:nvSpPr>
        <p:spPr>
          <a:xfrm>
            <a:off x="2679700" y="3132733"/>
            <a:ext cx="497078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단계별 입력·출력을 추적하고, 평가 질문 세트를 같은 방식으로 실행한다.</a:t>
            </a:r>
            <a:endParaRPr lang="en-US" sz="1200" dirty="0"/>
          </a:p>
        </p:txBody>
      </p:sp>
      <p:sp>
        <p:nvSpPr>
          <p:cNvPr id="20" name="Text 17"/>
          <p:cNvSpPr/>
          <p:nvPr/>
        </p:nvSpPr>
        <p:spPr>
          <a:xfrm>
            <a:off x="7658100" y="3132733"/>
            <a:ext cx="327025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평가 질문 58건 (최신), 추적 화면은 다음 쪽</a:t>
            </a:r>
            <a:endParaRPr lang="en-US" sz="1200" dirty="0"/>
          </a:p>
        </p:txBody>
      </p:sp>
      <p:sp>
        <p:nvSpPr>
          <p:cNvPr id="21" name="Shape 18"/>
          <p:cNvSpPr/>
          <p:nvPr/>
        </p:nvSpPr>
        <p:spPr>
          <a:xfrm>
            <a:off x="819150" y="3484463"/>
            <a:ext cx="10553700" cy="370780"/>
          </a:xfrm>
          <a:prstGeom prst="roundRect">
            <a:avLst>
              <a:gd name="adj" fmla="val 25689"/>
            </a:avLst>
          </a:prstGeom>
          <a:solidFill>
            <a:srgbClr val="FFFFFF"/>
          </a:solidFill>
          <a:ln w="12700">
            <a:solidFill>
              <a:srgbClr val="C0CCE0"/>
            </a:solidFill>
            <a:prstDash val="solid"/>
          </a:ln>
        </p:spPr>
      </p:sp>
      <p:sp>
        <p:nvSpPr>
          <p:cNvPr id="22" name="Text 19"/>
          <p:cNvSpPr/>
          <p:nvPr/>
        </p:nvSpPr>
        <p:spPr>
          <a:xfrm>
            <a:off x="1003300" y="3554313"/>
            <a:ext cx="1574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모듈화</a:t>
            </a:r>
            <a:endParaRPr lang="en-US" sz="1300" dirty="0"/>
          </a:p>
        </p:txBody>
      </p:sp>
      <p:sp>
        <p:nvSpPr>
          <p:cNvPr id="23" name="Text 20"/>
          <p:cNvSpPr/>
          <p:nvPr/>
        </p:nvSpPr>
        <p:spPr>
          <a:xfrm>
            <a:off x="2679700" y="3567013"/>
            <a:ext cx="497078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데이터 서버 · 백엔드 · 화면을 컨테이너 3개로 나눴다.</a:t>
            </a:r>
            <a:endParaRPr lang="en-US" sz="1200" dirty="0"/>
          </a:p>
        </p:txBody>
      </p:sp>
      <p:sp>
        <p:nvSpPr>
          <p:cNvPr id="24" name="Text 21"/>
          <p:cNvSpPr/>
          <p:nvPr/>
        </p:nvSpPr>
        <p:spPr>
          <a:xfrm>
            <a:off x="7658100" y="3567013"/>
            <a:ext cx="327025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포트 8200 / 8100 / 8080</a:t>
            </a:r>
            <a:endParaRPr lang="en-US" sz="1200" dirty="0"/>
          </a:p>
        </p:txBody>
      </p:sp>
      <p:sp>
        <p:nvSpPr>
          <p:cNvPr id="25" name="Shape 22"/>
          <p:cNvSpPr/>
          <p:nvPr/>
        </p:nvSpPr>
        <p:spPr>
          <a:xfrm>
            <a:off x="819150" y="3918744"/>
            <a:ext cx="10553700" cy="370780"/>
          </a:xfrm>
          <a:prstGeom prst="roundRect">
            <a:avLst>
              <a:gd name="adj" fmla="val 25689"/>
            </a:avLst>
          </a:prstGeom>
          <a:solidFill>
            <a:srgbClr val="FFFFFF"/>
          </a:solidFill>
          <a:ln w="12700">
            <a:solidFill>
              <a:srgbClr val="C0CCE0"/>
            </a:solidFill>
            <a:prstDash val="solid"/>
          </a:ln>
        </p:spPr>
      </p:sp>
      <p:sp>
        <p:nvSpPr>
          <p:cNvPr id="26" name="Text 23"/>
          <p:cNvSpPr/>
          <p:nvPr/>
        </p:nvSpPr>
        <p:spPr>
          <a:xfrm>
            <a:off x="1003300" y="3988594"/>
            <a:ext cx="1574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단위 테스트</a:t>
            </a:r>
            <a:endParaRPr lang="en-US" sz="1300" dirty="0"/>
          </a:p>
        </p:txBody>
      </p:sp>
      <p:sp>
        <p:nvSpPr>
          <p:cNvPr id="27" name="Text 24"/>
          <p:cNvSpPr/>
          <p:nvPr/>
        </p:nvSpPr>
        <p:spPr>
          <a:xfrm>
            <a:off x="2679700" y="4001294"/>
            <a:ext cx="497078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MCP 서버와 백엔드를 각각 테스트하고, 평가 질문 세트로 회귀를 확인한다.</a:t>
            </a:r>
            <a:endParaRPr lang="en-US" sz="1200" dirty="0"/>
          </a:p>
        </p:txBody>
      </p:sp>
      <p:sp>
        <p:nvSpPr>
          <p:cNvPr id="28" name="Text 25"/>
          <p:cNvSpPr/>
          <p:nvPr/>
        </p:nvSpPr>
        <p:spPr>
          <a:xfrm>
            <a:off x="7658100" y="4001294"/>
            <a:ext cx="327025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MCP 82(스킵 2) + 백엔드 111 = 193개 통과</a:t>
            </a:r>
            <a:endParaRPr lang="en-US" sz="1200" dirty="0"/>
          </a:p>
        </p:txBody>
      </p:sp>
      <p:sp>
        <p:nvSpPr>
          <p:cNvPr id="29" name="Shape 26"/>
          <p:cNvSpPr/>
          <p:nvPr/>
        </p:nvSpPr>
        <p:spPr>
          <a:xfrm>
            <a:off x="819150" y="4353024"/>
            <a:ext cx="10553700" cy="551061"/>
          </a:xfrm>
          <a:prstGeom prst="roundRect">
            <a:avLst>
              <a:gd name="adj" fmla="val 17285"/>
            </a:avLst>
          </a:prstGeom>
          <a:solidFill>
            <a:srgbClr val="EFF8FF"/>
          </a:solidFill>
          <a:ln w="12700">
            <a:solidFill>
              <a:srgbClr val="B2DDFF"/>
            </a:solidFill>
            <a:prstDash val="solid"/>
          </a:ln>
        </p:spPr>
      </p:sp>
      <p:sp>
        <p:nvSpPr>
          <p:cNvPr id="30" name="Text 27"/>
          <p:cNvSpPr/>
          <p:nvPr/>
        </p:nvSpPr>
        <p:spPr>
          <a:xfrm>
            <a:off x="1003300" y="4512965"/>
            <a:ext cx="1574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RAG</a:t>
            </a:r>
            <a:endParaRPr lang="en-US" sz="1300" dirty="0"/>
          </a:p>
        </p:txBody>
      </p:sp>
      <p:sp>
        <p:nvSpPr>
          <p:cNvPr id="31" name="Text 28"/>
          <p:cNvSpPr/>
          <p:nvPr/>
        </p:nvSpPr>
        <p:spPr>
          <a:xfrm>
            <a:off x="2679700" y="4422874"/>
            <a:ext cx="497078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467"/>
                </a:solidFill>
                <a:latin typeface="Inter" pitchFamily="34" charset="0"/>
                <a:ea typeface="Inter" pitchFamily="34" charset="-122"/>
                <a:cs typeface="Inter" pitchFamily="34" charset="-120"/>
              </a:rPr>
              <a:t>검토 후 쓰지 않음. 행동요령 약 1,500건이 종류·시기·대상별로 정리돼 있어 규칙으로 고른다.</a:t>
            </a:r>
            <a:endParaRPr lang="en-US" sz="1200" dirty="0"/>
          </a:p>
        </p:txBody>
      </p:sp>
      <p:sp>
        <p:nvSpPr>
          <p:cNvPr id="32" name="Text 29"/>
          <p:cNvSpPr/>
          <p:nvPr/>
        </p:nvSpPr>
        <p:spPr>
          <a:xfrm>
            <a:off x="7658100" y="4525665"/>
            <a:ext cx="327025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01828"/>
                </a:solidFill>
                <a:latin typeface="Inter" pitchFamily="34" charset="0"/>
                <a:ea typeface="Inter" pitchFamily="34" charset="-122"/>
                <a:cs typeface="Inter" pitchFamily="34" charset="-120"/>
              </a:rPr>
              <a:t>같은 질문에 같은 근거를 위함</a:t>
            </a:r>
            <a:endParaRPr lang="en-US" sz="1200" dirty="0"/>
          </a:p>
        </p:txBody>
      </p:sp>
      <p:sp>
        <p:nvSpPr>
          <p:cNvPr id="33" name="Shape 30"/>
          <p:cNvSpPr/>
          <p:nvPr/>
        </p:nvSpPr>
        <p:spPr>
          <a:xfrm>
            <a:off x="812800" y="6248400"/>
            <a:ext cx="10566400" cy="6350"/>
          </a:xfrm>
          <a:prstGeom prst="rect">
            <a:avLst/>
          </a:prstGeom>
          <a:solidFill>
            <a:srgbClr val="D0D5DD"/>
          </a:solidFill>
          <a:ln/>
        </p:spPr>
      </p:sp>
      <p:sp>
        <p:nvSpPr>
          <p:cNvPr id="34" name="Text 31"/>
          <p:cNvSpPr/>
          <p:nvPr/>
        </p:nvSpPr>
        <p:spPr>
          <a:xfrm>
            <a:off x="812800" y="637540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 · 부록</a:t>
            </a:r>
            <a:endParaRPr lang="en-US" sz="1200" dirty="0"/>
          </a:p>
        </p:txBody>
      </p:sp>
      <p:sp>
        <p:nvSpPr>
          <p:cNvPr id="35" name="Text 32"/>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981075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부록 · 기술 요소</a:t>
            </a:r>
            <a:endParaRPr lang="en-US" sz="1400" dirty="0"/>
          </a:p>
        </p:txBody>
      </p:sp>
      <p:sp>
        <p:nvSpPr>
          <p:cNvPr id="5" name="Text 2"/>
          <p:cNvSpPr/>
          <p:nvPr>
            <p:ph type="title"/>
          </p:nvPr>
        </p:nvSpPr>
        <p:spPr>
          <a:xfrm>
            <a:off x="812800" y="934641"/>
            <a:ext cx="981075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Plus Jakarta Sans" pitchFamily="34" charset="0"/>
                <a:ea typeface="Plus Jakarta Sans" pitchFamily="34" charset="-122"/>
                <a:cs typeface="Plus Jakarta Sans" pitchFamily="34" charset="-120"/>
              </a:rPr>
              <a:t>LangSmith 추적 화면</a:t>
            </a:r>
            <a:endParaRPr lang="en-US" sz="3000" dirty="0"/>
          </a:p>
        </p:txBody>
      </p:sp>
      <p:sp>
        <p:nvSpPr>
          <p:cNvPr id="6" name="Shape 3"/>
          <p:cNvSpPr/>
          <p:nvPr/>
        </p:nvSpPr>
        <p:spPr>
          <a:xfrm>
            <a:off x="819150" y="1582341"/>
            <a:ext cx="5168900" cy="3563541"/>
          </a:xfrm>
          <a:prstGeom prst="roundRect">
            <a:avLst>
              <a:gd name="adj" fmla="val 2673"/>
            </a:avLst>
          </a:prstGeom>
          <a:solidFill>
            <a:srgbClr val="FFFFFF"/>
          </a:solidFill>
          <a:ln w="12700">
            <a:solidFill>
              <a:srgbClr val="C0CCE0"/>
            </a:solidFill>
            <a:prstDash val="solid"/>
          </a:ln>
        </p:spPr>
      </p:sp>
      <p:sp>
        <p:nvSpPr>
          <p:cNvPr id="7" name="Shape 4"/>
          <p:cNvSpPr/>
          <p:nvPr/>
        </p:nvSpPr>
        <p:spPr>
          <a:xfrm>
            <a:off x="977900" y="1741091"/>
            <a:ext cx="3931841" cy="2730500"/>
          </a:xfrm>
          <a:prstGeom prst="roundRect">
            <a:avLst>
              <a:gd name="adj" fmla="val 2791"/>
            </a:avLst>
          </a:prstGeom>
          <a:solidFill>
            <a:srgbClr val="F2F4F7"/>
          </a:solidFill>
          <a:ln/>
        </p:spPr>
      </p:sp>
      <p:pic>
        <p:nvPicPr>
          <p:cNvPr id="8" name="Image 1" descr="LangSmith 전체 추적">    </p:cNvPr>
          <p:cNvPicPr>
            <a:picLocks noChangeAspect="1"/>
          </p:cNvPicPr>
          <p:nvPr/>
        </p:nvPicPr>
        <p:blipFill>
          <a:blip r:embed="rId2"/>
          <a:srcRect l="0" r="0" t="-1" b="-1"/>
          <a:stretch/>
        </p:blipFill>
        <p:spPr>
          <a:xfrm>
            <a:off x="977900" y="1741091"/>
            <a:ext cx="3931841" cy="2730500"/>
          </a:xfrm>
          <a:prstGeom prst="roundRect">
            <a:avLst>
              <a:gd name="adj" fmla="val 2791"/>
            </a:avLst>
          </a:prstGeom>
        </p:spPr>
      </p:pic>
      <p:sp>
        <p:nvSpPr>
          <p:cNvPr id="9" name="Text 5"/>
          <p:cNvSpPr/>
          <p:nvPr/>
        </p:nvSpPr>
        <p:spPr>
          <a:xfrm>
            <a:off x="977900" y="4560491"/>
            <a:ext cx="499694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nter" pitchFamily="34" charset="0"/>
                <a:ea typeface="Inter" pitchFamily="34" charset="-122"/>
                <a:cs typeface="Inter" pitchFamily="34" charset="-120"/>
              </a:rPr>
              <a:t>질문 한 번(총 57.7초)의 전체 추적. 단계별 시간과 MCP 도구 호출이 보이고, </a:t>
            </a:r>
            <a:r>
              <a:rPr lang="en-US" sz="1200" dirty="0">
                <a:solidFill>
                  <a:srgbClr val="175CD3"/>
                </a:solidFill>
                <a:latin typeface="Inter" pitchFamily="34" charset="0"/>
                <a:ea typeface="Inter" pitchFamily="34" charset="-122"/>
                <a:cs typeface="Inter" pitchFamily="34" charset="-120"/>
              </a:rPr>
              <a:t>AI</a:t>
            </a:r>
            <a:r>
              <a:rPr lang="en-US" sz="1200" dirty="0">
                <a:solidFill>
                  <a:srgbClr val="475467"/>
                </a:solidFill>
                <a:latin typeface="Inter" pitchFamily="34" charset="0"/>
                <a:ea typeface="Inter" pitchFamily="34" charset="-122"/>
                <a:cs typeface="Inter" pitchFamily="34" charset="-120"/>
              </a:rPr>
              <a:t> 호출은 의도 파악(13.1초)과 작성(44.4초) 두 곳이다.</a:t>
            </a:r>
            <a:endParaRPr lang="en-US" sz="1200" dirty="0"/>
          </a:p>
        </p:txBody>
      </p:sp>
      <p:sp>
        <p:nvSpPr>
          <p:cNvPr id="10" name="Shape 6"/>
          <p:cNvSpPr/>
          <p:nvPr/>
        </p:nvSpPr>
        <p:spPr>
          <a:xfrm>
            <a:off x="6203950" y="1582341"/>
            <a:ext cx="5168900" cy="3563541"/>
          </a:xfrm>
          <a:prstGeom prst="roundRect">
            <a:avLst>
              <a:gd name="adj" fmla="val 2673"/>
            </a:avLst>
          </a:prstGeom>
          <a:solidFill>
            <a:srgbClr val="FFFFFF"/>
          </a:solidFill>
          <a:ln w="12700">
            <a:solidFill>
              <a:srgbClr val="C0CCE0"/>
            </a:solidFill>
            <a:prstDash val="solid"/>
          </a:ln>
        </p:spPr>
      </p:sp>
      <p:sp>
        <p:nvSpPr>
          <p:cNvPr id="11" name="Shape 7"/>
          <p:cNvSpPr/>
          <p:nvPr/>
        </p:nvSpPr>
        <p:spPr>
          <a:xfrm>
            <a:off x="6362700" y="1741091"/>
            <a:ext cx="3931841" cy="2730500"/>
          </a:xfrm>
          <a:prstGeom prst="roundRect">
            <a:avLst>
              <a:gd name="adj" fmla="val 2791"/>
            </a:avLst>
          </a:prstGeom>
          <a:solidFill>
            <a:srgbClr val="F2F4F7"/>
          </a:solidFill>
          <a:ln/>
        </p:spPr>
      </p:sp>
      <p:pic>
        <p:nvPicPr>
          <p:cNvPr id="12" name="Image 2" descr="의도 파악 AI 호출의 입력과 출력">    </p:cNvPr>
          <p:cNvPicPr>
            <a:picLocks noChangeAspect="1"/>
          </p:cNvPicPr>
          <p:nvPr/>
        </p:nvPicPr>
        <p:blipFill>
          <a:blip r:embed="rId3"/>
          <a:srcRect l="0" r="0" t="-1" b="-1"/>
          <a:stretch/>
        </p:blipFill>
        <p:spPr>
          <a:xfrm>
            <a:off x="6362700" y="1741091"/>
            <a:ext cx="3931841" cy="2730500"/>
          </a:xfrm>
          <a:prstGeom prst="roundRect">
            <a:avLst>
              <a:gd name="adj" fmla="val 2791"/>
            </a:avLst>
          </a:prstGeom>
        </p:spPr>
      </p:pic>
      <p:sp>
        <p:nvSpPr>
          <p:cNvPr id="13" name="Text 8"/>
          <p:cNvSpPr/>
          <p:nvPr/>
        </p:nvSpPr>
        <p:spPr>
          <a:xfrm>
            <a:off x="6362700" y="4560491"/>
            <a:ext cx="499694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nter" pitchFamily="34" charset="0"/>
                <a:ea typeface="Inter" pitchFamily="34" charset="-122"/>
                <a:cs typeface="Inter" pitchFamily="34" charset="-120"/>
              </a:rPr>
              <a:t>의도 파악 </a:t>
            </a:r>
            <a:r>
              <a:rPr lang="en-US" sz="1200" dirty="0">
                <a:solidFill>
                  <a:srgbClr val="175CD3"/>
                </a:solidFill>
                <a:latin typeface="Inter" pitchFamily="34" charset="0"/>
                <a:ea typeface="Inter" pitchFamily="34" charset="-122"/>
                <a:cs typeface="Inter" pitchFamily="34" charset="-120"/>
              </a:rPr>
              <a:t>AI</a:t>
            </a:r>
            <a:r>
              <a:rPr lang="en-US" sz="1200" dirty="0">
                <a:solidFill>
                  <a:srgbClr val="475467"/>
                </a:solidFill>
                <a:latin typeface="Inter" pitchFamily="34" charset="0"/>
                <a:ea typeface="Inter" pitchFamily="34" charset="-122"/>
                <a:cs typeface="Inter" pitchFamily="34" charset="-120"/>
              </a:rPr>
              <a:t> 호출의 입력(질문)과 출력(의도 go_out, 재난 유형 폭염, 장소 경기도 광주).</a:t>
            </a:r>
            <a:endParaRPr lang="en-US" sz="1200" dirty="0"/>
          </a:p>
        </p:txBody>
      </p:sp>
      <p:sp>
        <p:nvSpPr>
          <p:cNvPr id="14" name="Shape 9"/>
          <p:cNvSpPr/>
          <p:nvPr/>
        </p:nvSpPr>
        <p:spPr>
          <a:xfrm>
            <a:off x="812800" y="6248400"/>
            <a:ext cx="10566400" cy="6350"/>
          </a:xfrm>
          <a:prstGeom prst="rect">
            <a:avLst/>
          </a:prstGeom>
          <a:solidFill>
            <a:srgbClr val="D0D5DD"/>
          </a:solidFill>
          <a:ln/>
        </p:spPr>
      </p:sp>
      <p:sp>
        <p:nvSpPr>
          <p:cNvPr id="15" name="Text 10"/>
          <p:cNvSpPr/>
          <p:nvPr/>
        </p:nvSpPr>
        <p:spPr>
          <a:xfrm>
            <a:off x="812800" y="637540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 · 부록</a:t>
            </a:r>
            <a:endParaRPr lang="en-US" sz="1200" dirty="0"/>
          </a:p>
        </p:txBody>
      </p:sp>
      <p:sp>
        <p:nvSpPr>
          <p:cNvPr id="16" name="Text 11"/>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981075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부록 · 구현 화면</a:t>
            </a:r>
            <a:endParaRPr lang="en-US" sz="1400" dirty="0"/>
          </a:p>
        </p:txBody>
      </p:sp>
      <p:sp>
        <p:nvSpPr>
          <p:cNvPr id="5" name="Text 2"/>
          <p:cNvSpPr/>
          <p:nvPr>
            <p:ph type="title"/>
          </p:nvPr>
        </p:nvSpPr>
        <p:spPr>
          <a:xfrm>
            <a:off x="812800" y="934641"/>
            <a:ext cx="981075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Plus Jakarta Sans" pitchFamily="34" charset="0"/>
                <a:ea typeface="Plus Jakarta Sans" pitchFamily="34" charset="-122"/>
                <a:cs typeface="Plus Jakarta Sans" pitchFamily="34" charset="-120"/>
              </a:rPr>
              <a:t>구현 화면과 최종 실행 화면</a:t>
            </a:r>
            <a:endParaRPr lang="en-US" sz="3000" dirty="0"/>
          </a:p>
        </p:txBody>
      </p:sp>
      <p:sp>
        <p:nvSpPr>
          <p:cNvPr id="6" name="Text 3"/>
          <p:cNvSpPr/>
          <p:nvPr/>
        </p:nvSpPr>
        <p:spPr>
          <a:xfrm>
            <a:off x="812800" y="152519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nter" pitchFamily="34" charset="0"/>
                <a:ea typeface="Inter" pitchFamily="34" charset="-122"/>
                <a:cs typeface="Inter" pitchFamily="34" charset="-120"/>
              </a:rPr>
              <a:t>질문 1·2: “경기도 광주 폭염특보 났는데 지금 나가도 돼?” (기준 2026-08-24 12:00) · 질문 3: “호우 때 지하차도에서 차가 물에 잠기면 어떻게 탈출해?”</a:t>
            </a:r>
            <a:endParaRPr lang="en-US" sz="1200" dirty="0"/>
          </a:p>
        </p:txBody>
      </p:sp>
      <p:sp>
        <p:nvSpPr>
          <p:cNvPr id="7" name="Shape 4"/>
          <p:cNvSpPr/>
          <p:nvPr/>
        </p:nvSpPr>
        <p:spPr>
          <a:xfrm>
            <a:off x="819150" y="1897261"/>
            <a:ext cx="3407767" cy="3141861"/>
          </a:xfrm>
          <a:prstGeom prst="roundRect">
            <a:avLst>
              <a:gd name="adj" fmla="val 3032"/>
            </a:avLst>
          </a:prstGeom>
          <a:solidFill>
            <a:srgbClr val="FFFFFF"/>
          </a:solidFill>
          <a:ln w="12700">
            <a:solidFill>
              <a:srgbClr val="C0CCE0"/>
            </a:solidFill>
            <a:prstDash val="solid"/>
          </a:ln>
        </p:spPr>
      </p:sp>
      <p:sp>
        <p:nvSpPr>
          <p:cNvPr id="8" name="Shape 5"/>
          <p:cNvSpPr/>
          <p:nvPr/>
        </p:nvSpPr>
        <p:spPr>
          <a:xfrm>
            <a:off x="952500" y="2030611"/>
            <a:ext cx="3009900" cy="2159000"/>
          </a:xfrm>
          <a:prstGeom prst="roundRect">
            <a:avLst>
              <a:gd name="adj" fmla="val 3529"/>
            </a:avLst>
          </a:prstGeom>
          <a:solidFill>
            <a:srgbClr val="F2F4F7"/>
          </a:solidFill>
          <a:ln/>
        </p:spPr>
      </p:sp>
      <p:pic>
        <p:nvPicPr>
          <p:cNvPr id="9" name="Image 1" descr="진행 중 화면">    </p:cNvPr>
          <p:cNvPicPr>
            <a:picLocks noChangeAspect="1"/>
          </p:cNvPicPr>
          <p:nvPr/>
        </p:nvPicPr>
        <p:blipFill>
          <a:blip r:embed="rId2"/>
          <a:stretch>
            <a:fillRect/>
          </a:stretch>
        </p:blipFill>
        <p:spPr>
          <a:xfrm>
            <a:off x="952500" y="2291794"/>
            <a:ext cx="3009900" cy="1636633"/>
          </a:xfrm>
          <a:prstGeom prst="rect">
            <a:avLst/>
          </a:prstGeom>
        </p:spPr>
      </p:pic>
      <p:sp>
        <p:nvSpPr>
          <p:cNvPr id="10" name="Text 6"/>
          <p:cNvSpPr/>
          <p:nvPr/>
        </p:nvSpPr>
        <p:spPr>
          <a:xfrm>
            <a:off x="952500" y="4265811"/>
            <a:ext cx="32352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nter" pitchFamily="34" charset="0"/>
                <a:ea typeface="Inter" pitchFamily="34" charset="-122"/>
                <a:cs typeface="Inter" pitchFamily="34" charset="-120"/>
              </a:rPr>
              <a:t>진행 중: 노선도와 판정 띠(폭염경보 발효 중). 기본 요약은 검증을 통과했고 </a:t>
            </a:r>
            <a:r>
              <a:rPr lang="en-US" sz="1200" dirty="0">
                <a:solidFill>
                  <a:srgbClr val="175CD3"/>
                </a:solidFill>
                <a:latin typeface="Inter" pitchFamily="34" charset="0"/>
                <a:ea typeface="Inter" pitchFamily="34" charset="-122"/>
                <a:cs typeface="Inter" pitchFamily="34" charset="-120"/>
              </a:rPr>
              <a:t>AI</a:t>
            </a:r>
            <a:r>
              <a:rPr lang="en-US" sz="1200" dirty="0">
                <a:solidFill>
                  <a:srgbClr val="475467"/>
                </a:solidFill>
                <a:latin typeface="Inter" pitchFamily="34" charset="0"/>
                <a:ea typeface="Inter" pitchFamily="34" charset="-122"/>
                <a:cs typeface="Inter" pitchFamily="34" charset="-120"/>
              </a:rPr>
              <a:t> 답변을 작성하는 중.</a:t>
            </a:r>
            <a:endParaRPr lang="en-US" sz="1200" dirty="0"/>
          </a:p>
        </p:txBody>
      </p:sp>
      <p:sp>
        <p:nvSpPr>
          <p:cNvPr id="11" name="Shape 7"/>
          <p:cNvSpPr/>
          <p:nvPr/>
        </p:nvSpPr>
        <p:spPr>
          <a:xfrm>
            <a:off x="4392017" y="1897261"/>
            <a:ext cx="3407866" cy="3141861"/>
          </a:xfrm>
          <a:prstGeom prst="roundRect">
            <a:avLst>
              <a:gd name="adj" fmla="val 3032"/>
            </a:avLst>
          </a:prstGeom>
          <a:solidFill>
            <a:srgbClr val="FFFFFF"/>
          </a:solidFill>
          <a:ln w="12700">
            <a:solidFill>
              <a:srgbClr val="C0CCE0"/>
            </a:solidFill>
            <a:prstDash val="solid"/>
          </a:ln>
        </p:spPr>
      </p:sp>
      <p:sp>
        <p:nvSpPr>
          <p:cNvPr id="12" name="Shape 8"/>
          <p:cNvSpPr/>
          <p:nvPr/>
        </p:nvSpPr>
        <p:spPr>
          <a:xfrm>
            <a:off x="4525367" y="2030611"/>
            <a:ext cx="3130550" cy="2159000"/>
          </a:xfrm>
          <a:prstGeom prst="roundRect">
            <a:avLst>
              <a:gd name="adj" fmla="val 3529"/>
            </a:avLst>
          </a:prstGeom>
          <a:solidFill>
            <a:srgbClr val="F2F4F7"/>
          </a:solidFill>
          <a:ln/>
        </p:spPr>
      </p:sp>
      <p:pic>
        <p:nvPicPr>
          <p:cNvPr id="13" name="Image 2" descr="최종 답 화면">    </p:cNvPr>
          <p:cNvPicPr>
            <a:picLocks noChangeAspect="1"/>
          </p:cNvPicPr>
          <p:nvPr/>
        </p:nvPicPr>
        <p:blipFill>
          <a:blip r:embed="rId3"/>
          <a:stretch>
            <a:fillRect/>
          </a:stretch>
        </p:blipFill>
        <p:spPr>
          <a:xfrm>
            <a:off x="4525367" y="2258993"/>
            <a:ext cx="3130550" cy="1702237"/>
          </a:xfrm>
          <a:prstGeom prst="rect">
            <a:avLst/>
          </a:prstGeom>
        </p:spPr>
      </p:pic>
      <p:sp>
        <p:nvSpPr>
          <p:cNvPr id="14" name="Text 9"/>
          <p:cNvSpPr/>
          <p:nvPr/>
        </p:nvSpPr>
        <p:spPr>
          <a:xfrm>
            <a:off x="4525367" y="4265811"/>
            <a:ext cx="323540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nter" pitchFamily="34" charset="0"/>
                <a:ea typeface="Inter" pitchFamily="34" charset="-122"/>
                <a:cs typeface="Inter" pitchFamily="34" charset="-120"/>
              </a:rPr>
              <a:t>최종 답: 행동요령과 쉼터에 근거 번호(E1, G1~G7, S1~S3)가 붙고, 운영 여부를 모르는 쉼터는 그렇게 밝힌다.</a:t>
            </a:r>
            <a:endParaRPr lang="en-US" sz="1200" dirty="0"/>
          </a:p>
        </p:txBody>
      </p:sp>
      <p:sp>
        <p:nvSpPr>
          <p:cNvPr id="15" name="Shape 10"/>
          <p:cNvSpPr/>
          <p:nvPr/>
        </p:nvSpPr>
        <p:spPr>
          <a:xfrm>
            <a:off x="7964984" y="1897261"/>
            <a:ext cx="3407866" cy="3141861"/>
          </a:xfrm>
          <a:prstGeom prst="roundRect">
            <a:avLst>
              <a:gd name="adj" fmla="val 3032"/>
            </a:avLst>
          </a:prstGeom>
          <a:solidFill>
            <a:srgbClr val="FFFFFF"/>
          </a:solidFill>
          <a:ln w="12700">
            <a:solidFill>
              <a:srgbClr val="C0CCE0"/>
            </a:solidFill>
            <a:prstDash val="solid"/>
          </a:ln>
        </p:spPr>
      </p:sp>
      <p:sp>
        <p:nvSpPr>
          <p:cNvPr id="16" name="Shape 11"/>
          <p:cNvSpPr/>
          <p:nvPr/>
        </p:nvSpPr>
        <p:spPr>
          <a:xfrm>
            <a:off x="8098334" y="2030611"/>
            <a:ext cx="3105150" cy="2159000"/>
          </a:xfrm>
          <a:prstGeom prst="roundRect">
            <a:avLst>
              <a:gd name="adj" fmla="val 3529"/>
            </a:avLst>
          </a:prstGeom>
          <a:solidFill>
            <a:srgbClr val="F2F4F7"/>
          </a:solidFill>
          <a:ln/>
        </p:spPr>
      </p:sp>
      <p:pic>
        <p:nvPicPr>
          <p:cNvPr id="17" name="Image 3" descr="정보 없음 화면">    </p:cNvPr>
          <p:cNvPicPr>
            <a:picLocks noChangeAspect="1"/>
          </p:cNvPicPr>
          <p:nvPr/>
        </p:nvPicPr>
        <p:blipFill>
          <a:blip r:embed="rId4"/>
          <a:stretch>
            <a:fillRect/>
          </a:stretch>
        </p:blipFill>
        <p:spPr>
          <a:xfrm>
            <a:off x="8098334" y="2139752"/>
            <a:ext cx="3105150" cy="1940719"/>
          </a:xfrm>
          <a:prstGeom prst="rect">
            <a:avLst/>
          </a:prstGeom>
        </p:spPr>
      </p:pic>
      <p:sp>
        <p:nvSpPr>
          <p:cNvPr id="18" name="Text 12"/>
          <p:cNvSpPr/>
          <p:nvPr/>
        </p:nvSpPr>
        <p:spPr>
          <a:xfrm>
            <a:off x="8098334" y="4265811"/>
            <a:ext cx="323540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nter" pitchFamily="34" charset="0"/>
                <a:ea typeface="Inter" pitchFamily="34" charset="-122"/>
                <a:cs typeface="Inter" pitchFamily="34" charset="-120"/>
              </a:rPr>
              <a:t>공식 데이터에 없는 질문(차량 침수 탈출)은 지어내지 않고 “정보 없음”과 119·112 안내만 보여 준다.</a:t>
            </a:r>
            <a:endParaRPr lang="en-US" sz="1200" dirty="0"/>
          </a:p>
        </p:txBody>
      </p:sp>
      <p:sp>
        <p:nvSpPr>
          <p:cNvPr id="19" name="Shape 13"/>
          <p:cNvSpPr/>
          <p:nvPr/>
        </p:nvSpPr>
        <p:spPr>
          <a:xfrm>
            <a:off x="812800" y="6248400"/>
            <a:ext cx="10566400" cy="6350"/>
          </a:xfrm>
          <a:prstGeom prst="rect">
            <a:avLst/>
          </a:prstGeom>
          <a:solidFill>
            <a:srgbClr val="D0D5DD"/>
          </a:solidFill>
          <a:ln/>
        </p:spPr>
      </p:sp>
      <p:sp>
        <p:nvSpPr>
          <p:cNvPr id="20" name="Text 14"/>
          <p:cNvSpPr/>
          <p:nvPr/>
        </p:nvSpPr>
        <p:spPr>
          <a:xfrm>
            <a:off x="812800" y="637540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 · 부록</a:t>
            </a:r>
            <a:endParaRPr lang="en-US" sz="1200" dirty="0"/>
          </a:p>
        </p:txBody>
      </p:sp>
      <p:sp>
        <p:nvSpPr>
          <p:cNvPr id="21" name="Text 15"/>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981075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부록 · 개선 전/후 비교</a:t>
            </a:r>
            <a:endParaRPr lang="en-US" sz="1400" dirty="0"/>
          </a:p>
        </p:txBody>
      </p:sp>
      <p:sp>
        <p:nvSpPr>
          <p:cNvPr id="5" name="Text 2"/>
          <p:cNvSpPr/>
          <p:nvPr>
            <p:ph type="title"/>
          </p:nvPr>
        </p:nvSpPr>
        <p:spPr>
          <a:xfrm>
            <a:off x="812800" y="934641"/>
            <a:ext cx="981075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Plus Jakarta Sans" pitchFamily="34" charset="0"/>
                <a:ea typeface="Plus Jakarta Sans" pitchFamily="34" charset="-122"/>
                <a:cs typeface="Plus Jakarta Sans" pitchFamily="34" charset="-120"/>
              </a:rPr>
              <a:t>개선 전/후 측정 방법</a:t>
            </a:r>
            <a:endParaRPr lang="en-US" sz="3000" dirty="0"/>
          </a:p>
        </p:txBody>
      </p:sp>
      <p:sp>
        <p:nvSpPr>
          <p:cNvPr id="6" name="Text 3"/>
          <p:cNvSpPr/>
          <p:nvPr/>
        </p:nvSpPr>
        <p:spPr>
          <a:xfrm>
            <a:off x="990600" y="152519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085"/>
                </a:solidFill>
                <a:latin typeface="Inter" pitchFamily="34" charset="0"/>
                <a:ea typeface="Inter" pitchFamily="34" charset="-122"/>
                <a:cs typeface="Inter" pitchFamily="34" charset="-120"/>
              </a:rPr>
              <a:t>지표</a:t>
            </a:r>
            <a:endParaRPr lang="en-US" sz="1200" dirty="0"/>
          </a:p>
        </p:txBody>
      </p:sp>
      <p:sp>
        <p:nvSpPr>
          <p:cNvPr id="7" name="Text 4"/>
          <p:cNvSpPr/>
          <p:nvPr/>
        </p:nvSpPr>
        <p:spPr>
          <a:xfrm>
            <a:off x="3302000" y="1525191"/>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085"/>
                </a:solidFill>
                <a:latin typeface="Inter" pitchFamily="34" charset="0"/>
                <a:ea typeface="Inter" pitchFamily="34" charset="-122"/>
                <a:cs typeface="Inter" pitchFamily="34" charset="-120"/>
              </a:rPr>
              <a:t>어떻게 쟀나</a:t>
            </a:r>
            <a:endParaRPr lang="en-US" sz="1200" dirty="0"/>
          </a:p>
        </p:txBody>
      </p:sp>
      <p:sp>
        <p:nvSpPr>
          <p:cNvPr id="8" name="Text 5"/>
          <p:cNvSpPr/>
          <p:nvPr/>
        </p:nvSpPr>
        <p:spPr>
          <a:xfrm>
            <a:off x="9169400" y="1525191"/>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085"/>
                </a:solidFill>
                <a:latin typeface="Inter" pitchFamily="34" charset="0"/>
                <a:ea typeface="Inter" pitchFamily="34" charset="-122"/>
                <a:cs typeface="Inter" pitchFamily="34" charset="-120"/>
              </a:rPr>
              <a:t>쓴 모델</a:t>
            </a:r>
            <a:endParaRPr lang="en-US" sz="1200" dirty="0"/>
          </a:p>
        </p:txBody>
      </p:sp>
      <p:sp>
        <p:nvSpPr>
          <p:cNvPr id="9" name="Shape 6"/>
          <p:cNvSpPr/>
          <p:nvPr/>
        </p:nvSpPr>
        <p:spPr>
          <a:xfrm>
            <a:off x="819150" y="1782961"/>
            <a:ext cx="10553700" cy="345380"/>
          </a:xfrm>
          <a:prstGeom prst="roundRect">
            <a:avLst>
              <a:gd name="adj" fmla="val 27578"/>
            </a:avLst>
          </a:prstGeom>
          <a:solidFill>
            <a:srgbClr val="FFFFFF"/>
          </a:solidFill>
          <a:ln w="12700">
            <a:solidFill>
              <a:srgbClr val="C0CCE0"/>
            </a:solidFill>
            <a:prstDash val="solid"/>
          </a:ln>
        </p:spPr>
      </p:sp>
      <p:sp>
        <p:nvSpPr>
          <p:cNvPr id="10" name="Text 7"/>
          <p:cNvSpPr/>
          <p:nvPr/>
        </p:nvSpPr>
        <p:spPr>
          <a:xfrm>
            <a:off x="1003300" y="1840111"/>
            <a:ext cx="222377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중복 문장 비율</a:t>
            </a:r>
            <a:endParaRPr lang="en-US" sz="1300" dirty="0"/>
          </a:p>
        </p:txBody>
      </p:sp>
      <p:sp>
        <p:nvSpPr>
          <p:cNvPr id="11" name="Text 8"/>
          <p:cNvSpPr/>
          <p:nvPr/>
        </p:nvSpPr>
        <p:spPr>
          <a:xfrm>
            <a:off x="3314700" y="1856581"/>
            <a:ext cx="58864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467"/>
                </a:solidFill>
                <a:latin typeface="Inter" pitchFamily="34" charset="0"/>
                <a:ea typeface="Inter" pitchFamily="34" charset="-122"/>
                <a:cs typeface="Inter" pitchFamily="34" charset="-120"/>
              </a:rPr>
              <a:t>공통 질문 16건에서 코드가 고른 행동요령 문장 중 거의 같은 문장의 비율</a:t>
            </a:r>
            <a:endParaRPr lang="en-US" sz="1200" dirty="0"/>
          </a:p>
        </p:txBody>
      </p:sp>
      <p:sp>
        <p:nvSpPr>
          <p:cNvPr id="12" name="Text 9"/>
          <p:cNvSpPr/>
          <p:nvPr/>
        </p:nvSpPr>
        <p:spPr>
          <a:xfrm>
            <a:off x="9182100" y="1848941"/>
            <a:ext cx="170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28"/>
                </a:solidFill>
                <a:latin typeface="Inter" pitchFamily="34" charset="0"/>
                <a:ea typeface="Inter" pitchFamily="34" charset="-122"/>
                <a:cs typeface="Inter" pitchFamily="34" charset="-120"/>
              </a:rPr>
              <a:t>테스트 모델</a:t>
            </a:r>
            <a:endParaRPr lang="en-US" sz="1200" dirty="0"/>
          </a:p>
        </p:txBody>
      </p:sp>
      <p:sp>
        <p:nvSpPr>
          <p:cNvPr id="13" name="Shape 10"/>
          <p:cNvSpPr/>
          <p:nvPr/>
        </p:nvSpPr>
        <p:spPr>
          <a:xfrm>
            <a:off x="819150" y="2179141"/>
            <a:ext cx="10553700" cy="345380"/>
          </a:xfrm>
          <a:prstGeom prst="roundRect">
            <a:avLst>
              <a:gd name="adj" fmla="val 27578"/>
            </a:avLst>
          </a:prstGeom>
          <a:solidFill>
            <a:srgbClr val="FFFFFF"/>
          </a:solidFill>
          <a:ln w="12700">
            <a:solidFill>
              <a:srgbClr val="C0CCE0"/>
            </a:solidFill>
            <a:prstDash val="solid"/>
          </a:ln>
        </p:spPr>
      </p:sp>
      <p:sp>
        <p:nvSpPr>
          <p:cNvPr id="14" name="Text 11"/>
          <p:cNvSpPr/>
          <p:nvPr/>
        </p:nvSpPr>
        <p:spPr>
          <a:xfrm>
            <a:off x="1003300" y="2236291"/>
            <a:ext cx="222377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실패 원인 구분</a:t>
            </a:r>
            <a:endParaRPr lang="en-US" sz="1300" dirty="0"/>
          </a:p>
        </p:txBody>
      </p:sp>
      <p:sp>
        <p:nvSpPr>
          <p:cNvPr id="15" name="Text 12"/>
          <p:cNvSpPr/>
          <p:nvPr/>
        </p:nvSpPr>
        <p:spPr>
          <a:xfrm>
            <a:off x="3314700" y="2252762"/>
            <a:ext cx="58864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467"/>
                </a:solidFill>
                <a:latin typeface="Inter" pitchFamily="34" charset="0"/>
                <a:ea typeface="Inter" pitchFamily="34" charset="-122"/>
                <a:cs typeface="Inter" pitchFamily="34" charset="-120"/>
              </a:rPr>
              <a:t>API 장애 5종을 넣었을 때 보이는 서로 다른 안내 문구 수</a:t>
            </a:r>
            <a:endParaRPr lang="en-US" sz="1200" dirty="0"/>
          </a:p>
        </p:txBody>
      </p:sp>
      <p:sp>
        <p:nvSpPr>
          <p:cNvPr id="16" name="Text 13"/>
          <p:cNvSpPr/>
          <p:nvPr/>
        </p:nvSpPr>
        <p:spPr>
          <a:xfrm>
            <a:off x="9182100" y="2245122"/>
            <a:ext cx="170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28"/>
                </a:solidFill>
                <a:latin typeface="Inter" pitchFamily="34" charset="0"/>
                <a:ea typeface="Inter" pitchFamily="34" charset="-122"/>
                <a:cs typeface="Inter" pitchFamily="34" charset="-120"/>
              </a:rPr>
              <a:t>테스트 모델</a:t>
            </a:r>
            <a:endParaRPr lang="en-US" sz="1200" dirty="0"/>
          </a:p>
        </p:txBody>
      </p:sp>
      <p:sp>
        <p:nvSpPr>
          <p:cNvPr id="17" name="Shape 14"/>
          <p:cNvSpPr/>
          <p:nvPr/>
        </p:nvSpPr>
        <p:spPr>
          <a:xfrm>
            <a:off x="819150" y="2575322"/>
            <a:ext cx="10553700" cy="345380"/>
          </a:xfrm>
          <a:prstGeom prst="roundRect">
            <a:avLst>
              <a:gd name="adj" fmla="val 27578"/>
            </a:avLst>
          </a:prstGeom>
          <a:solidFill>
            <a:srgbClr val="FFFFFF"/>
          </a:solidFill>
          <a:ln w="12700">
            <a:solidFill>
              <a:srgbClr val="C0CCE0"/>
            </a:solidFill>
            <a:prstDash val="solid"/>
          </a:ln>
        </p:spPr>
      </p:sp>
      <p:sp>
        <p:nvSpPr>
          <p:cNvPr id="18" name="Text 15"/>
          <p:cNvSpPr/>
          <p:nvPr/>
        </p:nvSpPr>
        <p:spPr>
          <a:xfrm>
            <a:off x="1003300" y="2632472"/>
            <a:ext cx="222377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첫 답이 보이기까지</a:t>
            </a:r>
            <a:endParaRPr lang="en-US" sz="1300" dirty="0"/>
          </a:p>
        </p:txBody>
      </p:sp>
      <p:sp>
        <p:nvSpPr>
          <p:cNvPr id="19" name="Text 16"/>
          <p:cNvSpPr/>
          <p:nvPr/>
        </p:nvSpPr>
        <p:spPr>
          <a:xfrm>
            <a:off x="3314700" y="2648942"/>
            <a:ext cx="58864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467"/>
                </a:solidFill>
                <a:latin typeface="Inter" pitchFamily="34" charset="0"/>
                <a:ea typeface="Inter" pitchFamily="34" charset="-122"/>
                <a:cs typeface="Inter" pitchFamily="34" charset="-120"/>
              </a:rPr>
              <a:t>질문 후 검증된 기본 요약이 뜨는 시간, 평균</a:t>
            </a:r>
            <a:endParaRPr lang="en-US" sz="1200" dirty="0"/>
          </a:p>
        </p:txBody>
      </p:sp>
      <p:sp>
        <p:nvSpPr>
          <p:cNvPr id="20" name="Text 17"/>
          <p:cNvSpPr/>
          <p:nvPr/>
        </p:nvSpPr>
        <p:spPr>
          <a:xfrm>
            <a:off x="9182100" y="2641302"/>
            <a:ext cx="170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28"/>
                </a:solidFill>
                <a:latin typeface="Inter" pitchFamily="34" charset="0"/>
                <a:ea typeface="Inter" pitchFamily="34" charset="-122"/>
                <a:cs typeface="Inter" pitchFamily="34" charset="-120"/>
              </a:rPr>
              <a:t>qwen3:8b</a:t>
            </a:r>
            <a:endParaRPr lang="en-US" sz="1200" dirty="0"/>
          </a:p>
        </p:txBody>
      </p:sp>
      <p:sp>
        <p:nvSpPr>
          <p:cNvPr id="21" name="Shape 18"/>
          <p:cNvSpPr/>
          <p:nvPr/>
        </p:nvSpPr>
        <p:spPr>
          <a:xfrm>
            <a:off x="819150" y="2971502"/>
            <a:ext cx="10553700" cy="345380"/>
          </a:xfrm>
          <a:prstGeom prst="roundRect">
            <a:avLst>
              <a:gd name="adj" fmla="val 27578"/>
            </a:avLst>
          </a:prstGeom>
          <a:solidFill>
            <a:srgbClr val="FFFFFF"/>
          </a:solidFill>
          <a:ln w="12700">
            <a:solidFill>
              <a:srgbClr val="C0CCE0"/>
            </a:solidFill>
            <a:prstDash val="solid"/>
          </a:ln>
        </p:spPr>
      </p:sp>
      <p:sp>
        <p:nvSpPr>
          <p:cNvPr id="22" name="Text 19"/>
          <p:cNvSpPr/>
          <p:nvPr/>
        </p:nvSpPr>
        <p:spPr>
          <a:xfrm>
            <a:off x="1003300" y="3028652"/>
            <a:ext cx="222377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최종 답까지</a:t>
            </a:r>
            <a:endParaRPr lang="en-US" sz="1300" dirty="0"/>
          </a:p>
        </p:txBody>
      </p:sp>
      <p:sp>
        <p:nvSpPr>
          <p:cNvPr id="23" name="Text 20"/>
          <p:cNvSpPr/>
          <p:nvPr/>
        </p:nvSpPr>
        <p:spPr>
          <a:xfrm>
            <a:off x="3314700" y="3045123"/>
            <a:ext cx="58864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467"/>
                </a:solidFill>
                <a:latin typeface="Inter" pitchFamily="34" charset="0"/>
                <a:ea typeface="Inter" pitchFamily="34" charset="-122"/>
                <a:cs typeface="Inter" pitchFamily="34" charset="-120"/>
              </a:rPr>
              <a:t>검증을 마친 최종 답이 나오는 시간, 질문 7개 × 3회, 질문별 중앙값의 평균</a:t>
            </a:r>
            <a:endParaRPr lang="en-US" sz="1200" dirty="0"/>
          </a:p>
        </p:txBody>
      </p:sp>
      <p:sp>
        <p:nvSpPr>
          <p:cNvPr id="24" name="Text 21"/>
          <p:cNvSpPr/>
          <p:nvPr/>
        </p:nvSpPr>
        <p:spPr>
          <a:xfrm>
            <a:off x="9182100" y="3037483"/>
            <a:ext cx="170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28"/>
                </a:solidFill>
                <a:latin typeface="Inter" pitchFamily="34" charset="0"/>
                <a:ea typeface="Inter" pitchFamily="34" charset="-122"/>
                <a:cs typeface="Inter" pitchFamily="34" charset="-120"/>
              </a:rPr>
              <a:t>qwen3:8b</a:t>
            </a:r>
            <a:endParaRPr lang="en-US" sz="1200" dirty="0"/>
          </a:p>
        </p:txBody>
      </p:sp>
      <p:sp>
        <p:nvSpPr>
          <p:cNvPr id="25" name="Shape 22"/>
          <p:cNvSpPr/>
          <p:nvPr/>
        </p:nvSpPr>
        <p:spPr>
          <a:xfrm>
            <a:off x="819150" y="3367683"/>
            <a:ext cx="10553700" cy="345380"/>
          </a:xfrm>
          <a:prstGeom prst="roundRect">
            <a:avLst>
              <a:gd name="adj" fmla="val 27578"/>
            </a:avLst>
          </a:prstGeom>
          <a:solidFill>
            <a:srgbClr val="FFFFFF"/>
          </a:solidFill>
          <a:ln w="12700">
            <a:solidFill>
              <a:srgbClr val="C0CCE0"/>
            </a:solidFill>
            <a:prstDash val="solid"/>
          </a:ln>
        </p:spPr>
      </p:sp>
      <p:sp>
        <p:nvSpPr>
          <p:cNvPr id="26" name="Text 23"/>
          <p:cNvSpPr/>
          <p:nvPr/>
        </p:nvSpPr>
        <p:spPr>
          <a:xfrm>
            <a:off x="1003300" y="3424833"/>
            <a:ext cx="222377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평가 통과</a:t>
            </a:r>
            <a:endParaRPr lang="en-US" sz="1300" dirty="0"/>
          </a:p>
        </p:txBody>
      </p:sp>
      <p:sp>
        <p:nvSpPr>
          <p:cNvPr id="27" name="Text 24"/>
          <p:cNvSpPr/>
          <p:nvPr/>
        </p:nvSpPr>
        <p:spPr>
          <a:xfrm>
            <a:off x="3314700" y="3441303"/>
            <a:ext cx="58864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467"/>
                </a:solidFill>
                <a:latin typeface="Inter" pitchFamily="34" charset="0"/>
                <a:ea typeface="Inter" pitchFamily="34" charset="-122"/>
                <a:cs typeface="Inter" pitchFamily="34" charset="-120"/>
              </a:rPr>
              <a:t>같은 질문 44건, 채점 가능한 7개 지표</a:t>
            </a:r>
            <a:endParaRPr lang="en-US" sz="1200" dirty="0"/>
          </a:p>
        </p:txBody>
      </p:sp>
      <p:sp>
        <p:nvSpPr>
          <p:cNvPr id="28" name="Text 25"/>
          <p:cNvSpPr/>
          <p:nvPr/>
        </p:nvSpPr>
        <p:spPr>
          <a:xfrm>
            <a:off x="9182100" y="3433663"/>
            <a:ext cx="170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28"/>
                </a:solidFill>
                <a:latin typeface="Inter" pitchFamily="34" charset="0"/>
                <a:ea typeface="Inter" pitchFamily="34" charset="-122"/>
                <a:cs typeface="Inter" pitchFamily="34" charset="-120"/>
              </a:rPr>
              <a:t>가짜 모델</a:t>
            </a:r>
            <a:endParaRPr lang="en-US" sz="1200" dirty="0"/>
          </a:p>
        </p:txBody>
      </p:sp>
      <p:sp>
        <p:nvSpPr>
          <p:cNvPr id="29" name="Shape 26"/>
          <p:cNvSpPr/>
          <p:nvPr/>
        </p:nvSpPr>
        <p:spPr>
          <a:xfrm>
            <a:off x="819150" y="3763863"/>
            <a:ext cx="10553700" cy="345380"/>
          </a:xfrm>
          <a:prstGeom prst="roundRect">
            <a:avLst>
              <a:gd name="adj" fmla="val 27578"/>
            </a:avLst>
          </a:prstGeom>
          <a:solidFill>
            <a:srgbClr val="FFFFFF"/>
          </a:solidFill>
          <a:ln w="12700">
            <a:solidFill>
              <a:srgbClr val="C0CCE0"/>
            </a:solidFill>
            <a:prstDash val="solid"/>
          </a:ln>
        </p:spPr>
      </p:sp>
      <p:sp>
        <p:nvSpPr>
          <p:cNvPr id="30" name="Text 27"/>
          <p:cNvSpPr/>
          <p:nvPr/>
        </p:nvSpPr>
        <p:spPr>
          <a:xfrm>
            <a:off x="1003300" y="3821013"/>
            <a:ext cx="222377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8"/>
                </a:solidFill>
                <a:latin typeface="Inter" pitchFamily="34" charset="0"/>
                <a:ea typeface="Inter" pitchFamily="34" charset="-122"/>
                <a:cs typeface="Inter" pitchFamily="34" charset="-120"/>
              </a:rPr>
              <a:t>자동 테스트</a:t>
            </a:r>
            <a:endParaRPr lang="en-US" sz="1300" dirty="0"/>
          </a:p>
        </p:txBody>
      </p:sp>
      <p:sp>
        <p:nvSpPr>
          <p:cNvPr id="31" name="Text 28"/>
          <p:cNvSpPr/>
          <p:nvPr/>
        </p:nvSpPr>
        <p:spPr>
          <a:xfrm>
            <a:off x="3314700" y="3837484"/>
            <a:ext cx="588645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467"/>
                </a:solidFill>
                <a:latin typeface="Inter" pitchFamily="34" charset="0"/>
                <a:ea typeface="Inter" pitchFamily="34" charset="-122"/>
                <a:cs typeface="Inter" pitchFamily="34" charset="-120"/>
              </a:rPr>
              <a:t>고칠 때마다 돌리는 테스트 수</a:t>
            </a:r>
            <a:endParaRPr lang="en-US" sz="1200" dirty="0"/>
          </a:p>
        </p:txBody>
      </p:sp>
      <p:sp>
        <p:nvSpPr>
          <p:cNvPr id="32" name="Text 29"/>
          <p:cNvSpPr/>
          <p:nvPr/>
        </p:nvSpPr>
        <p:spPr>
          <a:xfrm>
            <a:off x="9182100" y="3829844"/>
            <a:ext cx="170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28"/>
                </a:solidFill>
                <a:latin typeface="Inter" pitchFamily="34" charset="0"/>
                <a:ea typeface="Inter" pitchFamily="34" charset="-122"/>
                <a:cs typeface="Inter" pitchFamily="34" charset="-120"/>
              </a:rPr>
              <a:t>모델 없음</a:t>
            </a:r>
            <a:endParaRPr lang="en-US" sz="1200" dirty="0"/>
          </a:p>
        </p:txBody>
      </p:sp>
      <p:sp>
        <p:nvSpPr>
          <p:cNvPr id="33" name="Shape 30"/>
          <p:cNvSpPr/>
          <p:nvPr/>
        </p:nvSpPr>
        <p:spPr>
          <a:xfrm>
            <a:off x="815975" y="4271169"/>
            <a:ext cx="10560050" cy="674291"/>
          </a:xfrm>
          <a:prstGeom prst="roundRect">
            <a:avLst>
              <a:gd name="adj" fmla="val 14597"/>
            </a:avLst>
          </a:prstGeom>
          <a:solidFill>
            <a:srgbClr val="EFF8FF"/>
          </a:solidFill>
          <a:ln w="6350">
            <a:solidFill>
              <a:srgbClr val="B2DDFF"/>
            </a:solidFill>
            <a:prstDash val="solid"/>
          </a:ln>
        </p:spPr>
      </p:sp>
      <p:sp>
        <p:nvSpPr>
          <p:cNvPr id="34" name="Text 31"/>
          <p:cNvSpPr/>
          <p:nvPr/>
        </p:nvSpPr>
        <p:spPr>
          <a:xfrm>
            <a:off x="996950" y="4375944"/>
            <a:ext cx="105040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28"/>
                </a:solidFill>
                <a:latin typeface="Inter" pitchFamily="34" charset="0"/>
                <a:ea typeface="Inter" pitchFamily="34" charset="-122"/>
                <a:cs typeface="Inter" pitchFamily="34" charset="-120"/>
              </a:rPr>
              <a:t>같은 질문 세트로 고치기 전과 고친 후를 비교했다. 응답 시간만 최신 코드로 다시 쟀다. 수치는 발표 7쪽, 실행 화면은 다음 쪽에 있다.</a:t>
            </a:r>
            <a:endParaRPr lang="en-US" sz="1200" dirty="0"/>
          </a:p>
        </p:txBody>
      </p:sp>
      <p:sp>
        <p:nvSpPr>
          <p:cNvPr id="35" name="Text 32"/>
          <p:cNvSpPr/>
          <p:nvPr/>
        </p:nvSpPr>
        <p:spPr>
          <a:xfrm>
            <a:off x="996950" y="4627364"/>
            <a:ext cx="105040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28"/>
                </a:solidFill>
                <a:latin typeface="Inter" pitchFamily="34" charset="0"/>
                <a:ea typeface="Inter" pitchFamily="34" charset="-122"/>
                <a:cs typeface="Inter" pitchFamily="34" charset="-120"/>
              </a:rPr>
              <a:t>재시도 횟수: 최신 평가에서 </a:t>
            </a:r>
            <a:r>
              <a:rPr lang="en-US" sz="1200" dirty="0">
                <a:solidFill>
                  <a:srgbClr val="175CD3"/>
                </a:solidFill>
                <a:latin typeface="Inter" pitchFamily="34" charset="0"/>
                <a:ea typeface="Inter" pitchFamily="34" charset="-122"/>
                <a:cs typeface="Inter" pitchFamily="34" charset="-120"/>
              </a:rPr>
              <a:t>AI</a:t>
            </a:r>
            <a:r>
              <a:rPr lang="en-US" sz="1200" dirty="0">
                <a:solidFill>
                  <a:srgbClr val="101828"/>
                </a:solidFill>
                <a:latin typeface="Inter" pitchFamily="34" charset="0"/>
                <a:ea typeface="Inter" pitchFamily="34" charset="-122"/>
                <a:cs typeface="Inter" pitchFamily="34" charset="-120"/>
              </a:rPr>
              <a:t> 작성 호출 49회 중 재작성은 6회였다(고친 후 기준).</a:t>
            </a:r>
            <a:endParaRPr lang="en-US" sz="1200" dirty="0"/>
          </a:p>
        </p:txBody>
      </p:sp>
      <p:sp>
        <p:nvSpPr>
          <p:cNvPr id="36" name="Shape 33"/>
          <p:cNvSpPr/>
          <p:nvPr/>
        </p:nvSpPr>
        <p:spPr>
          <a:xfrm>
            <a:off x="812800" y="6248400"/>
            <a:ext cx="10566400" cy="6350"/>
          </a:xfrm>
          <a:prstGeom prst="rect">
            <a:avLst/>
          </a:prstGeom>
          <a:solidFill>
            <a:srgbClr val="D0D5DD"/>
          </a:solidFill>
          <a:ln/>
        </p:spPr>
      </p:sp>
      <p:sp>
        <p:nvSpPr>
          <p:cNvPr id="37" name="Text 34"/>
          <p:cNvSpPr/>
          <p:nvPr/>
        </p:nvSpPr>
        <p:spPr>
          <a:xfrm>
            <a:off x="812800" y="637540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 · 부록</a:t>
            </a:r>
            <a:endParaRPr lang="en-US" sz="1200" dirty="0"/>
          </a:p>
        </p:txBody>
      </p:sp>
      <p:sp>
        <p:nvSpPr>
          <p:cNvPr id="38" name="Text 35"/>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981075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부록 · 개선 전/후 비교</a:t>
            </a:r>
            <a:endParaRPr lang="en-US" sz="1400" dirty="0"/>
          </a:p>
        </p:txBody>
      </p:sp>
      <p:sp>
        <p:nvSpPr>
          <p:cNvPr id="5" name="Text 2"/>
          <p:cNvSpPr/>
          <p:nvPr>
            <p:ph type="title"/>
          </p:nvPr>
        </p:nvSpPr>
        <p:spPr>
          <a:xfrm>
            <a:off x="812800" y="934641"/>
            <a:ext cx="981075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Plus Jakarta Sans" pitchFamily="34" charset="0"/>
                <a:ea typeface="Plus Jakarta Sans" pitchFamily="34" charset="-122"/>
                <a:cs typeface="Plus Jakarta Sans" pitchFamily="34" charset="-120"/>
              </a:rPr>
              <a:t>개선 전/후 비교 결과 화면</a:t>
            </a:r>
            <a:endParaRPr lang="en-US" sz="3000" dirty="0"/>
          </a:p>
        </p:txBody>
      </p:sp>
      <p:sp>
        <p:nvSpPr>
          <p:cNvPr id="6" name="Shape 3"/>
          <p:cNvSpPr/>
          <p:nvPr/>
        </p:nvSpPr>
        <p:spPr>
          <a:xfrm>
            <a:off x="819150" y="1556941"/>
            <a:ext cx="5168900" cy="3401020"/>
          </a:xfrm>
          <a:prstGeom prst="roundRect">
            <a:avLst>
              <a:gd name="adj" fmla="val 2801"/>
            </a:avLst>
          </a:prstGeom>
          <a:solidFill>
            <a:srgbClr val="FFFFFF"/>
          </a:solidFill>
          <a:ln w="12700">
            <a:solidFill>
              <a:srgbClr val="C0CCE0"/>
            </a:solidFill>
            <a:prstDash val="solid"/>
          </a:ln>
        </p:spPr>
      </p:sp>
      <p:sp>
        <p:nvSpPr>
          <p:cNvPr id="7" name="Shape 4"/>
          <p:cNvSpPr/>
          <p:nvPr/>
        </p:nvSpPr>
        <p:spPr>
          <a:xfrm>
            <a:off x="977900" y="1715691"/>
            <a:ext cx="3667522" cy="2794000"/>
          </a:xfrm>
          <a:prstGeom prst="roundRect">
            <a:avLst>
              <a:gd name="adj" fmla="val 2727"/>
            </a:avLst>
          </a:prstGeom>
          <a:solidFill>
            <a:srgbClr val="F2F4F7"/>
          </a:solidFill>
          <a:ln/>
        </p:spPr>
      </p:sp>
      <p:pic>
        <p:nvPicPr>
          <p:cNvPr id="8" name="Image 1" descr="중복·테스트 비교 출력">    </p:cNvPr>
          <p:cNvPicPr>
            <a:picLocks noChangeAspect="1"/>
          </p:cNvPicPr>
          <p:nvPr/>
        </p:nvPicPr>
        <p:blipFill>
          <a:blip r:embed="rId2"/>
          <a:srcRect l="0" r="0" t="-1" b="-1"/>
          <a:stretch/>
        </p:blipFill>
        <p:spPr>
          <a:xfrm>
            <a:off x="977900" y="1715691"/>
            <a:ext cx="3667522" cy="2794000"/>
          </a:xfrm>
          <a:prstGeom prst="roundRect">
            <a:avLst>
              <a:gd name="adj" fmla="val 2727"/>
            </a:avLst>
          </a:prstGeom>
        </p:spPr>
      </p:pic>
      <p:sp>
        <p:nvSpPr>
          <p:cNvPr id="9" name="Text 5"/>
          <p:cNvSpPr/>
          <p:nvPr/>
        </p:nvSpPr>
        <p:spPr>
          <a:xfrm>
            <a:off x="977900" y="4585891"/>
            <a:ext cx="499694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1828"/>
                </a:solidFill>
                <a:latin typeface="Inter" pitchFamily="34" charset="0"/>
                <a:ea typeface="Inter" pitchFamily="34" charset="-122"/>
                <a:cs typeface="Inter" pitchFamily="34" charset="-120"/>
              </a:rPr>
              <a:t>중복 문장 · 자동 테스트 비교 출력</a:t>
            </a:r>
            <a:endParaRPr lang="en-US" sz="1200" dirty="0"/>
          </a:p>
        </p:txBody>
      </p:sp>
      <p:sp>
        <p:nvSpPr>
          <p:cNvPr id="10" name="Shape 6"/>
          <p:cNvSpPr/>
          <p:nvPr/>
        </p:nvSpPr>
        <p:spPr>
          <a:xfrm>
            <a:off x="6203950" y="1556941"/>
            <a:ext cx="5168900" cy="3401020"/>
          </a:xfrm>
          <a:prstGeom prst="roundRect">
            <a:avLst>
              <a:gd name="adj" fmla="val 2801"/>
            </a:avLst>
          </a:prstGeom>
          <a:solidFill>
            <a:srgbClr val="FFFFFF"/>
          </a:solidFill>
          <a:ln w="12700">
            <a:solidFill>
              <a:srgbClr val="C0CCE0"/>
            </a:solidFill>
            <a:prstDash val="solid"/>
          </a:ln>
        </p:spPr>
      </p:sp>
      <p:sp>
        <p:nvSpPr>
          <p:cNvPr id="11" name="Shape 7"/>
          <p:cNvSpPr/>
          <p:nvPr/>
        </p:nvSpPr>
        <p:spPr>
          <a:xfrm>
            <a:off x="6362700" y="1715691"/>
            <a:ext cx="4312245" cy="2794000"/>
          </a:xfrm>
          <a:prstGeom prst="roundRect">
            <a:avLst>
              <a:gd name="adj" fmla="val 2727"/>
            </a:avLst>
          </a:prstGeom>
          <a:solidFill>
            <a:srgbClr val="F2F4F7"/>
          </a:solidFill>
          <a:ln/>
        </p:spPr>
      </p:sp>
      <p:pic>
        <p:nvPicPr>
          <p:cNvPr id="12" name="Image 2" descr="응답 시간 비교 표">    </p:cNvPr>
          <p:cNvPicPr>
            <a:picLocks noChangeAspect="1"/>
          </p:cNvPicPr>
          <p:nvPr/>
        </p:nvPicPr>
        <p:blipFill>
          <a:blip r:embed="rId3"/>
          <a:srcRect l="0" r="0" t="0" b="0"/>
          <a:stretch/>
        </p:blipFill>
        <p:spPr>
          <a:xfrm>
            <a:off x="6362700" y="1715691"/>
            <a:ext cx="4312245" cy="2794000"/>
          </a:xfrm>
          <a:prstGeom prst="roundRect">
            <a:avLst>
              <a:gd name="adj" fmla="val 2727"/>
            </a:avLst>
          </a:prstGeom>
        </p:spPr>
      </p:pic>
      <p:sp>
        <p:nvSpPr>
          <p:cNvPr id="13" name="Text 8"/>
          <p:cNvSpPr/>
          <p:nvPr/>
        </p:nvSpPr>
        <p:spPr>
          <a:xfrm>
            <a:off x="6362700" y="4585891"/>
            <a:ext cx="499694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01828"/>
                </a:solidFill>
                <a:latin typeface="Inter" pitchFamily="34" charset="0"/>
                <a:ea typeface="Inter" pitchFamily="34" charset="-122"/>
                <a:cs typeface="Inter" pitchFamily="34" charset="-120"/>
              </a:rPr>
              <a:t>응답 시간 비교 표</a:t>
            </a:r>
            <a:endParaRPr lang="en-US" sz="1200" dirty="0"/>
          </a:p>
        </p:txBody>
      </p:sp>
      <p:sp>
        <p:nvSpPr>
          <p:cNvPr id="14" name="Text 9"/>
          <p:cNvSpPr/>
          <p:nvPr/>
        </p:nvSpPr>
        <p:spPr>
          <a:xfrm>
            <a:off x="812800" y="514211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nter" pitchFamily="34" charset="0"/>
                <a:ea typeface="Inter" pitchFamily="34" charset="-122"/>
                <a:cs typeface="Inter" pitchFamily="34" charset="-120"/>
              </a:rPr>
              <a:t>같은 질문 세트로 고치기 전(aec2694)·후(a40cf11)를 비교 실행한 출력과 응답 시간 표. 해시는 작성자 정보를 통일하기 전 e13c10f·6c62b95와 같은 코드다.</a:t>
            </a:r>
            <a:endParaRPr lang="en-US" sz="1200" dirty="0"/>
          </a:p>
        </p:txBody>
      </p:sp>
      <p:sp>
        <p:nvSpPr>
          <p:cNvPr id="15" name="Shape 10"/>
          <p:cNvSpPr/>
          <p:nvPr/>
        </p:nvSpPr>
        <p:spPr>
          <a:xfrm>
            <a:off x="812800" y="6248400"/>
            <a:ext cx="10566400" cy="6350"/>
          </a:xfrm>
          <a:prstGeom prst="rect">
            <a:avLst/>
          </a:prstGeom>
          <a:solidFill>
            <a:srgbClr val="D0D5DD"/>
          </a:solidFill>
          <a:ln/>
        </p:spPr>
      </p:sp>
      <p:sp>
        <p:nvSpPr>
          <p:cNvPr id="16" name="Text 11"/>
          <p:cNvSpPr/>
          <p:nvPr/>
        </p:nvSpPr>
        <p:spPr>
          <a:xfrm>
            <a:off x="812800" y="637540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 · 부록</a:t>
            </a:r>
            <a:endParaRPr lang="en-US" sz="1200" dirty="0"/>
          </a:p>
        </p:txBody>
      </p:sp>
      <p:sp>
        <p:nvSpPr>
          <p:cNvPr id="17" name="Text 12"/>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800" cy="6858000"/>
          </a:xfrm>
          <a:prstGeom prst="rect">
            <a:avLst/>
          </a:prstGeom>
          <a:solidFill>
            <a:srgbClr val="1570EF"/>
          </a:solidFill>
          <a:ln/>
        </p:spPr>
      </p:sp>
      <p:pic>
        <p:nvPicPr>
          <p:cNvPr id="3" name="Image 0" descr="장식 점 무늬">    </p:cNvPr>
          <p:cNvPicPr>
            <a:picLocks noChangeAspect="1"/>
          </p:cNvPicPr>
          <p:nvPr/>
        </p:nvPicPr>
        <p:blipFill>
          <a:blip r:embed="rId1">
            <a:alphaModFix amt="40000"/>
          </a:blip>
          <a:srcRect l="0" r="0" t="0" b="0"/>
          <a:stretch/>
        </p:blipFill>
        <p:spPr>
          <a:xfrm>
            <a:off x="10871200" y="304800"/>
            <a:ext cx="1016000" cy="1016000"/>
          </a:xfrm>
          <a:prstGeom prst="rect">
            <a:avLst/>
          </a:prstGeom>
        </p:spPr>
      </p:pic>
      <p:sp>
        <p:nvSpPr>
          <p:cNvPr id="4" name="Text 1"/>
          <p:cNvSpPr/>
          <p:nvPr/>
        </p:nvSpPr>
        <p:spPr>
          <a:xfrm>
            <a:off x="812800" y="609600"/>
            <a:ext cx="981075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70EF"/>
                </a:solidFill>
                <a:latin typeface="Inter" pitchFamily="34" charset="0"/>
                <a:ea typeface="Inter" pitchFamily="34" charset="-122"/>
                <a:cs typeface="Inter" pitchFamily="34" charset="-120"/>
              </a:rPr>
              <a:t>부록 · 소감과 향후 계획</a:t>
            </a:r>
            <a:endParaRPr lang="en-US" sz="1400" dirty="0"/>
          </a:p>
        </p:txBody>
      </p:sp>
      <p:sp>
        <p:nvSpPr>
          <p:cNvPr id="5" name="Text 2"/>
          <p:cNvSpPr/>
          <p:nvPr>
            <p:ph type="title"/>
          </p:nvPr>
        </p:nvSpPr>
        <p:spPr>
          <a:xfrm>
            <a:off x="812800" y="934641"/>
            <a:ext cx="981075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Plus Jakarta Sans" pitchFamily="34" charset="0"/>
                <a:ea typeface="Plus Jakarta Sans" pitchFamily="34" charset="-122"/>
                <a:cs typeface="Plus Jakarta Sans" pitchFamily="34" charset="-120"/>
              </a:rPr>
              <a:t>느낀 점 및 향후 개선</a:t>
            </a:r>
            <a:endParaRPr lang="en-US" sz="3000" dirty="0"/>
          </a:p>
        </p:txBody>
      </p:sp>
      <p:sp>
        <p:nvSpPr>
          <p:cNvPr id="6" name="Shape 3"/>
          <p:cNvSpPr/>
          <p:nvPr/>
        </p:nvSpPr>
        <p:spPr>
          <a:xfrm>
            <a:off x="819150" y="1556941"/>
            <a:ext cx="5175250" cy="2411214"/>
          </a:xfrm>
          <a:prstGeom prst="roundRect">
            <a:avLst>
              <a:gd name="adj" fmla="val 3950"/>
            </a:avLst>
          </a:prstGeom>
          <a:solidFill>
            <a:srgbClr val="FFFFFF"/>
          </a:solidFill>
          <a:ln w="12700">
            <a:solidFill>
              <a:srgbClr val="C0CCE0"/>
            </a:solidFill>
            <a:prstDash val="solid"/>
          </a:ln>
        </p:spPr>
      </p:sp>
      <p:sp>
        <p:nvSpPr>
          <p:cNvPr id="7" name="Text 4"/>
          <p:cNvSpPr/>
          <p:nvPr/>
        </p:nvSpPr>
        <p:spPr>
          <a:xfrm>
            <a:off x="1054100" y="1766491"/>
            <a:ext cx="4846511"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8"/>
                </a:solidFill>
                <a:latin typeface="Plus Jakarta Sans" pitchFamily="34" charset="0"/>
                <a:ea typeface="Plus Jakarta Sans" pitchFamily="34" charset="-122"/>
                <a:cs typeface="Plus Jakarta Sans" pitchFamily="34" charset="-120"/>
              </a:rPr>
              <a:t>느낀 점</a:t>
            </a:r>
            <a:endParaRPr lang="en-US" sz="1900" dirty="0"/>
          </a:p>
        </p:txBody>
      </p:sp>
      <p:sp>
        <p:nvSpPr>
          <p:cNvPr id="8" name="Text 5"/>
          <p:cNvSpPr/>
          <p:nvPr/>
        </p:nvSpPr>
        <p:spPr>
          <a:xfrm>
            <a:off x="1054100" y="2144911"/>
            <a:ext cx="4846511"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75467"/>
                </a:solidFill>
                <a:latin typeface="Inter" pitchFamily="34" charset="0"/>
                <a:ea typeface="Inter" pitchFamily="34" charset="-122"/>
                <a:cs typeface="Inter" pitchFamily="34" charset="-120"/>
              </a:rPr>
              <a:t>· </a:t>
            </a:r>
            <a:r>
              <a:rPr lang="en-US" sz="1300" dirty="0">
                <a:solidFill>
                  <a:srgbClr val="175CD3"/>
                </a:solidFill>
                <a:latin typeface="Inter" pitchFamily="34" charset="0"/>
                <a:ea typeface="Inter" pitchFamily="34" charset="-122"/>
                <a:cs typeface="Inter" pitchFamily="34" charset="-120"/>
              </a:rPr>
              <a:t>AI</a:t>
            </a:r>
            <a:r>
              <a:rPr lang="en-US" sz="1300" dirty="0">
                <a:solidFill>
                  <a:srgbClr val="475467"/>
                </a:solidFill>
                <a:latin typeface="Inter" pitchFamily="34" charset="0"/>
                <a:ea typeface="Inter" pitchFamily="34" charset="-122"/>
                <a:cs typeface="Inter" pitchFamily="34" charset="-120"/>
              </a:rPr>
              <a:t>에게 맡길 일과 코드가 할 일을 나누는 것이 정확성의 핵심이었다. </a:t>
            </a:r>
            <a:r>
              <a:rPr lang="en-US" sz="1300" dirty="0">
                <a:solidFill>
                  <a:srgbClr val="175CD3"/>
                </a:solidFill>
                <a:latin typeface="Inter" pitchFamily="34" charset="0"/>
                <a:ea typeface="Inter" pitchFamily="34" charset="-122"/>
                <a:cs typeface="Inter" pitchFamily="34" charset="-120"/>
              </a:rPr>
              <a:t>AI</a:t>
            </a:r>
            <a:r>
              <a:rPr lang="en-US" sz="1300" dirty="0">
                <a:solidFill>
                  <a:srgbClr val="475467"/>
                </a:solidFill>
                <a:latin typeface="Inter" pitchFamily="34" charset="0"/>
                <a:ea typeface="Inter" pitchFamily="34" charset="-122"/>
                <a:cs typeface="Inter" pitchFamily="34" charset="-120"/>
              </a:rPr>
              <a:t>가 질문에 없는 ‘태풍’을 3번 지어냈을 때 코드 검증이 모두 걸러 냈다.</a:t>
            </a:r>
            <a:endParaRPr lang="en-US" sz="1300" dirty="0"/>
          </a:p>
        </p:txBody>
      </p:sp>
      <p:sp>
        <p:nvSpPr>
          <p:cNvPr id="9" name="Text 6"/>
          <p:cNvSpPr/>
          <p:nvPr/>
        </p:nvSpPr>
        <p:spPr>
          <a:xfrm>
            <a:off x="1054100" y="2712442"/>
            <a:ext cx="4846511"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75467"/>
                </a:solidFill>
                <a:latin typeface="Inter" pitchFamily="34" charset="0"/>
                <a:ea typeface="Inter" pitchFamily="34" charset="-122"/>
                <a:cs typeface="Inter" pitchFamily="34" charset="-120"/>
              </a:rPr>
              <a:t>· 측정하니 개선이 숫자로 보였다. 대신 최종 답이 약 15초에서 약 30초로 느려진 대가도 같이 보였다.</a:t>
            </a:r>
            <a:endParaRPr lang="en-US" sz="1300" dirty="0"/>
          </a:p>
        </p:txBody>
      </p:sp>
      <p:sp>
        <p:nvSpPr>
          <p:cNvPr id="10" name="Text 7"/>
          <p:cNvSpPr/>
          <p:nvPr/>
        </p:nvSpPr>
        <p:spPr>
          <a:xfrm>
            <a:off x="1054100" y="3279973"/>
            <a:ext cx="4846511"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75467"/>
                </a:solidFill>
                <a:latin typeface="Inter" pitchFamily="34" charset="0"/>
                <a:ea typeface="Inter" pitchFamily="34" charset="-122"/>
                <a:cs typeface="Inter" pitchFamily="34" charset="-120"/>
              </a:rPr>
              <a:t>· 공식 데이터에 없는 내용은 “정보 없음”이라고 답하는 쪽이 더 믿을 만하다고 느꼈다.</a:t>
            </a:r>
            <a:endParaRPr lang="en-US" sz="1300" dirty="0"/>
          </a:p>
        </p:txBody>
      </p:sp>
      <p:sp>
        <p:nvSpPr>
          <p:cNvPr id="11" name="Shape 8"/>
          <p:cNvSpPr/>
          <p:nvPr/>
        </p:nvSpPr>
        <p:spPr>
          <a:xfrm>
            <a:off x="6207125" y="1553766"/>
            <a:ext cx="5168900" cy="2417564"/>
          </a:xfrm>
          <a:prstGeom prst="roundRect">
            <a:avLst>
              <a:gd name="adj" fmla="val 4071"/>
            </a:avLst>
          </a:prstGeom>
          <a:solidFill>
            <a:srgbClr val="EFF8FF"/>
          </a:solidFill>
          <a:ln w="6350">
            <a:solidFill>
              <a:srgbClr val="B2DDFF"/>
            </a:solidFill>
            <a:prstDash val="solid"/>
          </a:ln>
        </p:spPr>
      </p:sp>
      <p:sp>
        <p:nvSpPr>
          <p:cNvPr id="12" name="Text 9"/>
          <p:cNvSpPr/>
          <p:nvPr/>
        </p:nvSpPr>
        <p:spPr>
          <a:xfrm>
            <a:off x="6438900" y="1760141"/>
            <a:ext cx="4846511"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75CD3"/>
                </a:solidFill>
                <a:latin typeface="Plus Jakarta Sans" pitchFamily="34" charset="0"/>
                <a:ea typeface="Plus Jakarta Sans" pitchFamily="34" charset="-122"/>
                <a:cs typeface="Plus Jakarta Sans" pitchFamily="34" charset="-120"/>
              </a:rPr>
              <a:t>향후 개선</a:t>
            </a:r>
            <a:endParaRPr lang="en-US" sz="1900" dirty="0"/>
          </a:p>
        </p:txBody>
      </p:sp>
      <p:sp>
        <p:nvSpPr>
          <p:cNvPr id="13" name="Text 10"/>
          <p:cNvSpPr/>
          <p:nvPr/>
        </p:nvSpPr>
        <p:spPr>
          <a:xfrm>
            <a:off x="6438900" y="2138561"/>
            <a:ext cx="4846511"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01828"/>
                </a:solidFill>
                <a:latin typeface="Inter" pitchFamily="34" charset="0"/>
                <a:ea typeface="Inter" pitchFamily="34" charset="-122"/>
                <a:cs typeface="Inter" pitchFamily="34" charset="-120"/>
              </a:rPr>
              <a:t>· 검증에서 반려된 사유를 모아 분석한다.</a:t>
            </a:r>
            <a:endParaRPr lang="en-US" sz="1300" dirty="0"/>
          </a:p>
        </p:txBody>
      </p:sp>
      <p:sp>
        <p:nvSpPr>
          <p:cNvPr id="14" name="Text 11"/>
          <p:cNvSpPr/>
          <p:nvPr/>
        </p:nvSpPr>
        <p:spPr>
          <a:xfrm>
            <a:off x="6438900" y="2466777"/>
            <a:ext cx="4846511"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01828"/>
                </a:solidFill>
                <a:latin typeface="Inter" pitchFamily="34" charset="0"/>
                <a:ea typeface="Inter" pitchFamily="34" charset="-122"/>
                <a:cs typeface="Inter" pitchFamily="34" charset="-120"/>
              </a:rPr>
              <a:t>· 호출이 늘면 캐시를 둔다.</a:t>
            </a:r>
            <a:endParaRPr lang="en-US" sz="1300" dirty="0"/>
          </a:p>
        </p:txBody>
      </p:sp>
      <p:sp>
        <p:nvSpPr>
          <p:cNvPr id="15" name="Text 12"/>
          <p:cNvSpPr/>
          <p:nvPr/>
        </p:nvSpPr>
        <p:spPr>
          <a:xfrm>
            <a:off x="6438900" y="2794992"/>
            <a:ext cx="4846511"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01828"/>
                </a:solidFill>
                <a:latin typeface="Inter" pitchFamily="34" charset="0"/>
                <a:ea typeface="Inter" pitchFamily="34" charset="-122"/>
                <a:cs typeface="Inter" pitchFamily="34" charset="-120"/>
              </a:rPr>
              <a:t>· 침수 피해지도, 열대야(무더위) 지도, 한파 지도 등</a:t>
            </a:r>
            <a:endParaRPr lang="en-US" sz="1300" dirty="0"/>
          </a:p>
        </p:txBody>
      </p:sp>
      <p:sp>
        <p:nvSpPr>
          <p:cNvPr id="16" name="Text 13"/>
          <p:cNvSpPr/>
          <p:nvPr/>
        </p:nvSpPr>
        <p:spPr>
          <a:xfrm>
            <a:off x="6438900" y="3123208"/>
            <a:ext cx="4846511"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01828"/>
                </a:solidFill>
                <a:latin typeface="Inter" pitchFamily="34" charset="0"/>
                <a:ea typeface="Inter" pitchFamily="34" charset="-122"/>
                <a:cs typeface="Inter" pitchFamily="34" charset="-120"/>
              </a:rPr>
              <a:t>· 그 밖의 계획(전국 특보 지도, 대피소 길찾기, 문장 단위 검증, 지역 이름 구분)은 발표 10쪽에 있다.</a:t>
            </a:r>
            <a:endParaRPr lang="en-US" sz="1300" dirty="0"/>
          </a:p>
        </p:txBody>
      </p:sp>
      <p:sp>
        <p:nvSpPr>
          <p:cNvPr id="17" name="Text 14"/>
          <p:cNvSpPr/>
          <p:nvPr/>
        </p:nvSpPr>
        <p:spPr>
          <a:xfrm>
            <a:off x="819150" y="4158655"/>
            <a:ext cx="10553700" cy="745331"/>
          </a:xfrm>
          <a:prstGeom prst="roundRect">
            <a:avLst>
              <a:gd name="adj" fmla="val 12780"/>
            </a:avLst>
          </a:prstGeom>
          <a:solidFill>
            <a:srgbClr val="FFFFFF"/>
          </a:solidFill>
          <a:ln w="12700">
            <a:solidFill>
              <a:srgbClr val="C0CCE0"/>
            </a:solidFill>
            <a:prstDash val="solid"/>
          </a:ln>
        </p:spPr>
        <p:txBody>
          <a:bodyPr wrap="square" lIns="207052" tIns="105452" rIns="0" bIns="80052" rtlCol="0" anchor="t">
            <a:normAutofit/>
          </a:bodyPr>
          <a:lstStyle/>
          <a:p>
            <a:pPr algn="l" indent="0" marL="0">
              <a:lnSpc>
                <a:spcPts val="1885"/>
              </a:lnSpc>
              <a:buNone/>
            </a:pPr>
            <a:r>
              <a:rPr lang="en-US" sz="1300" dirty="0">
                <a:solidFill>
                  <a:srgbClr val="475467"/>
                </a:solidFill>
                <a:latin typeface="Inter" pitchFamily="34" charset="0"/>
                <a:ea typeface="Inter" pitchFamily="34" charset="-122"/>
                <a:cs typeface="Inter" pitchFamily="34" charset="-120"/>
              </a:rPr>
              <a:t>· 침수, 도로통제 등의 상황 시에 안전한 길이라던가 경로를 도입하고 싶었는데, ITS(도로정보 API)가 월 호출제한 100건이라서 사용을 못 했다. 기간이 충분했다면 호출량 증량 신청한 후에 적용해보고 싶었다.</a:t>
            </a:r>
            <a:endParaRPr lang="en-US" sz="1300" dirty="0"/>
          </a:p>
        </p:txBody>
      </p:sp>
      <p:sp>
        <p:nvSpPr>
          <p:cNvPr id="18" name="Shape 15"/>
          <p:cNvSpPr/>
          <p:nvPr/>
        </p:nvSpPr>
        <p:spPr>
          <a:xfrm>
            <a:off x="812800" y="6248400"/>
            <a:ext cx="10566400" cy="6350"/>
          </a:xfrm>
          <a:prstGeom prst="rect">
            <a:avLst/>
          </a:prstGeom>
          <a:solidFill>
            <a:srgbClr val="D0D5DD"/>
          </a:solidFill>
          <a:ln/>
        </p:spPr>
      </p:sp>
      <p:sp>
        <p:nvSpPr>
          <p:cNvPr id="19" name="Text 16"/>
          <p:cNvSpPr/>
          <p:nvPr/>
        </p:nvSpPr>
        <p:spPr>
          <a:xfrm>
            <a:off x="812800" y="637540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nter" pitchFamily="34" charset="0"/>
                <a:ea typeface="Inter" pitchFamily="34" charset="-122"/>
                <a:cs typeface="Inter" pitchFamily="34" charset="-120"/>
              </a:rPr>
              <a:t>재난문자 모아보기 · 부록</a:t>
            </a:r>
            <a:endParaRPr lang="en-US" sz="1200" dirty="0"/>
          </a:p>
        </p:txBody>
      </p:sp>
      <p:sp>
        <p:nvSpPr>
          <p:cNvPr id="20" name="Text 17"/>
          <p:cNvSpPr/>
          <p:nvPr/>
        </p:nvSpPr>
        <p:spPr>
          <a:xfrm>
            <a:off x="10058400" y="63754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085"/>
                </a:solidFill>
                <a:latin typeface="Inter" pitchFamily="34" charset="0"/>
                <a:ea typeface="Inter" pitchFamily="34" charset="-122"/>
                <a:cs typeface="Inter" pitchFamily="34" charset="-120"/>
              </a:rPr>
              <a:t>20</a:t>
            </a:r>
            <a:endParaRPr lang="en-US" sz="1200" dirty="0"/>
          </a:p>
        </p:txBody>
      </p:sp>
    </p:spTree>
  </p:cSld>
  <p:clrMapOvr>
    <a:masterClrMapping/>
  </p:clrMapOvr>
</p:sld>
</file>

<file path=ppt/theme/theme1.xml><?xml version="1.0" encoding="utf-8"?>
<a:theme xmlns:a="http://schemas.openxmlformats.org/drawingml/2006/main" name="재난 안내 에이전트 발표 v4 (Atlas · 진행 표시)">
  <a:themeElements>
    <a:clrScheme name="재난 안내 에이전트 발표 v4 (Atlas · 진행 표시)">
      <a:dk1>
        <a:srgbClr val="101828"/>
      </a:dk1>
      <a:lt1>
        <a:srgbClr val="FFFFFF"/>
      </a:lt1>
      <a:dk2>
        <a:srgbClr val="4C525E"/>
      </a:dk2>
      <a:lt2>
        <a:srgbClr val="E7E8EA"/>
      </a:lt2>
      <a:accent1>
        <a:srgbClr val="175CD3"/>
      </a:accent1>
      <a:accent2>
        <a:srgbClr val="1570EF"/>
      </a:accent2>
      <a:accent3>
        <a:srgbClr val="D1E9FF"/>
      </a:accent3>
      <a:accent4>
        <a:srgbClr val="475467"/>
      </a:accent4>
      <a:accent5>
        <a:srgbClr val="667085"/>
      </a:accent5>
      <a:accent6>
        <a:srgbClr val="D0D5DD"/>
      </a:accent6>
      <a:hlink>
        <a:srgbClr val="0563C1"/>
      </a:hlink>
      <a:folHlink>
        <a:srgbClr val="954F72"/>
      </a:folHlink>
    </a:clrScheme>
    <a:fontScheme name="재난 안내 에이전트 발표 v4 (Atlas · 진행 표시)">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재난 안내 에이전트 발표 v4 (Atlas · 진행 표시)</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Plus Jakarta Sans
Copyright 2020 The Plus Jakarta Sans Project Authors (https://github.com/tokotype/PlusJakartaSans)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2026-10-22T03:44:29Z</dcterms:created>
  <dcterms:modified xsi:type="dcterms:W3CDTF">2026-10-22T03:44:29Z</dcterms:modified>
</cp:coreProperties>
</file>